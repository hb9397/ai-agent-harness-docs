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2" r:id="rId4"/>
    <p:sldId id="273" r:id="rId5"/>
    <p:sldId id="258" r:id="rId6"/>
    <p:sldId id="259" r:id="rId7"/>
    <p:sldId id="260" r:id="rId8"/>
    <p:sldId id="261" r:id="rId9"/>
    <p:sldId id="274" r:id="rId10"/>
    <p:sldId id="262" r:id="rId11"/>
    <p:sldId id="263" r:id="rId12"/>
    <p:sldId id="265" r:id="rId13"/>
    <p:sldId id="266" r:id="rId14"/>
    <p:sldId id="267" r:id="rId15"/>
    <p:sldId id="270" r:id="rId16"/>
    <p:sldId id="268" r:id="rId17"/>
    <p:sldId id="271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6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AI-30531c9ba56180529f93d788c26f9b14?source=copy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51460"/>
            <a:ext cx="3474720" cy="3474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08660"/>
            <a:ext cx="2560320" cy="2560320"/>
          </a:xfrm>
          <a:prstGeom prst="ellipse">
            <a:avLst/>
          </a:prstGeom>
          <a:solidFill>
            <a:srgbClr val="252D4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086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활용한 개발 환경 소개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AI Docs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Skills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Memory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Hooks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MCP &amp; Plugin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Subagent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195029" y="4626864"/>
            <a:ext cx="9534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50" b="1" dirty="0">
                <a:solidFill>
                  <a:srgbClr val="8899BB"/>
                </a:solidFill>
              </a:rPr>
              <a:t>| </a:t>
            </a:r>
            <a:r>
              <a:rPr lang="en-US" sz="1050" b="1" dirty="0" err="1">
                <a:solidFill>
                  <a:srgbClr val="8899BB"/>
                </a:solidFill>
              </a:rPr>
              <a:t>최종</a:t>
            </a:r>
            <a:r>
              <a:rPr lang="en-US" sz="1050" b="1" dirty="0">
                <a:solidFill>
                  <a:srgbClr val="8899BB"/>
                </a:solidFill>
              </a:rPr>
              <a:t> 업데이트</a:t>
            </a:r>
            <a:r>
              <a:rPr lang="en-US" sz="1050" dirty="0">
                <a:solidFill>
                  <a:srgbClr val="8899BB"/>
                </a:solidFill>
              </a:rPr>
              <a:t>: 2026-06-28 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 </a:t>
            </a:r>
            <a:r>
              <a:rPr lang="en-US" sz="1050" b="1" dirty="0">
                <a:solidFill>
                  <a:srgbClr val="8899BB"/>
                </a:solidFill>
              </a:rPr>
              <a:t>대상</a:t>
            </a:r>
            <a:r>
              <a:rPr lang="en-US" sz="1050" dirty="0">
                <a:solidFill>
                  <a:srgbClr val="8899BB"/>
                </a:solidFill>
              </a:rPr>
              <a:t>: Claude Code · OpenAI Codex · Google Antigravity · </a:t>
            </a:r>
            <a:r>
              <a:rPr lang="en-US" sz="1050" dirty="0" err="1">
                <a:solidFill>
                  <a:srgbClr val="8899BB"/>
                </a:solidFill>
              </a:rPr>
              <a:t>VSCode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ko-KR" altLang="en-US" sz="1050" b="1" dirty="0">
                <a:solidFill>
                  <a:srgbClr val="8899BB"/>
                </a:solidFill>
              </a:rPr>
              <a:t>가이드문서</a:t>
            </a:r>
            <a:r>
              <a:rPr lang="ko-KR" altLang="en-US" sz="1050" dirty="0">
                <a:solidFill>
                  <a:srgbClr val="8899BB"/>
                </a:solidFill>
              </a:rPr>
              <a:t> </a:t>
            </a:r>
            <a:r>
              <a:rPr lang="en-US" altLang="ko-KR" sz="1050" dirty="0">
                <a:solidFill>
                  <a:srgbClr val="8899BB"/>
                </a:solidFill>
              </a:rPr>
              <a:t>: 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AI 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가이드 및 자동화 제어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(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개발환경 세팅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)</a:t>
            </a:r>
            <a:r>
              <a:rPr lang="en-US" altLang="ko-KR" sz="1050" b="1" dirty="0">
                <a:solidFill>
                  <a:srgbClr val="8899BB"/>
                </a:solidFill>
              </a:rPr>
              <a:t>|</a:t>
            </a:r>
            <a:endParaRPr lang="en-US" sz="1050" dirty="0">
              <a:solidFill>
                <a:srgbClr val="8899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Agent란? &amp; 전체 구성 요소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63398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6437" y="83210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목표를 주면 스스로 계획을 세우고, 도구를 사용하고, 결과를 검토하며 작업을 </a:t>
            </a:r>
            <a:r>
              <a:rPr lang="en-US" sz="1500" dirty="0" err="1">
                <a:solidFill>
                  <a:srgbClr val="FFFFFF"/>
                </a:solidFill>
              </a:rPr>
              <a:t>완료하는</a:t>
            </a:r>
            <a:r>
              <a:rPr lang="en-US" sz="1500" dirty="0">
                <a:solidFill>
                  <a:srgbClr val="FFFFFF"/>
                </a:solidFill>
              </a:rPr>
              <a:t>  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1" dirty="0" err="1">
                <a:solidFill>
                  <a:srgbClr val="4FC3F7"/>
                </a:solidFill>
              </a:rPr>
              <a:t>자율적인</a:t>
            </a:r>
            <a:r>
              <a:rPr lang="en-US" sz="1500" b="1" dirty="0">
                <a:solidFill>
                  <a:srgbClr val="4FC3F7"/>
                </a:solidFill>
              </a:rPr>
              <a:t> AI 실행 단위</a:t>
            </a:r>
            <a:endParaRPr lang="en-US" sz="15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5CC18E4-24BF-49D5-BA73-3125DB258BC7}"/>
              </a:ext>
            </a:extLst>
          </p:cNvPr>
          <p:cNvGrpSpPr/>
          <p:nvPr/>
        </p:nvGrpSpPr>
        <p:grpSpPr>
          <a:xfrm>
            <a:off x="365755" y="3089074"/>
            <a:ext cx="8633987" cy="1234440"/>
            <a:chOff x="365755" y="1755648"/>
            <a:chExt cx="8633987" cy="1234440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8B1E077C-9F9F-4C41-BA0A-614FFC025584}"/>
                </a:ext>
              </a:extLst>
            </p:cNvPr>
            <p:cNvGrpSpPr/>
            <p:nvPr/>
          </p:nvGrpSpPr>
          <p:grpSpPr>
            <a:xfrm>
              <a:off x="365755" y="1755648"/>
              <a:ext cx="1353312" cy="1234440"/>
              <a:chOff x="148350" y="1755648"/>
              <a:chExt cx="1353312" cy="123444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14835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34D399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7" name="Shape 5"/>
              <p:cNvSpPr/>
              <p:nvPr/>
            </p:nvSpPr>
            <p:spPr>
              <a:xfrm>
                <a:off x="148350" y="1755648"/>
                <a:ext cx="1353312" cy="45720"/>
              </a:xfrm>
              <a:prstGeom prst="rect">
                <a:avLst/>
              </a:prstGeom>
              <a:solidFill>
                <a:srgbClr val="34D399"/>
              </a:solidFill>
              <a:ln w="12700">
                <a:solidFill>
                  <a:srgbClr val="34D399"/>
                </a:solidFill>
                <a:prstDash val="solid"/>
              </a:ln>
            </p:spPr>
          </p:sp>
          <p:sp>
            <p:nvSpPr>
              <p:cNvPr id="8" name="Text 6"/>
              <p:cNvSpPr/>
              <p:nvPr/>
            </p:nvSpPr>
            <p:spPr>
              <a:xfrm>
                <a:off x="14835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📄</a:t>
                </a:r>
                <a:endParaRPr lang="en-US" sz="22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22150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34D399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AI Docs</a:t>
                </a:r>
                <a:endParaRPr lang="en-US" sz="13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22150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프로젝트 맥락 전달 문서</a:t>
                </a:r>
                <a:endParaRPr lang="en-US" sz="1100" dirty="0"/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95BA307-65BB-484B-B085-983BC25724D0}"/>
                </a:ext>
              </a:extLst>
            </p:cNvPr>
            <p:cNvGrpSpPr/>
            <p:nvPr/>
          </p:nvGrpSpPr>
          <p:grpSpPr>
            <a:xfrm>
              <a:off x="1839794" y="1755648"/>
              <a:ext cx="1353312" cy="1234440"/>
              <a:chOff x="1647966" y="1755648"/>
              <a:chExt cx="1353312" cy="123444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1647966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4FC3F7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2" name="Shape 10"/>
              <p:cNvSpPr/>
              <p:nvPr/>
            </p:nvSpPr>
            <p:spPr>
              <a:xfrm>
                <a:off x="1647966" y="1755648"/>
                <a:ext cx="1353312" cy="45720"/>
              </a:xfrm>
              <a:prstGeom prst="rect">
                <a:avLst/>
              </a:prstGeom>
              <a:solidFill>
                <a:srgbClr val="4FC3F7"/>
              </a:solidFill>
              <a:ln w="12700">
                <a:solidFill>
                  <a:srgbClr val="4FC3F7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1647966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🛠</a:t>
                </a:r>
                <a:endParaRPr lang="en-US" sz="22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721118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4FC3F7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Skills</a:t>
                </a:r>
                <a:endParaRPr lang="en-US" sz="13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721118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재사용 가능한 작업 단위</a:t>
                </a:r>
                <a:endParaRPr lang="en-US" sz="1100" dirty="0"/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9714A03-C841-4A1A-AB43-38F2CF57BB99}"/>
                </a:ext>
              </a:extLst>
            </p:cNvPr>
            <p:cNvGrpSpPr/>
            <p:nvPr/>
          </p:nvGrpSpPr>
          <p:grpSpPr>
            <a:xfrm>
              <a:off x="3294649" y="1755648"/>
              <a:ext cx="1353312" cy="1234440"/>
              <a:chOff x="3147582" y="1755648"/>
              <a:chExt cx="1353312" cy="123444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147582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BBF24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7" name="Shape 15"/>
              <p:cNvSpPr/>
              <p:nvPr/>
            </p:nvSpPr>
            <p:spPr>
              <a:xfrm>
                <a:off x="3147582" y="1755648"/>
                <a:ext cx="1353312" cy="45720"/>
              </a:xfrm>
              <a:prstGeom prst="rect">
                <a:avLst/>
              </a:prstGeom>
              <a:solidFill>
                <a:srgbClr val="FBBF24"/>
              </a:solidFill>
              <a:ln w="12700">
                <a:solidFill>
                  <a:srgbClr val="FBBF24"/>
                </a:solidFill>
                <a:prstDash val="solid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3147582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🧠</a:t>
                </a:r>
                <a:endParaRPr lang="en-US" sz="22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3220734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BBF24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Memory</a:t>
                </a:r>
                <a:endParaRPr lang="en-US" sz="13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220734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세션 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넘는</a:t>
                </a:r>
                <a:r>
                  <a:rPr lang="en-US" sz="1100" dirty="0">
                    <a:solidFill>
                      <a:srgbClr val="8899BB"/>
                    </a:solidFill>
                  </a:rPr>
                  <a:t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지속</a:t>
                </a:r>
                <a:r>
                  <a:rPr lang="en-US" sz="1100" dirty="0">
                    <a:solidFill>
                      <a:srgbClr val="8899BB"/>
                    </a:solidFill>
                  </a:rPr>
                  <a:t> 기억</a:t>
                </a:r>
                <a:endParaRPr lang="en-US" sz="11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8A48A65-5B69-4D67-88CB-284F85869096}"/>
                </a:ext>
              </a:extLst>
            </p:cNvPr>
            <p:cNvGrpSpPr/>
            <p:nvPr/>
          </p:nvGrpSpPr>
          <p:grpSpPr>
            <a:xfrm>
              <a:off x="4749509" y="1755648"/>
              <a:ext cx="1353312" cy="1234440"/>
              <a:chOff x="4647198" y="1755648"/>
              <a:chExt cx="1353312" cy="123444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647198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A78BFA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2" name="Shape 20"/>
              <p:cNvSpPr/>
              <p:nvPr/>
            </p:nvSpPr>
            <p:spPr>
              <a:xfrm>
                <a:off x="4647198" y="1755648"/>
                <a:ext cx="1353312" cy="45720"/>
              </a:xfrm>
              <a:prstGeom prst="rect">
                <a:avLst/>
              </a:prstGeom>
              <a:solidFill>
                <a:srgbClr val="A78BFA"/>
              </a:solidFill>
              <a:ln w="12700">
                <a:solidFill>
                  <a:srgbClr val="A78BFA"/>
                </a:solidFill>
                <a:prstDash val="solid"/>
              </a:ln>
            </p:spPr>
          </p:sp>
          <p:sp>
            <p:nvSpPr>
              <p:cNvPr id="23" name="Text 21"/>
              <p:cNvSpPr/>
              <p:nvPr/>
            </p:nvSpPr>
            <p:spPr>
              <a:xfrm>
                <a:off x="4647198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🔗</a:t>
                </a:r>
                <a:endParaRPr lang="en-US" sz="2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720350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A78BFA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Hooks</a:t>
                </a:r>
                <a:endParaRPr lang="en-US" sz="13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4720350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이벤트 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기반</a:t>
                </a:r>
                <a:r>
                  <a:rPr lang="en-US" sz="1100" dirty="0">
                    <a:solidFill>
                      <a:srgbClr val="8899BB"/>
                    </a:solidFill>
                  </a:rPr>
                  <a:t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자동</a:t>
                </a:r>
                <a:r>
                  <a:rPr lang="en-US" sz="1100" dirty="0">
                    <a:solidFill>
                      <a:srgbClr val="8899BB"/>
                    </a:solidFill>
                  </a:rPr>
                  <a:t> 실행</a:t>
                </a:r>
                <a:endParaRPr lang="en-US" sz="1100" dirty="0"/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A84AAA50-9329-4565-8F3C-9166F155D54A}"/>
                </a:ext>
              </a:extLst>
            </p:cNvPr>
            <p:cNvGrpSpPr/>
            <p:nvPr/>
          </p:nvGrpSpPr>
          <p:grpSpPr>
            <a:xfrm>
              <a:off x="6039255" y="1755648"/>
              <a:ext cx="1657945" cy="1234440"/>
              <a:chOff x="5994497" y="1755648"/>
              <a:chExt cx="1657945" cy="1234440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6146814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472B6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7" name="Shape 25"/>
              <p:cNvSpPr/>
              <p:nvPr/>
            </p:nvSpPr>
            <p:spPr>
              <a:xfrm>
                <a:off x="6146814" y="1755648"/>
                <a:ext cx="1353312" cy="45720"/>
              </a:xfrm>
              <a:prstGeom prst="rect">
                <a:avLst/>
              </a:prstGeom>
              <a:solidFill>
                <a:srgbClr val="F472B6"/>
              </a:solidFill>
              <a:ln w="12700">
                <a:solidFill>
                  <a:srgbClr val="F472B6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6146814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🔌</a:t>
                </a:r>
                <a:endParaRPr lang="en-US" sz="2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5994497" y="2286000"/>
                <a:ext cx="1657945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472B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MCP &amp; Plugin</a:t>
                </a:r>
                <a:endParaRPr lang="en-US" sz="13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6219966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외부 도구 연결 확장</a:t>
                </a:r>
                <a:endParaRPr lang="en-US" sz="1100" dirty="0"/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F34BED4-1BB5-48A0-8949-F854BA9EB6BB}"/>
                </a:ext>
              </a:extLst>
            </p:cNvPr>
            <p:cNvGrpSpPr/>
            <p:nvPr/>
          </p:nvGrpSpPr>
          <p:grpSpPr>
            <a:xfrm>
              <a:off x="7646430" y="1755648"/>
              <a:ext cx="1353312" cy="1234440"/>
              <a:chOff x="7646430" y="1755648"/>
              <a:chExt cx="1353312" cy="123444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764643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DD4BF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32" name="Shape 30"/>
              <p:cNvSpPr/>
              <p:nvPr/>
            </p:nvSpPr>
            <p:spPr>
              <a:xfrm>
                <a:off x="7646430" y="1755648"/>
                <a:ext cx="1353312" cy="45720"/>
              </a:xfrm>
              <a:prstGeom prst="rect">
                <a:avLst/>
              </a:prstGeom>
              <a:solidFill>
                <a:srgbClr val="2DD4BF"/>
              </a:solidFill>
              <a:ln w="12700">
                <a:solidFill>
                  <a:srgbClr val="2DD4BF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764643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🤝</a:t>
                </a:r>
                <a:endParaRPr lang="en-US" sz="22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771958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2DD4B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SubAgent</a:t>
                </a:r>
                <a:endParaRPr lang="en-US" sz="13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771958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병렬 Agent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분산</a:t>
                </a:r>
                <a:r>
                  <a:rPr lang="en-US" sz="1100" dirty="0">
                    <a:solidFill>
                      <a:srgbClr val="8899BB"/>
                    </a:solidFill>
                  </a:rPr>
                  <a:t> 처리</a:t>
                </a:r>
                <a:endParaRPr lang="en-US" sz="1100" dirty="0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3E7647B-5FAA-4654-92ED-814A716AB2A0}"/>
              </a:ext>
            </a:extLst>
          </p:cNvPr>
          <p:cNvGrpSpPr/>
          <p:nvPr/>
        </p:nvGrpSpPr>
        <p:grpSpPr>
          <a:xfrm>
            <a:off x="377265" y="1722879"/>
            <a:ext cx="8633982" cy="1243584"/>
            <a:chOff x="365760" y="3154680"/>
            <a:chExt cx="8633982" cy="1243584"/>
          </a:xfrm>
        </p:grpSpPr>
        <p:sp>
          <p:nvSpPr>
            <p:cNvPr id="36" name="Shape 34"/>
            <p:cNvSpPr/>
            <p:nvPr/>
          </p:nvSpPr>
          <p:spPr>
            <a:xfrm>
              <a:off x="365760" y="3154680"/>
              <a:ext cx="118872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38912" y="3154680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구분</a:t>
              </a:r>
              <a:endParaRPr lang="en-US" sz="12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600200" y="3154680"/>
              <a:ext cx="329184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1673352" y="3154680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일반 AI (챗봇)</a:t>
              </a:r>
              <a:endParaRPr lang="en-US" sz="12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937760" y="3154680"/>
              <a:ext cx="4061982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010912" y="3154680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AI Agent</a:t>
              </a:r>
              <a:endParaRPr lang="en-US" sz="12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65760" y="3465576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438912" y="3465576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동작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600200" y="3465576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673352" y="3465576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질문 → 답변 (1회성)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937760" y="3465576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5010912" y="3465576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목표 → 계획 → 실행 → 검토 (반복)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65760" y="3776472"/>
              <a:ext cx="118872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438912" y="3776472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도구</a:t>
              </a:r>
              <a:endParaRPr lang="en-US" sz="1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1600200" y="3776472"/>
              <a:ext cx="329184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1673352" y="3776472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❌ 없음</a:t>
              </a:r>
              <a:endParaRPr lang="en-US" sz="11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937760" y="3776472"/>
              <a:ext cx="4061982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5010912" y="3776472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✅ 파일읽기·명령어·검색 등</a:t>
              </a:r>
              <a:endParaRPr lang="en-US" sz="11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365760" y="4087368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438912" y="4087368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자율성</a:t>
              </a:r>
              <a:endParaRPr lang="en-US" sz="11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600200" y="4087368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1673352" y="4087368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없음 (사람이 매번 지시)</a:t>
              </a:r>
              <a:endParaRPr lang="en-US" sz="11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937760" y="4087368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5010912" y="4087368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있음 (중간 과정 스스로 판단)</a:t>
              </a:r>
              <a:endParaRPr lang="en-US" sz="1100" dirty="0"/>
            </a:p>
          </p:txBody>
        </p:sp>
      </p:grpSp>
      <p:sp>
        <p:nvSpPr>
          <p:cNvPr id="60" name="Shape 58"/>
          <p:cNvSpPr/>
          <p:nvPr/>
        </p:nvSpPr>
        <p:spPr>
          <a:xfrm>
            <a:off x="365760" y="4434840"/>
            <a:ext cx="8633982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3324" y="4426383"/>
            <a:ext cx="8058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</a:rPr>
              <a:t>USER  → </a:t>
            </a:r>
            <a:r>
              <a:rPr lang="en-US" sz="1050" dirty="0">
                <a:solidFill>
                  <a:srgbClr val="1E2761"/>
                </a:solidFill>
              </a:rPr>
              <a:t>[</a:t>
            </a:r>
            <a:r>
              <a:rPr lang="ko-KR" altLang="en-US" sz="1050" i="1" dirty="0">
                <a:solidFill>
                  <a:srgbClr val="1E2761"/>
                </a:solidFill>
              </a:rPr>
              <a:t>직접판단 </a:t>
            </a:r>
            <a:r>
              <a:rPr lang="en-US" altLang="ko-KR" sz="1050" i="1" dirty="0">
                <a:solidFill>
                  <a:srgbClr val="1E2761"/>
                </a:solidFill>
              </a:rPr>
              <a:t>·</a:t>
            </a:r>
            <a:r>
              <a:rPr lang="en-US" sz="1050" i="1" dirty="0">
                <a:solidFill>
                  <a:srgbClr val="1E2761"/>
                </a:solidFill>
              </a:rPr>
              <a:t> /Commands </a:t>
            </a:r>
            <a:r>
              <a:rPr lang="en-US" sz="1050" i="1" dirty="0" err="1">
                <a:solidFill>
                  <a:srgbClr val="1E2761"/>
                </a:solidFill>
              </a:rPr>
              <a:t>입력</a:t>
            </a:r>
            <a:r>
              <a:rPr lang="en-US" sz="1050" i="1" dirty="0">
                <a:solidFill>
                  <a:srgbClr val="1E2761"/>
                </a:solidFill>
              </a:rPr>
              <a:t> · </a:t>
            </a:r>
            <a:r>
              <a:rPr lang="en-US" sz="1050" i="1" dirty="0" err="1">
                <a:solidFill>
                  <a:srgbClr val="1E2761"/>
                </a:solidFill>
              </a:rPr>
              <a:t>이벤트</a:t>
            </a:r>
            <a:r>
              <a:rPr lang="en-US" sz="1050" i="1" dirty="0">
                <a:solidFill>
                  <a:srgbClr val="1E2761"/>
                </a:solidFill>
              </a:rPr>
              <a:t> </a:t>
            </a:r>
            <a:r>
              <a:rPr lang="en-US" sz="1050" i="1" dirty="0" err="1">
                <a:solidFill>
                  <a:srgbClr val="1E2761"/>
                </a:solidFill>
              </a:rPr>
              <a:t>발생</a:t>
            </a:r>
            <a:r>
              <a:rPr lang="en-US" sz="1050" i="1" dirty="0">
                <a:solidFill>
                  <a:srgbClr val="1E2761"/>
                </a:solidFill>
              </a:rPr>
              <a:t>(Hooks) </a:t>
            </a:r>
            <a:r>
              <a:rPr lang="en-US" sz="1050" dirty="0">
                <a:solidFill>
                  <a:srgbClr val="1E2761"/>
                </a:solidFill>
              </a:rPr>
              <a:t>] </a:t>
            </a:r>
            <a:r>
              <a:rPr lang="en-US" sz="1050" i="1" dirty="0">
                <a:solidFill>
                  <a:srgbClr val="1E2761"/>
                </a:solidFill>
              </a:rPr>
              <a:t> →  Skills  →  Agent (AI Docs·Memory 참조)  → </a:t>
            </a:r>
            <a:r>
              <a:rPr lang="en-US" altLang="ko-KR" sz="1050" i="1" dirty="0" err="1">
                <a:solidFill>
                  <a:srgbClr val="1E2761"/>
                </a:solidFill>
              </a:rPr>
              <a:t>SubAgent</a:t>
            </a:r>
            <a:r>
              <a:rPr lang="en-US" altLang="ko-KR" sz="1050" i="1" dirty="0">
                <a:solidFill>
                  <a:srgbClr val="1E2761"/>
                </a:solidFill>
              </a:rPr>
              <a:t> </a:t>
            </a:r>
            <a:r>
              <a:rPr lang="en-US" sz="1050" i="1" dirty="0">
                <a:solidFill>
                  <a:srgbClr val="1E2761"/>
                </a:solidFill>
              </a:rPr>
              <a:t>or MCP or Plugin (</a:t>
            </a:r>
            <a:r>
              <a:rPr lang="ko-KR" altLang="en-US" sz="1050" i="1" dirty="0">
                <a:solidFill>
                  <a:srgbClr val="1E2761"/>
                </a:solidFill>
              </a:rPr>
              <a:t>필요시</a:t>
            </a:r>
            <a:r>
              <a:rPr lang="en-US" altLang="ko-KR" sz="1050" i="1" dirty="0">
                <a:solidFill>
                  <a:srgbClr val="1E2761"/>
                </a:solidFill>
              </a:rPr>
              <a:t>)</a:t>
            </a:r>
            <a:endParaRPr lang="en-US" sz="105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2DF9AA0-CDA7-40AE-ADD0-22C703CBD834}"/>
              </a:ext>
            </a:extLst>
          </p:cNvPr>
          <p:cNvGrpSpPr/>
          <p:nvPr/>
        </p:nvGrpSpPr>
        <p:grpSpPr>
          <a:xfrm>
            <a:off x="335990" y="4434839"/>
            <a:ext cx="869066" cy="502920"/>
            <a:chOff x="-756176" y="3290242"/>
            <a:chExt cx="949056" cy="310896"/>
          </a:xfrm>
        </p:grpSpPr>
        <p:sp>
          <p:nvSpPr>
            <p:cNvPr id="70" name="Shape 34">
              <a:extLst>
                <a:ext uri="{FF2B5EF4-FFF2-40B4-BE49-F238E27FC236}">
                  <a16:creationId xmlns:a16="http://schemas.microsoft.com/office/drawing/2014/main" id="{06FBA96A-725C-4180-8CA1-DB1555641771}"/>
                </a:ext>
              </a:extLst>
            </p:cNvPr>
            <p:cNvSpPr/>
            <p:nvPr/>
          </p:nvSpPr>
          <p:spPr>
            <a:xfrm>
              <a:off x="-723664" y="3290242"/>
              <a:ext cx="772689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  <p:txBody>
            <a:bodyPr/>
            <a:lstStyle/>
            <a:p>
              <a:endParaRPr lang="ko-KR" altLang="en-US" sz="1200" i="1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561A56-5DFD-40A5-923E-9E1438CDB122}"/>
                </a:ext>
              </a:extLst>
            </p:cNvPr>
            <p:cNvSpPr txBox="1"/>
            <p:nvPr/>
          </p:nvSpPr>
          <p:spPr>
            <a:xfrm>
              <a:off x="-756176" y="3372100"/>
              <a:ext cx="949056" cy="156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i="1" dirty="0" err="1">
                  <a:solidFill>
                    <a:schemeClr val="bg1"/>
                  </a:solidFill>
                </a:rPr>
                <a:t>호출</a:t>
              </a:r>
              <a:r>
                <a:rPr lang="en-US" altLang="ko-KR" sz="105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050" i="1" dirty="0" err="1">
                  <a:solidFill>
                    <a:schemeClr val="bg1"/>
                  </a:solidFill>
                </a:rPr>
                <a:t>흐름</a:t>
              </a:r>
              <a:endParaRPr lang="ko-KR" altLang="en-US" sz="105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왼쪽 중괄호 70">
            <a:extLst>
              <a:ext uri="{FF2B5EF4-FFF2-40B4-BE49-F238E27FC236}">
                <a16:creationId xmlns:a16="http://schemas.microsoft.com/office/drawing/2014/main" id="{FD7257EA-7D86-40E0-B346-F15D0B10A2CB}"/>
              </a:ext>
            </a:extLst>
          </p:cNvPr>
          <p:cNvSpPr/>
          <p:nvPr/>
        </p:nvSpPr>
        <p:spPr>
          <a:xfrm rot="5400000">
            <a:off x="4950300" y="636357"/>
            <a:ext cx="703173" cy="7234062"/>
          </a:xfrm>
          <a:prstGeom prst="leftBrace">
            <a:avLst>
              <a:gd name="adj1" fmla="val 6500"/>
              <a:gd name="adj2" fmla="val 19892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8820676-F27B-43D4-A443-A733DFF3BD09}"/>
              </a:ext>
            </a:extLst>
          </p:cNvPr>
          <p:cNvSpPr/>
          <p:nvPr/>
        </p:nvSpPr>
        <p:spPr>
          <a:xfrm>
            <a:off x="6872730" y="3609192"/>
            <a:ext cx="629458" cy="2926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200000"/>
            <a:ext cx="841248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결국 우리가 쓰는 건 전부 </a:t>
            </a:r>
            <a:r>
              <a:rPr lang="en-US" sz="3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.md</a:t>
            </a:r>
            <a:endParaRPr lang="en-US" sz="3200" dirty="0"/>
          </a:p>
        </p:txBody>
      </p:sp>
      <p:sp>
        <p:nvSpPr>
          <p:cNvPr id="4" name="Subtitle"/>
          <p:cNvSpPr/>
          <p:nvPr/>
        </p:nvSpPr>
        <p:spPr>
          <a:xfrm>
            <a:off x="365760" y="90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i="1" dirty="0">
                <a:solidFill>
                  <a:srgbClr val="6B7280"/>
                </a:solidFill>
              </a:rPr>
              <a:t>다음부터 소개할 6개 부품 — 이름은 달라도 실체는 결국 하나</a:t>
            </a:r>
            <a:endParaRPr lang="en-US" sz="1500" dirty="0"/>
          </a:p>
        </p:txBody>
      </p:sp>
      <p:sp>
        <p:nvSpPr>
          <p:cNvPr id="10" name="R1C1"/>
          <p:cNvSpPr/>
          <p:nvPr/>
        </p:nvSpPr>
        <p:spPr>
          <a:xfrm>
            <a:off x="400000" y="1550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R1C1Text"/>
          <p:cNvSpPr/>
          <p:nvPr/>
        </p:nvSpPr>
        <p:spPr>
          <a:xfrm>
            <a:off x="500000" y="1620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AI Docs</a:t>
            </a:r>
            <a:r>
              <a:rPr lang="ko-KR" altLang="en-US" sz="1500" b="1" dirty="0">
                <a:solidFill>
                  <a:srgbClr val="6B7280"/>
                </a:solidFill>
              </a:rPr>
              <a:t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· AGENTS.md</a:t>
            </a:r>
            <a:endParaRPr lang="en-US" sz="1000" dirty="0"/>
          </a:p>
        </p:txBody>
      </p:sp>
      <p:sp>
        <p:nvSpPr>
          <p:cNvPr id="20" name="R1C2"/>
          <p:cNvSpPr/>
          <p:nvPr/>
        </p:nvSpPr>
        <p:spPr>
          <a:xfrm>
            <a:off x="3232000" y="1550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R1C2Text"/>
          <p:cNvSpPr/>
          <p:nvPr/>
        </p:nvSpPr>
        <p:spPr>
          <a:xfrm>
            <a:off x="3332000" y="1620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</a:rPr>
              <a:t>Skills</a:t>
            </a:r>
            <a:r>
              <a:rPr lang="ko-KR" altLang="en-US" sz="1500" b="1" dirty="0">
                <a:solidFill>
                  <a:srgbClr val="6B7280"/>
                </a:solidFill>
              </a:rPr>
              <a:t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(오픈 표준)</a:t>
            </a:r>
            <a:endParaRPr lang="en-US" sz="1000" dirty="0"/>
          </a:p>
        </p:txBody>
      </p:sp>
      <p:sp>
        <p:nvSpPr>
          <p:cNvPr id="30" name="R1C3"/>
          <p:cNvSpPr/>
          <p:nvPr/>
        </p:nvSpPr>
        <p:spPr>
          <a:xfrm>
            <a:off x="6064000" y="1550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78BFA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R1C3Text"/>
          <p:cNvSpPr/>
          <p:nvPr/>
        </p:nvSpPr>
        <p:spPr>
          <a:xfrm>
            <a:off x="6164000" y="1620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</a:rPr>
              <a:t>Hooks</a:t>
            </a:r>
            <a:r>
              <a:rPr lang="ko-KR" altLang="en-US" sz="1500" b="1" dirty="0">
                <a:solidFill>
                  <a:srgbClr val="6B7280"/>
                </a:solidFill>
              </a:rPr>
              <a:t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정의 문서</a:t>
            </a:r>
            <a:endParaRPr lang="en-US" sz="1000" dirty="0"/>
          </a:p>
        </p:txBody>
      </p:sp>
      <p:sp>
        <p:nvSpPr>
          <p:cNvPr id="40" name="R2C1"/>
          <p:cNvSpPr/>
          <p:nvPr/>
        </p:nvSpPr>
        <p:spPr>
          <a:xfrm>
            <a:off x="400000" y="2732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472B6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R2C1Text"/>
          <p:cNvSpPr/>
          <p:nvPr/>
        </p:nvSpPr>
        <p:spPr>
          <a:xfrm>
            <a:off x="500000" y="2802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</a:rPr>
              <a:t>MCP</a:t>
            </a:r>
            <a:r>
              <a:rPr lang="ko-KR" altLang="en-US" sz="1500" b="1" dirty="0">
                <a:solidFill>
                  <a:srgbClr val="6B7280"/>
                </a:solidFill>
              </a:rPr>
              <a:t>   →   </a:t>
            </a:r>
            <a:r>
              <a:rPr lang="en-US" sz="13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설정파일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/ toml (예외)</a:t>
            </a:r>
            <a:endParaRPr lang="en-US" sz="1000" dirty="0"/>
          </a:p>
        </p:txBody>
      </p:sp>
      <p:sp>
        <p:nvSpPr>
          <p:cNvPr id="50" name="R2C2"/>
          <p:cNvSpPr/>
          <p:nvPr/>
        </p:nvSpPr>
        <p:spPr>
          <a:xfrm>
            <a:off x="3232000" y="2732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DD4BF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R2C2Text"/>
          <p:cNvSpPr/>
          <p:nvPr/>
        </p:nvSpPr>
        <p:spPr>
          <a:xfrm>
            <a:off x="3332000" y="2802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</a:rPr>
              <a:t>Subagent</a:t>
            </a:r>
            <a:r>
              <a:rPr lang="ko-KR" altLang="en-US" sz="1500" b="1" dirty="0">
                <a:solidFill>
                  <a:srgbClr val="6B7280"/>
                </a:solidFill>
              </a:rPr>
              <a:t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agents/*.md</a:t>
            </a:r>
            <a:endParaRPr lang="en-US" sz="1000" dirty="0"/>
          </a:p>
        </p:txBody>
      </p:sp>
      <p:sp>
        <p:nvSpPr>
          <p:cNvPr id="60" name="R2C3"/>
          <p:cNvSpPr/>
          <p:nvPr/>
        </p:nvSpPr>
        <p:spPr>
          <a:xfrm>
            <a:off x="6064000" y="2732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R2C3Text"/>
          <p:cNvSpPr/>
          <p:nvPr/>
        </p:nvSpPr>
        <p:spPr>
          <a:xfrm>
            <a:off x="6164000" y="2802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</a:rPr>
              <a:t>Memory</a:t>
            </a:r>
            <a:r>
              <a:rPr lang="ko-KR" altLang="en-US" sz="1500" b="1" dirty="0">
                <a:solidFill>
                  <a:srgbClr val="6B7280"/>
                </a:solidFill>
              </a:rPr>
              <a:t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MEMORY.md / memories/</a:t>
            </a:r>
            <a:endParaRPr lang="en-US" sz="1000" dirty="0"/>
          </a:p>
        </p:txBody>
      </p:sp>
      <p:sp>
        <p:nvSpPr>
          <p:cNvPr id="90" name="Closing"/>
          <p:cNvSpPr/>
          <p:nvPr/>
        </p:nvSpPr>
        <p:spPr>
          <a:xfrm>
            <a:off x="400000" y="4020000"/>
            <a:ext cx="8344000" cy="88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9050">
            <a:solidFill>
              <a:srgbClr val="1E2761"/>
            </a:solidFill>
          </a:ln>
        </p:spPr>
      </p:sp>
      <p:sp>
        <p:nvSpPr>
          <p:cNvPr id="91" name="ClosingText"/>
          <p:cNvSpPr/>
          <p:nvPr/>
        </p:nvSpPr>
        <p:spPr>
          <a:xfrm>
            <a:off x="400000" y="4020000"/>
            <a:ext cx="8344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rgbClr val="C8DCFC"/>
                </a:solidFill>
              </a:rPr>
              <a:t>부품 이름과 사용법을 외우는 게 아니라, </a:t>
            </a:r>
            <a:r>
              <a:rPr lang="ko-KR" altLang="en-US" sz="1600" b="1" dirty="0">
                <a:solidFill>
                  <a:srgbClr val="34D399"/>
                </a:solidFill>
              </a:rPr>
              <a:t>.md 문서를 쓰는 감각</a:t>
            </a:r>
            <a:r>
              <a:rPr lang="ko-KR" altLang="en-US" sz="1600" dirty="0">
                <a:solidFill>
                  <a:srgbClr val="C8DCFC"/>
                </a:solidFill>
              </a:rPr>
              <a:t>을 익힙니다.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180000"/>
            <a:ext cx="841248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 </a:t>
            </a:r>
            <a:r>
              <a:rPr lang="en-US" altLang="ko-KR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</a:t>
            </a:r>
            <a:r>
              <a:rPr lang="ko-KR" alt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어떻게 쓸까</a:t>
            </a:r>
            <a:r>
              <a:rPr lang="en-US" altLang="ko-KR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r>
              <a:rPr lang="ko-KR" alt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3가지 인터페이스</a:t>
            </a:r>
            <a:endParaRPr lang="en-US" sz="2600" dirty="0"/>
          </a:p>
        </p:txBody>
      </p:sp>
      <p:sp>
        <p:nvSpPr>
          <p:cNvPr id="4" name="MatrixBox"/>
          <p:cNvSpPr/>
          <p:nvPr/>
        </p:nvSpPr>
        <p:spPr>
          <a:xfrm>
            <a:off x="365760" y="820000"/>
            <a:ext cx="8412480" cy="2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CFC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ColHead1"/>
          <p:cNvSpPr/>
          <p:nvPr/>
        </p:nvSpPr>
        <p:spPr>
          <a:xfrm>
            <a:off x="2145760" y="900000"/>
            <a:ext cx="21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Web</a:t>
            </a:r>
            <a:r>
              <a:rPr lang="ko-KR" altLang="en-US" sz="1100" dirty="0">
                <a:solidFill>
                  <a:srgbClr val="6B7280"/>
                </a:solidFill>
              </a:rPr>
              <a:t>   대화 · 탐색</a:t>
            </a:r>
            <a:endParaRPr lang="en-US" sz="1100" dirty="0"/>
          </a:p>
        </p:txBody>
      </p:sp>
      <p:sp>
        <p:nvSpPr>
          <p:cNvPr id="11" name="ColHead2"/>
          <p:cNvSpPr/>
          <p:nvPr/>
        </p:nvSpPr>
        <p:spPr>
          <a:xfrm>
            <a:off x="4245760" y="900000"/>
            <a:ext cx="21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CLI</a:t>
            </a:r>
            <a:r>
              <a:rPr lang="ko-KR" altLang="en-US" sz="1100" dirty="0">
                <a:solidFill>
                  <a:srgbClr val="6B7280"/>
                </a:solidFill>
              </a:rPr>
              <a:t>   실제 파일 · 자동화</a:t>
            </a:r>
            <a:endParaRPr lang="en-US" sz="1100" dirty="0"/>
          </a:p>
        </p:txBody>
      </p:sp>
      <p:sp>
        <p:nvSpPr>
          <p:cNvPr id="12" name="ColHead3"/>
          <p:cNvSpPr/>
          <p:nvPr/>
        </p:nvSpPr>
        <p:spPr>
          <a:xfrm>
            <a:off x="6345760" y="900000"/>
            <a:ext cx="23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</a:rPr>
              <a:t>App </a:t>
            </a:r>
            <a:r>
              <a:rPr lang="ko-KR" altLang="en-US" sz="1100" b="1">
                <a:solidFill>
                  <a:srgbClr val="2DD4BF"/>
                </a:solidFill>
              </a:rPr>
              <a:t>✅</a:t>
            </a:r>
            <a:endParaRPr lang="en-US" sz="1100" dirty="0"/>
          </a:p>
        </p:txBody>
      </p:sp>
      <p:sp>
        <p:nvSpPr>
          <p:cNvPr id="20" name="Row1Label"/>
          <p:cNvSpPr/>
          <p:nvPr/>
        </p:nvSpPr>
        <p:spPr>
          <a:xfrm>
            <a:off x="465760" y="1350000"/>
            <a:ext cx="168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Claude</a:t>
            </a:r>
            <a:endParaRPr lang="en-US" sz="1400" dirty="0"/>
          </a:p>
        </p:txBody>
      </p:sp>
      <p:sp>
        <p:nvSpPr>
          <p:cNvPr id="21" name="R1C1Cell"/>
          <p:cNvSpPr/>
          <p:nvPr/>
        </p:nvSpPr>
        <p:spPr>
          <a:xfrm>
            <a:off x="2145760" y="135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endParaRPr lang="en-US" sz="1200" dirty="0"/>
          </a:p>
        </p:txBody>
      </p:sp>
      <p:sp>
        <p:nvSpPr>
          <p:cNvPr id="22" name="R1C2Cell"/>
          <p:cNvSpPr/>
          <p:nvPr/>
        </p:nvSpPr>
        <p:spPr>
          <a:xfrm>
            <a:off x="4245760" y="135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3" name="R1C3Cell"/>
          <p:cNvSpPr/>
          <p:nvPr/>
        </p:nvSpPr>
        <p:spPr>
          <a:xfrm>
            <a:off x="6345760" y="1350000"/>
            <a:ext cx="23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2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APP</a:t>
            </a:r>
            <a:endParaRPr lang="en-US" sz="1200" dirty="0"/>
          </a:p>
        </p:txBody>
      </p:sp>
      <p:sp>
        <p:nvSpPr>
          <p:cNvPr id="30" name="Row2Label"/>
          <p:cNvSpPr/>
          <p:nvPr/>
        </p:nvSpPr>
        <p:spPr>
          <a:xfrm>
            <a:off x="465760" y="1930000"/>
            <a:ext cx="168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Codex</a:t>
            </a:r>
            <a:endParaRPr lang="en-US" sz="1400" dirty="0"/>
          </a:p>
        </p:txBody>
      </p:sp>
      <p:sp>
        <p:nvSpPr>
          <p:cNvPr id="31" name="R2C1Cell"/>
          <p:cNvSpPr/>
          <p:nvPr/>
        </p:nvSpPr>
        <p:spPr>
          <a:xfrm>
            <a:off x="2145760" y="193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chatgpt.com</a:t>
            </a:r>
            <a:endParaRPr lang="en-US" sz="1200" dirty="0"/>
          </a:p>
        </p:txBody>
      </p:sp>
      <p:sp>
        <p:nvSpPr>
          <p:cNvPr id="32" name="R2C2Cell"/>
          <p:cNvSpPr/>
          <p:nvPr/>
        </p:nvSpPr>
        <p:spPr>
          <a:xfrm>
            <a:off x="4245760" y="193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CLI</a:t>
            </a:r>
            <a:endParaRPr lang="en-US" sz="1200" dirty="0"/>
          </a:p>
        </p:txBody>
      </p:sp>
      <p:sp>
        <p:nvSpPr>
          <p:cNvPr id="33" name="R2C3Cell"/>
          <p:cNvSpPr/>
          <p:nvPr/>
        </p:nvSpPr>
        <p:spPr>
          <a:xfrm>
            <a:off x="6345760" y="1930000"/>
            <a:ext cx="23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</a:t>
            </a:r>
            <a:r>
              <a:rPr lang="en-US" altLang="ko-KR" sz="12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200" dirty="0"/>
          </a:p>
        </p:txBody>
      </p:sp>
      <p:sp>
        <p:nvSpPr>
          <p:cNvPr id="40" name="Row3Label"/>
          <p:cNvSpPr/>
          <p:nvPr/>
        </p:nvSpPr>
        <p:spPr>
          <a:xfrm>
            <a:off x="465760" y="2510000"/>
            <a:ext cx="168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Antigravity</a:t>
            </a:r>
            <a:endParaRPr lang="en-US" sz="1400" dirty="0"/>
          </a:p>
        </p:txBody>
      </p:sp>
      <p:sp>
        <p:nvSpPr>
          <p:cNvPr id="41" name="R3C1Cell"/>
          <p:cNvSpPr/>
          <p:nvPr/>
        </p:nvSpPr>
        <p:spPr>
          <a:xfrm>
            <a:off x="2145760" y="251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gemini.google.com</a:t>
            </a:r>
            <a:endParaRPr lang="en-US" sz="1200" dirty="0"/>
          </a:p>
        </p:txBody>
      </p:sp>
      <p:sp>
        <p:nvSpPr>
          <p:cNvPr id="42" name="R3C2Cell"/>
          <p:cNvSpPr/>
          <p:nvPr/>
        </p:nvSpPr>
        <p:spPr>
          <a:xfrm>
            <a:off x="4245760" y="251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agy CLI</a:t>
            </a:r>
            <a:endParaRPr lang="en-US" sz="1200" dirty="0"/>
          </a:p>
        </p:txBody>
      </p:sp>
      <p:sp>
        <p:nvSpPr>
          <p:cNvPr id="43" name="R3C3Cell"/>
          <p:cNvSpPr/>
          <p:nvPr/>
        </p:nvSpPr>
        <p:spPr>
          <a:xfrm>
            <a:off x="6345760" y="2510000"/>
            <a:ext cx="23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2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</a:t>
            </a:r>
            <a:r>
              <a:rPr lang="ko-KR" altLang="en-US" sz="12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altLang="ko-KR" sz="12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200" dirty="0"/>
          </a:p>
        </p:txBody>
      </p:sp>
      <p:sp>
        <p:nvSpPr>
          <p:cNvPr id="50" name="Footer1"/>
          <p:cNvSpPr/>
          <p:nvPr/>
        </p:nvSpPr>
        <p:spPr>
          <a:xfrm>
            <a:off x="365760" y="3100000"/>
            <a:ext cx="841248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i="1" dirty="0">
                <a:solidFill>
                  <a:srgbClr val="8899BB"/>
                </a:solidFill>
              </a:rPr>
              <a:t>표면은 다르지만 동일 harness — 어떤 걸 골라도 학습은 이전됨</a:t>
            </a:r>
            <a:endParaRPr lang="en-US" sz="1100" dirty="0"/>
          </a:p>
        </p:txBody>
      </p:sp>
      <p:sp>
        <p:nvSpPr>
          <p:cNvPr id="60" name="ClosingBox"/>
          <p:cNvSpPr/>
          <p:nvPr/>
        </p:nvSpPr>
        <p:spPr>
          <a:xfrm>
            <a:off x="365760" y="3560000"/>
            <a:ext cx="8412480" cy="140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9050">
            <a:solidFill>
              <a:srgbClr val="2DD4BF"/>
            </a:solidFill>
          </a:ln>
        </p:spPr>
      </p:sp>
      <p:sp>
        <p:nvSpPr>
          <p:cNvPr id="61" name="ClosingTitle"/>
          <p:cNvSpPr/>
          <p:nvPr/>
        </p:nvSpPr>
        <p:spPr>
          <a:xfrm>
            <a:off x="365760" y="3610000"/>
            <a:ext cx="841248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어디서든 조작은 공통</a:t>
            </a:r>
            <a:endParaRPr lang="en-US" sz="1400" dirty="0"/>
          </a:p>
        </p:txBody>
      </p:sp>
      <p:sp>
        <p:nvSpPr>
          <p:cNvPr id="62" name="SlashRow"/>
          <p:cNvSpPr/>
          <p:nvPr/>
        </p:nvSpPr>
        <p:spPr>
          <a:xfrm>
            <a:off x="565760" y="4110000"/>
            <a:ext cx="801248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ko-KR" altLang="en-US" sz="1500" dirty="0">
                <a:solidFill>
                  <a:srgbClr val="C8DCFC"/>
                </a:solidFill>
              </a:rPr>
              <a:t>  스킬·명령 호출     </a:t>
            </a:r>
            <a:r>
              <a:rPr lang="en-US" sz="1500" dirty="0">
                <a:solidFill>
                  <a:srgbClr val="8899BB"/>
                </a:solidFill>
              </a:rPr>
              <a:t>·     </a:t>
            </a: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ko-KR" altLang="en-US" sz="1500" dirty="0">
                <a:solidFill>
                  <a:srgbClr val="C8DCFC"/>
                </a:solidFill>
              </a:rPr>
              <a:t>  파일·컨텍스트 언급</a:t>
            </a:r>
            <a:endParaRPr lang="en-US" sz="1500" dirty="0"/>
          </a:p>
        </p:txBody>
      </p:sp>
      <p:sp>
        <p:nvSpPr>
          <p:cNvPr id="63" name="ClosingNote"/>
          <p:cNvSpPr/>
          <p:nvPr/>
        </p:nvSpPr>
        <p:spPr>
          <a:xfrm>
            <a:off x="565760" y="4570000"/>
            <a:ext cx="80124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i="1" dirty="0">
                <a:solidFill>
                  <a:srgbClr val="8899BB"/>
                </a:solidFill>
              </a:rPr>
              <a:t>결국 “AI에게 문서를 가리키는” 동작 — 새로 배울 게 별로 없음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개발 도구에게 프로젝트 정보를 전달하는 지침 문서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6012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AGENTS.md / GEMINI.md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루트에 두면 각 AI Agent가 자동으로 읽음. Instruction·Rule은 @멘션 또는 상위 문서에서 참조하도록 설정.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(맥락·배경지식)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프로젝트가 무엇인지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스택, 구조, 패턴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상황을 이해하는 배경지식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Java 17 / Spring Boot / PostgreSQL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→ Service → Repository 구조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176272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(지침·작업방식)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작업을 어떻게 수행할지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상세 작업 방식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행동 방식 명세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요구분석 → 영향범위 → 코드 → 테스트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형식: 설명 → 코드 → 요약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176272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3620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 (규칙·엄격한 제약)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반드시 지켜야 할 제약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컨벤션, 금지사항 명시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 시 오류가 되는 사항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비즈니스로직 금지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Entity 직접 반환 금지 (DTO 변환 필수)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Context 실전 예시 (CLAUDE.md)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84632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📄  CLAUDE.md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AI Guide
---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1️⃣ Context (프로젝트 맥락)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프로젝트 개요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Spring Boot 기반 인증 API 서버
- JWT 기반 인증 구조 사용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기술 스택
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Java 17  /  Spring Boot 3.x
- PostgreSQL  /  Gradle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아키텍처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 → Service → Repository
- DTO / Entity 분리
- GlobalExceptionHandler 사용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2️⃣ Instruction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@.docs/instruction/coding-style.md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3️⃣ Rule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@.docs/rules/global-rules.md
@.docs/rules/backend-rules.md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84124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0" y="841248"/>
            <a:ext cx="3383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932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로드 파일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28016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→ Claude Code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→ Codex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→ Gemini/Antigravity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또는 하위 디렉토리에 위치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25856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2258568"/>
            <a:ext cx="33832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3500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@멘션으로 참조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69748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임의 이름의 .md 파일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@경로 형태로 멘션하면 AI가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문서에서 언급해도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맥락을 통해 자동 로드되기도 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67588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3675888"/>
            <a:ext cx="338328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767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규모별 관리 방식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411480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CLAUDE.md 하나에 모두 통합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대규모: 계층별·도메인별 파일 분리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.docs/instruction/ .docs/rules/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Prompt 등 이름도 자유롭게 사용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Instruction &amp; Rule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📋  coding-style.md  (Instruction)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전 확인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관련 PRD 존재 시 반드시 읽는다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예: @doc/prd/auth-feature.md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절차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요구사항 분석
2. 영향 범위 확인
3. 코드 작성
4. 테스트/예외 검토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응답 형식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설명 → 코드 → 요약 순서
- 변경 코드 diff 형식 출력
- 새 파일은 전체 코드 제공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반드시 준수할 규칙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@.docs/rules/global-rules.md
@.docs/rules/backend-rules.md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📏  global-rules.md  (Rule)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아키텍처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Controller에 비즈니스 로직 작성 금지
- Service 계층에서만 트랜잭션 허용
- Entity 직접 반환 금지 (DTO 변환 필수)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코드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하드코딩 금지
- Optional.get() 직접 사용 금지
- 로그에 민감 정보 출력 금지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위반 시:
1. 위반 내용 명시
2. 수정 코드 제안
</a:t>
            </a: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backend-rules.md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@Transactional은 Service만 선언
- Repository 비즈니스 로직 금지
- Response는 공통 Wrapper 사용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파일 위치 &amp; 프로젝트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48056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📁  프로젝트 폴더 구조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43358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CLAUDE.md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진입점 (자동로드)
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.agents/agents.md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Antigravity 진입점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AGENTS.md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진입점
│
</a:t>
            </a: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.docs/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instruction/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 coding-style.md
│   │   └─ review-process.md
│   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rules/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global-rules.md
│       └─ backend-rules.md
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doc/
    └─ prd/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auth-feature.md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82296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822960"/>
            <a:ext cx="37490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932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32588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(루트 → 자동로드)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디렉토리는 읽도록 명시 필요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24028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240280"/>
            <a:ext cx="3749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7432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@멘션 참조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657600"/>
            <a:ext cx="3749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416052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.agents/agents.md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Skills·Workflows는 .agents/ 하위에 위치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" y="4235782"/>
            <a:ext cx="3749040" cy="713232"/>
          </a:xfrm>
          <a:prstGeom prst="rect">
            <a:avLst/>
          </a:prstGeom>
          <a:solidFill>
            <a:srgbClr val="FFF8E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429064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규모별 선택
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</a:t>
            </a:r>
            <a:r>
              <a:rPr lang="en-US" altLang="ko-KR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하나에 통합  |  대규모: .docs/ 폴더로 계층 분리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180000"/>
            <a:ext cx="841248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인식하는 경로 — 실무는 두 곳</a:t>
            </a:r>
            <a:endParaRPr lang="en-US" sz="2600" dirty="0"/>
          </a:p>
        </p:txBody>
      </p:sp>
      <p:sp>
        <p:nvSpPr>
          <p:cNvPr id="10" name="ProjBox"/>
          <p:cNvSpPr/>
          <p:nvPr/>
        </p:nvSpPr>
        <p:spPr>
          <a:xfrm>
            <a:off x="365760" y="820000"/>
            <a:ext cx="4120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ProjTitle"/>
          <p:cNvSpPr/>
          <p:nvPr/>
        </p:nvSpPr>
        <p:spPr>
          <a:xfrm>
            <a:off x="500000" y="900000"/>
            <a:ext cx="39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📁  프로젝트 스코프</a:t>
            </a:r>
            <a:endParaRPr lang="en-US" sz="1400" dirty="0"/>
          </a:p>
        </p:txBody>
      </p:sp>
      <p:sp>
        <p:nvSpPr>
          <p:cNvPr id="12" name="ProjPath1Bg"/>
          <p:cNvSpPr/>
          <p:nvPr/>
        </p:nvSpPr>
        <p:spPr>
          <a:xfrm>
            <a:off x="500000" y="129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3" name="ProjPath1"/>
          <p:cNvSpPr/>
          <p:nvPr/>
        </p:nvSpPr>
        <p:spPr>
          <a:xfrm>
            <a:off x="500000" y="129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&lt;proj&gt;/.claude/*</a:t>
            </a:r>
            <a:endParaRPr lang="en-US" sz="1300" dirty="0"/>
          </a:p>
        </p:txBody>
      </p:sp>
      <p:sp>
        <p:nvSpPr>
          <p:cNvPr id="14" name="ProjPath2Bg"/>
          <p:cNvSpPr/>
          <p:nvPr/>
        </p:nvSpPr>
        <p:spPr>
          <a:xfrm>
            <a:off x="500000" y="168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5" name="ProjPath2"/>
          <p:cNvSpPr/>
          <p:nvPr/>
        </p:nvSpPr>
        <p:spPr>
          <a:xfrm>
            <a:off x="500000" y="168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&lt;proj&gt;/.agents/*</a:t>
            </a:r>
            <a:endParaRPr lang="en-US" sz="1300" dirty="0"/>
          </a:p>
        </p:txBody>
      </p:sp>
      <p:sp>
        <p:nvSpPr>
          <p:cNvPr id="20" name="GlobBox"/>
          <p:cNvSpPr/>
          <p:nvPr/>
        </p:nvSpPr>
        <p:spPr>
          <a:xfrm>
            <a:off x="4658240" y="820000"/>
            <a:ext cx="4120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78BFA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GlobTitle"/>
          <p:cNvSpPr/>
          <p:nvPr/>
        </p:nvSpPr>
        <p:spPr>
          <a:xfrm>
            <a:off x="4793240" y="900000"/>
            <a:ext cx="39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🌐  전역 스코프 (~/)</a:t>
            </a:r>
            <a:endParaRPr lang="en-US" sz="1400" dirty="0"/>
          </a:p>
        </p:txBody>
      </p:sp>
      <p:sp>
        <p:nvSpPr>
          <p:cNvPr id="22" name="GlobPath1Bg"/>
          <p:cNvSpPr/>
          <p:nvPr/>
        </p:nvSpPr>
        <p:spPr>
          <a:xfrm>
            <a:off x="4793240" y="129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3" name="GlobPath1"/>
          <p:cNvSpPr/>
          <p:nvPr/>
        </p:nvSpPr>
        <p:spPr>
          <a:xfrm>
            <a:off x="4793240" y="129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  ·  ~/.codex/</a:t>
            </a:r>
            <a:endParaRPr lang="en-US" sz="1300" dirty="0"/>
          </a:p>
        </p:txBody>
      </p:sp>
      <p:sp>
        <p:nvSpPr>
          <p:cNvPr id="24" name="GlobPath2Bg"/>
          <p:cNvSpPr/>
          <p:nvPr/>
        </p:nvSpPr>
        <p:spPr>
          <a:xfrm>
            <a:off x="4793240" y="168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5" name="GlobPath2"/>
          <p:cNvSpPr/>
          <p:nvPr/>
        </p:nvSpPr>
        <p:spPr>
          <a:xfrm>
            <a:off x="4793240" y="168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~/.gemini/config/skills/</a:t>
            </a:r>
            <a:endParaRPr lang="en-US" sz="1300" dirty="0"/>
          </a:p>
        </p:txBody>
      </p:sp>
      <p:sp>
        <p:nvSpPr>
          <p:cNvPr id="40" name="RuleBox"/>
          <p:cNvSpPr/>
          <p:nvPr/>
        </p:nvSpPr>
        <p:spPr>
          <a:xfrm>
            <a:off x="365760" y="2300000"/>
            <a:ext cx="8412480" cy="900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BBF24"/>
            </a:solidFill>
          </a:ln>
        </p:spPr>
      </p:sp>
      <p:sp>
        <p:nvSpPr>
          <p:cNvPr id="41" name="RuleText"/>
          <p:cNvSpPr/>
          <p:nvPr/>
        </p:nvSpPr>
        <p:spPr>
          <a:xfrm>
            <a:off x="565760" y="2360000"/>
            <a:ext cx="801248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💡  실무 </a:t>
            </a:r>
            <a:r>
              <a:rPr lang="ko-KR" altLang="en-US" sz="1400" b="1" dirty="0">
                <a:solidFill>
                  <a:srgbClr val="B45309"/>
                </a:solidFill>
              </a:rPr>
              <a:t>선택 기준</a:t>
            </a:r>
            <a:endParaRPr lang="en-US" sz="14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1E2761"/>
                </a:solidFill>
              </a:rPr>
              <a:t>모든 프로젝트에서 쓰는 것 → </a:t>
            </a:r>
            <a:r>
              <a:rPr lang="ko-KR" altLang="en-US" sz="1300" b="1" dirty="0">
                <a:solidFill>
                  <a:srgbClr val="A78BFA"/>
                </a:solidFill>
              </a:rPr>
              <a:t>전역</a:t>
            </a:r>
            <a:r>
              <a:rPr lang="ko-KR" altLang="en-US" sz="1300" dirty="0">
                <a:solidFill>
                  <a:srgbClr val="1E2761"/>
                </a:solidFill>
              </a:rPr>
              <a:t>   ·   특정 프로젝트에만 → </a:t>
            </a:r>
            <a:r>
              <a:rPr lang="ko-KR" altLang="en-US" sz="1300" b="1" dirty="0">
                <a:solidFill>
                  <a:srgbClr val="4FC3F7"/>
                </a:solidFill>
              </a:rPr>
              <a:t>프로젝트</a:t>
            </a:r>
            <a:endParaRPr lang="en-US" sz="1300" dirty="0"/>
          </a:p>
        </p:txBody>
      </p:sp>
      <p:sp>
        <p:nvSpPr>
          <p:cNvPr id="50" name="NoteBox"/>
          <p:cNvSpPr/>
          <p:nvPr/>
        </p:nvSpPr>
        <p:spPr>
          <a:xfrm>
            <a:off x="365760" y="3360000"/>
            <a:ext cx="8412480" cy="158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9050">
            <a:solidFill>
              <a:srgbClr val="FBBF24"/>
            </a:solidFill>
          </a:ln>
        </p:spPr>
      </p:sp>
      <p:sp>
        <p:nvSpPr>
          <p:cNvPr id="51" name="NoteTitle"/>
          <p:cNvSpPr/>
          <p:nvPr/>
        </p:nvSpPr>
        <p:spPr>
          <a:xfrm>
            <a:off x="565760" y="3440000"/>
            <a:ext cx="801248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BBF24"/>
                </a:solidFill>
              </a:rPr>
              <a:t>다른 경로도 있다 — 그런데 나는 왜 이 두 곳만 쓰는가</a:t>
            </a:r>
            <a:endParaRPr lang="en-US" sz="1400" dirty="0"/>
          </a:p>
        </p:txBody>
      </p:sp>
      <p:sp>
        <p:nvSpPr>
          <p:cNvPr id="52" name="NoteBody"/>
          <p:cNvSpPr/>
          <p:nvPr/>
        </p:nvSpPr>
        <p:spPr>
          <a:xfrm>
            <a:off x="565760" y="3850000"/>
            <a:ext cx="8012480" cy="10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C8DCFC"/>
                </a:solidFill>
              </a:rPr>
              <a:t>도구·버전마다 </a:t>
            </a:r>
            <a:r>
              <a:rPr lang="en-US" sz="12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.codex/skills/ </a:t>
            </a:r>
            <a:r>
              <a:rPr lang="en-US" altLang="ko-KR" sz="1200" dirty="0">
                <a:solidFill>
                  <a:srgbClr val="C8DCFC"/>
                </a:solidFill>
              </a:rPr>
              <a:t>· </a:t>
            </a:r>
            <a:r>
              <a:rPr lang="en-US" sz="12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.gemini/config/ </a:t>
            </a:r>
            <a:r>
              <a:rPr lang="ko-KR" altLang="en-US" sz="1200" dirty="0">
                <a:solidFill>
                  <a:srgbClr val="C8DCFC"/>
                </a:solidFill>
              </a:rPr>
              <a:t>등 여러 경로가 있고, 지원 범위도 조금씩 다르다.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300" b="1" dirty="0">
                <a:solidFill>
                  <a:srgbClr val="FBBF24"/>
                </a:solidFill>
              </a:rPr>
              <a:t>→ </a:t>
            </a:r>
            <a:r>
              <a:rPr lang="ko-KR" altLang="en-US" sz="1300" dirty="0">
                <a:solidFill>
                  <a:srgbClr val="FFFFFF"/>
                </a:solidFill>
              </a:rPr>
              <a:t>프로젝트마다 상이하니 </a:t>
            </a:r>
            <a:r>
              <a:rPr lang="ko-KR" altLang="en-US" sz="1300" b="1" dirty="0">
                <a:solidFill/>
              </a:rPr>
              <a:t> </a:t>
            </a: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r>
              <a:rPr lang="ko-KR" altLang="en-US" sz="1300" dirty="0">
                <a:solidFill>
                  <a:srgbClr val="FFFFFF"/>
                </a:solidFill>
              </a:rPr>
              <a:t> · </a:t>
            </a: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</a:t>
            </a:r>
            <a:r>
              <a:rPr lang="ko-KR" altLang="en-US" sz="1300" dirty="0">
                <a:solidFill>
                  <a:srgbClr val="FFFFFF"/>
                </a:solidFill>
              </a:rPr>
              <a:t> 두 곳만 쓴다 </a:t>
            </a:r>
            <a:r>
              <a:rPr lang="ko-KR" altLang="en-US" sz="1300" b="1" dirty="0">
                <a:solidFill>
                  <a:srgbClr val="FBBF24"/>
                </a:solidFill>
              </a:rPr>
              <a:t>— 어디서든 통하니까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무엇인가?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특정 작업을 구조화된 방식으로 수행하도록 정의한  </a:t>
            </a: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작업 단위 (프롬프트 패키지)
</a:t>
            </a: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프롬프트 한 줄이 아닌, 역할·지침·템플릿·스크립트를 포함해 하나의 "기능"처럼 동작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사용하는가?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토큰 절약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9151" y="3090672"/>
            <a:ext cx="29964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매번 긴 프롬프트 입력 시 토큰이 계속 증가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Skills는 /multi-review처럼 짧은 명령어로 호출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0156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재사용성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0906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한 번 정의하면 여러 프로젝트·맥락에서 재사용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팀 전체가 동일한 방식으로 작업 가능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2764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일관성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0906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매번 다른 결과 없이 정해진 방식으로 일관된 출력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코드 리뷰·문서화 등 반복 작업에 특히 효과적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 형태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41148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multi-review/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핵심 지침
│   ├─ template.md    # 템플릿
│   └─ scripts/       # 스크립트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호출 방식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133088"/>
            <a:ext cx="13716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/명령어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/multi-review 입력으로 즉시 호출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133088"/>
            <a:ext cx="13716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AI가 맥락 파악 후 자동으로 Skills 참조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4133088"/>
            <a:ext cx="13716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@멘션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2668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@경로로 직접 지정하여 호출 가능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도구별 적용 방법 &amp; 주의사항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525012"/>
            <a:ext cx="1783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2.1대 — Slash Commands가 Skills로 통합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.claude/commands/ 파일도 여전히 작동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환경 및 VSCode Extension 모두 인식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902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89020" y="841248"/>
            <a:ext cx="19659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8046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04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8046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618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8046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046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618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25596" y="35656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Code와 마찬가지로 Slash Commands 통합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.agents/skills/ 는 교차도구 공용 경로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.codex/skills/ 는 Codex 전용 프로젝트 경로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841248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.agents/workflows/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ko-KR" alt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 Skills 복붙 후 /명령어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CLI(agy)·IDE(Editor)·Manager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3표면 모두 동일 harness 공유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Skills는 .agents/skills 표준 채택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 — 이벤트 기반 자동 실행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E2761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핵심: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Hooks는 독립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</a:t>
            </a:r>
            <a:r>
              <a:rPr lang="ko-KR" alt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니다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200" b="1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 Hook, IDE Event)로 AI Skills를 강제 호출하는 실행 패턴.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실행을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원하면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스크립트 작성이 반드시 필요합니다.</a:t>
            </a:r>
            <a:endParaRPr lang="en-US" sz="12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1F14715-E0CE-4F69-B03B-7220D72ACE50}"/>
              </a:ext>
            </a:extLst>
          </p:cNvPr>
          <p:cNvGrpSpPr/>
          <p:nvPr/>
        </p:nvGrpSpPr>
        <p:grpSpPr>
          <a:xfrm>
            <a:off x="365760" y="1627632"/>
            <a:ext cx="2743200" cy="1353312"/>
            <a:chOff x="365760" y="1627632"/>
            <a:chExt cx="2743200" cy="1353312"/>
          </a:xfrm>
        </p:grpSpPr>
        <p:sp>
          <p:nvSpPr>
            <p:cNvPr id="6" name="Shape 4"/>
            <p:cNvSpPr/>
            <p:nvPr/>
          </p:nvSpPr>
          <p:spPr>
            <a:xfrm>
              <a:off x="36576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34D399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365760" y="1627632"/>
              <a:ext cx="2743200" cy="54864"/>
            </a:xfrm>
            <a:prstGeom prst="rect">
              <a:avLst/>
            </a:prstGeom>
            <a:solidFill>
              <a:srgbClr val="34D399"/>
            </a:solidFill>
            <a:ln w="12700">
              <a:solidFill>
                <a:srgbClr val="34D39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6576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💾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4D3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On-save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파일 저장 시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자동 포맷팅·린팅</a:t>
              </a:r>
              <a:endParaRPr lang="en-US" sz="13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C61F7A-4870-4E86-9773-25E5478F7B86}"/>
              </a:ext>
            </a:extLst>
          </p:cNvPr>
          <p:cNvGrpSpPr/>
          <p:nvPr/>
        </p:nvGrpSpPr>
        <p:grpSpPr>
          <a:xfrm>
            <a:off x="3208020" y="1627632"/>
            <a:ext cx="2743200" cy="1353312"/>
            <a:chOff x="3291840" y="1627632"/>
            <a:chExt cx="2743200" cy="1353312"/>
          </a:xfrm>
        </p:grpSpPr>
        <p:sp>
          <p:nvSpPr>
            <p:cNvPr id="12" name="Shape 10"/>
            <p:cNvSpPr/>
            <p:nvPr/>
          </p:nvSpPr>
          <p:spPr>
            <a:xfrm>
              <a:off x="329184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BBF2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91840" y="1627632"/>
              <a:ext cx="2743200" cy="54864"/>
            </a:xfrm>
            <a:prstGeom prst="rect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29184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📦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38328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Pre-commit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38328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커밋 직전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8328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코드 스타일 검사</a:t>
              </a:r>
              <a:endParaRPr lang="en-US" sz="13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6192EDA-EF19-4D89-883D-984130E42D18}"/>
              </a:ext>
            </a:extLst>
          </p:cNvPr>
          <p:cNvGrpSpPr/>
          <p:nvPr/>
        </p:nvGrpSpPr>
        <p:grpSpPr>
          <a:xfrm>
            <a:off x="6035040" y="1627632"/>
            <a:ext cx="2743200" cy="1353312"/>
            <a:chOff x="6217920" y="1627632"/>
            <a:chExt cx="2743200" cy="1353312"/>
          </a:xfrm>
        </p:grpSpPr>
        <p:sp>
          <p:nvSpPr>
            <p:cNvPr id="18" name="Shape 16"/>
            <p:cNvSpPr/>
            <p:nvPr/>
          </p:nvSpPr>
          <p:spPr>
            <a:xfrm>
              <a:off x="621792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A78BFA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6217920" y="1627632"/>
              <a:ext cx="2743200" cy="54864"/>
            </a:xfrm>
            <a:prstGeom prst="rect">
              <a:avLst/>
            </a:prstGeom>
            <a:solidFill>
              <a:srgbClr val="A78BFA"/>
            </a:solidFill>
            <a:ln w="12700">
              <a:solidFill>
                <a:srgbClr val="A78BFA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21792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🔀</a:t>
              </a:r>
              <a:endParaRPr lang="en-US" sz="2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A78BF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Post-merge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30936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병합 완료 후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0936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의존성 충돌 검사</a:t>
              </a:r>
              <a:endParaRPr lang="en-US" sz="13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65760" y="3127248"/>
            <a:ext cx="3931920" cy="1920240"/>
          </a:xfrm>
          <a:prstGeom prst="rect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📝  구현 예시 (별도 스크립트 직접 작성)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4930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.git/hooks/pre-commit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run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.claude/skills/pre-commit-check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36576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25696"/>
            <a:ext cx="34747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⚠️  모든 AI 도구가 자동 Hooks를 제공하지는 않음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.claude/hooks/ 디렉토리는 실행할 Skills를 정리한 것일 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127248"/>
            <a:ext cx="42976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821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↔ Hooks 관계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3931920" cy="438912"/>
          </a:xfrm>
          <a:prstGeom prst="rect">
            <a:avLst/>
          </a:prstGeom>
          <a:solidFill>
            <a:srgbClr val="4FC3F7">
              <a:alpha val="15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47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Skills  </a:t>
            </a:r>
            <a:r>
              <a:rPr lang="en-US" sz="1200" dirty="0">
                <a:solidFill>
                  <a:srgbClr val="1E2761"/>
                </a:solidFill>
              </a:rPr>
              <a:t>지식 정의 (SKILL.md)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005072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059936"/>
            <a:ext cx="3931920" cy="438912"/>
          </a:xfrm>
          <a:prstGeom prst="rect">
            <a:avLst/>
          </a:prstGeom>
          <a:solidFill>
            <a:srgbClr val="A78BFA">
              <a:alpha val="1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99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Hooks  </a:t>
            </a:r>
            <a:r>
              <a:rPr lang="en-US" sz="1200" dirty="0">
                <a:solidFill>
                  <a:srgbClr val="1E2761"/>
                </a:solidFill>
              </a:rPr>
              <a:t>특정 시점 실행용으로 구조화된 Skills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572000"/>
            <a:ext cx="3931920" cy="438912"/>
          </a:xfrm>
          <a:prstGeom prst="rect">
            <a:avLst/>
          </a:prstGeom>
          <a:solidFill>
            <a:srgbClr val="FBBF24">
              <a:alpha val="1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5720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실행  </a:t>
            </a:r>
            <a:r>
              <a:rPr lang="en-US" sz="1200" dirty="0">
                <a:solidFill>
                  <a:srgbClr val="1E2761"/>
                </a:solidFill>
              </a:rPr>
              <a:t>별도 스크립트로 구현 필수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&amp; Plugin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모델 ↔ 외부 시스템 간 표준화된 인터페이스 프로토콜 + 확장 패키지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MCP (Model Context Protocol)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Anthropic 발표. HTTP가 웹을, SMTP가 이메일을 표준화했듯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AI ↔ 외부 시스템 간 통신을 표준화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25904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시스템 직접 조회·조작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GitHub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Postgres DB 등 실시간 연결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Extension으로 직관적 관리 가능</a:t>
            </a:r>
            <a:endParaRPr lang="en-US" sz="12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9D9931C-A4B8-49A5-9A51-5F787F8857A4}"/>
              </a:ext>
            </a:extLst>
          </p:cNvPr>
          <p:cNvGrpSpPr/>
          <p:nvPr/>
        </p:nvGrpSpPr>
        <p:grpSpPr>
          <a:xfrm>
            <a:off x="449580" y="3191256"/>
            <a:ext cx="3947160" cy="1691640"/>
            <a:chOff x="502920" y="3584448"/>
            <a:chExt cx="4069080" cy="2084832"/>
          </a:xfrm>
        </p:grpSpPr>
        <p:sp>
          <p:nvSpPr>
            <p:cNvPr id="10" name="Shape 8"/>
            <p:cNvSpPr/>
            <p:nvPr/>
          </p:nvSpPr>
          <p:spPr>
            <a:xfrm>
              <a:off x="502920" y="3584448"/>
              <a:ext cx="77724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48640" y="358444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구분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32588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37160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MCP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42316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46888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Skills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52044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56616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Plugin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2920" y="3931920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48640" y="3931920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본질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32588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37160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외부 </a:t>
              </a:r>
              <a:r>
                <a:rPr lang="en-US" sz="800" dirty="0" err="1">
                  <a:solidFill>
                    <a:srgbClr val="C8DCFC"/>
                  </a:solidFill>
                </a:rPr>
                <a:t>연결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프로토콜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42316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246888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방법 가르치는 문서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52044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56616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확장 </a:t>
              </a:r>
              <a:r>
                <a:rPr lang="en-US" sz="800" dirty="0" err="1">
                  <a:solidFill>
                    <a:srgbClr val="C8DCFC"/>
                  </a:solidFill>
                </a:rPr>
                <a:t>배포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패키지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2920" y="4279392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48640" y="4279392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형태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32588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37160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실행 중인 서버 프로세스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42316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46888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SKILL.md 파일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52044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566160" y="4279392"/>
              <a:ext cx="10058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Skills+MCP+Hooks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r>
                <a:rPr lang="en-US" sz="800" dirty="0" err="1">
                  <a:solidFill>
                    <a:srgbClr val="C8DCFC"/>
                  </a:solidFill>
                </a:rPr>
                <a:t>묶음</a:t>
              </a: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" y="4626864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48640" y="4626864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네트워크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32588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137160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필요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42316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246888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불필요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52044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56616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포함 가능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02920" y="4974336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48640" y="4974336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범위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32588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37160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업계 </a:t>
              </a:r>
              <a:r>
                <a:rPr lang="en-US" sz="800" dirty="0" err="1">
                  <a:solidFill>
                    <a:srgbClr val="C8DCFC"/>
                  </a:solidFill>
                </a:rPr>
                <a:t>표준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(어디서나)</a:t>
              </a:r>
              <a:endParaRPr lang="en-US" sz="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42316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246888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> 중심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52044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56616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> 특화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02920" y="5321808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548640" y="532180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비유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132588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137160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마트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r>
                <a:rPr lang="en-US" sz="800" dirty="0" err="1">
                  <a:solidFill>
                    <a:srgbClr val="C8DCFC"/>
                  </a:solidFill>
                </a:rPr>
                <a:t>배달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 서비스</a:t>
              </a:r>
              <a:endParaRPr lang="en-US" sz="8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242316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246888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요리책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52044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356616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밀키트 패키지</a:t>
              </a:r>
              <a:endParaRPr lang="en-US" sz="900" dirty="0"/>
            </a:p>
          </p:txBody>
        </p:sp>
      </p:grpSp>
      <p:sp>
        <p:nvSpPr>
          <p:cNvPr id="58" name="Shape 56"/>
          <p:cNvSpPr/>
          <p:nvPr/>
        </p:nvSpPr>
        <p:spPr>
          <a:xfrm>
            <a:off x="466344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1078992"/>
            <a:ext cx="41148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Plugin (Claude Code 전용)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80060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2025년 10월 출시. 여러 확장을 하나의 배포 패키지로 묶어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"내 팀 셋업 그대로" 한 명령어로 공유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0600" y="19659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/deploy, /review 단축 명령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특화된 AI 에이전트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도메인 지식 패키지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외부 연결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자동 트리거 스크립트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Servers — IDE 언어 서버 통합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3951224"/>
            <a:ext cx="3840480" cy="749808"/>
          </a:xfrm>
          <a:prstGeom prst="rect">
            <a:avLst/>
          </a:prstGeom>
          <a:solidFill>
            <a:srgbClr val="1A25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Text 62"/>
          <p:cNvSpPr/>
          <p:nvPr/>
        </p:nvSpPr>
        <p:spPr>
          <a:xfrm>
            <a:off x="4892040" y="3978656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&lt;marketplace-url&gt;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anthropics/skills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 — 독립 Agent 병렬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> 에이전트에서 독립된 컨텍스트 윈도우로 분리되는 전문화된 AI </a:t>
            </a:r>
            <a:r>
              <a:rPr lang="en-US" sz="1300" dirty="0" err="1">
                <a:solidFill>
                  <a:srgbClr val="FFFFFF"/>
                </a:solidFill>
              </a:rPr>
              <a:t>인스턴스</a:t>
            </a:r>
            <a:endParaRPr lang="en-US" sz="13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> 세션 오염 없이 제한된 권한으로 병렬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965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</a:rPr>
              <a:t>🟢 정식 지원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도구 문서 기준으로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커뮤니티 subagent 예시 다수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.claude/agents/*.md 로 직접 정의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8902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9020" y="1572768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046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046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환경별 확인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330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Multi-agent 지원 방식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사용 전 지원 방식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자동 오케스트레이션 중심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8717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572768"/>
            <a:ext cx="19659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Antigravity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Manager 지원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Agent Manager로 다중 에이전트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비동기 병렬 오케스트레이션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CLI·IDE·Manager </a:t>
            </a:r>
            <a:r>
              <a:rPr lang="en-US" sz="1000" dirty="0" err="1">
                <a:solidFill>
                  <a:srgbClr val="8899BB"/>
                </a:solidFill>
              </a:rPr>
              <a:t>3표면</a:t>
            </a:r>
            <a:r>
              <a:rPr lang="en-US" sz="1000" dirty="0">
                <a:solidFill>
                  <a:srgbClr val="8899BB"/>
                </a:solidFill>
              </a:rPr>
              <a:t> </a:t>
            </a:r>
            <a:br>
              <a:rPr lang="en-US" sz="1000" dirty="0">
                <a:solidFill>
                  <a:srgbClr val="8899BB"/>
                </a:solidFill>
              </a:rPr>
            </a:br>
            <a:r>
              <a:rPr lang="en-US" sz="1000" dirty="0">
                <a:solidFill>
                  <a:srgbClr val="8899BB"/>
                </a:solidFill>
              </a:rPr>
              <a:t>동일 harness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4206240" cy="1481328"/>
          </a:xfrm>
          <a:prstGeom prst="rect">
            <a:avLst/>
          </a:prstGeom>
          <a:solidFill>
            <a:srgbClr val="0D111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9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</a:rPr>
              <a:t>Claude Code — Subagent YAML 구조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security-auditor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취약점 검토 전문 Agent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필드 하드코딩 금지: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환경에서 선택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모델은 사용자/환경에서 선택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최소 권한
---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2336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tools 권한 전략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읽기전용 (리뷰·분석)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325112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읽기/쓰기 (구현 작업)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4325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Edit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672584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672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실행포함 (테스트·빌드)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4672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Bash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— 세션을 넘는 지속 기억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위치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~/.claude/…/memory/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🔄  동작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 로드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525012"/>
            <a:ext cx="1783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인덱스 + 토픽 .md 파일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시작 시 앞부분 자동 로드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유지 · 사람 편집 가능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902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89020" y="841248"/>
            <a:ext cx="19659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8046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04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위치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8046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618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~/.codex/memories/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8046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🔄  동작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046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618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 학습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25596" y="35656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AGENTS.md(정적) + Memories(자동)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2계층 메모리 구조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선호·규칙·함정을 스스로 축적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841248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위치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.gemini/antigravity/brain/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🔄  동작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ko-KR" alt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추출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끝에 Knowledge Subagent가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KI(Knowledge Items) 자동 추출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CLI는 기본 미지원 (Mem0 등 필요)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도구별 파일 위치 &amp; 지원 현황 총정리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822960"/>
            <a:ext cx="1417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82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구성 요소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1828800" cy="41148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1828800" cy="411480"/>
          </a:xfrm>
          <a:prstGeom prst="rect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 Codex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1760220" cy="411480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822960"/>
            <a:ext cx="167834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Antigravity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128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28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Guide 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128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28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(루트 자동로드)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28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(루트)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63640" y="128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28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.agents/agents.md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815160"/>
            <a:ext cx="14173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1815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181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181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89120" y="181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181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63640" y="1815160"/>
            <a:ext cx="17602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815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51560" y="235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235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14600" y="235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235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89120" y="235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53128" y="235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63640" y="235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235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.agents/workflows/*.md ⚠️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51560" y="2885160"/>
            <a:ext cx="14173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15568" y="2885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14600" y="288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78608" y="288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+ 별도스크립트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89120" y="288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3128" y="288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 스크립트 작성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63640" y="2885160"/>
            <a:ext cx="17602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885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Workflow로 대체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51560" y="342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15568" y="342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14600" y="342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8608" y="342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~/.claude.json / .claude.json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89120" y="342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53128" y="342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.codex/config.toml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63640" y="342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342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UI · CLI 설정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51560" y="3955160"/>
            <a:ext cx="14173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5568" y="3955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514600" y="395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78608" y="395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.claude/agents/*.md  🟢 정식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89120" y="395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53128" y="395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환경별 확인 필요 🟡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63640" y="3955160"/>
            <a:ext cx="17602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27648" y="3955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지원 🟡</a:t>
            </a:r>
            <a:endParaRPr lang="en-US" sz="800" dirty="0"/>
          </a:p>
        </p:txBody>
      </p:sp>
      <p:sp>
        <p:nvSpPr>
          <p:cNvPr id="101" name="Shape 12"/>
          <p:cNvSpPr/>
          <p:nvPr/>
        </p:nvSpPr>
        <p:spPr>
          <a:xfrm>
            <a:off x="1051560" y="449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2" name="Text 13"/>
          <p:cNvSpPr/>
          <p:nvPr/>
        </p:nvSpPr>
        <p:spPr>
          <a:xfrm>
            <a:off x="1115568" y="449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</a:t>
            </a:r>
            <a:endParaRPr lang="en-US" sz="1200" dirty="0"/>
          </a:p>
        </p:txBody>
      </p:sp>
      <p:sp>
        <p:nvSpPr>
          <p:cNvPr id="103" name="Shape 14"/>
          <p:cNvSpPr/>
          <p:nvPr/>
        </p:nvSpPr>
        <p:spPr>
          <a:xfrm>
            <a:off x="2514600" y="449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4" name="Text 15"/>
          <p:cNvSpPr/>
          <p:nvPr/>
        </p:nvSpPr>
        <p:spPr>
          <a:xfrm>
            <a:off x="2578608" y="449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~/.claude/…/memory/</a:t>
            </a:r>
            <a:endParaRPr lang="en-US" sz="800" dirty="0"/>
          </a:p>
        </p:txBody>
      </p:sp>
      <p:sp>
        <p:nvSpPr>
          <p:cNvPr id="105" name="Shape 16"/>
          <p:cNvSpPr/>
          <p:nvPr/>
        </p:nvSpPr>
        <p:spPr>
          <a:xfrm>
            <a:off x="4389120" y="449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6" name="Text 17"/>
          <p:cNvSpPr/>
          <p:nvPr/>
        </p:nvSpPr>
        <p:spPr>
          <a:xfrm>
            <a:off x="4453128" y="449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~/.codex/memories/</a:t>
            </a:r>
            <a:endParaRPr lang="en-US" sz="800" dirty="0"/>
          </a:p>
        </p:txBody>
      </p:sp>
      <p:sp>
        <p:nvSpPr>
          <p:cNvPr id="107" name="Shape 20"/>
          <p:cNvSpPr/>
          <p:nvPr/>
        </p:nvSpPr>
        <p:spPr>
          <a:xfrm>
            <a:off x="6263640" y="449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8" name="Text 21"/>
          <p:cNvSpPr/>
          <p:nvPr/>
        </p:nvSpPr>
        <p:spPr>
          <a:xfrm>
            <a:off x="6327648" y="449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.gemini/antigravity/brain/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Top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230000"/>
            <a:ext cx="84124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표준으로 수렴한다</a:t>
            </a:r>
            <a:endParaRPr lang="en-US" sz="4000" dirty="0"/>
          </a:p>
        </p:txBody>
      </p:sp>
      <p:sp>
        <p:nvSpPr>
          <p:cNvPr id="4" name="Subtitle"/>
          <p:cNvSpPr/>
          <p:nvPr/>
        </p:nvSpPr>
        <p:spPr>
          <a:xfrm>
            <a:off x="365760" y="96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i="1" dirty="0">
                <a:solidFill>
                  <a:srgbClr val="C8DCFC"/>
                </a:solidFill>
              </a:rPr>
              <a:t>개념은 생겼다 사라지고, 남는 건 </a:t>
            </a:r>
            <a:r>
              <a:rPr lang="en-US" sz="1700" b="1" i="1" dirty="0">
                <a:solidFill>
                  <a:srgbClr val="4FC3F7"/>
                </a:solidFill>
              </a:rPr>
              <a:t>.md</a:t>
            </a:r>
            <a:endParaRPr lang="en-US" sz="1700" dirty="0"/>
          </a:p>
        </p:txBody>
      </p:sp>
      <p:cxnSp>
        <p:nvCxnSpPr>
          <p:cNvPr id="5" name="TimelineLine"/>
          <p:cNvCxnSpPr/>
          <p:nvPr/>
        </p:nvCxnSpPr>
        <p:spPr>
          <a:xfrm>
            <a:off x="700000" y="2740000"/>
            <a:ext cx="7744000" cy="0"/>
          </a:xfrm>
          <a:prstGeom prst="line">
            <a:avLst/>
          </a:prstGeom>
          <a:ln w="19050">
            <a:solidFill>
              <a:srgbClr val="4A5175"/>
            </a:solidFill>
            <a:prstDash val="dash"/>
          </a:ln>
        </p:spPr>
      </p:cxnSp>
      <p:sp>
        <p:nvSpPr>
          <p:cNvPr id="10" name="Card1Box"/>
          <p:cNvSpPr/>
          <p:nvPr/>
        </p:nvSpPr>
        <p:spPr>
          <a:xfrm>
            <a:off x="4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4FC3F7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Card1Date"/>
          <p:cNvSpPr/>
          <p:nvPr/>
        </p:nvSpPr>
        <p:spPr>
          <a:xfrm>
            <a:off x="4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2025.12</a:t>
            </a:r>
            <a:endParaRPr lang="en-US" sz="2400" dirty="0"/>
          </a:p>
        </p:txBody>
      </p:sp>
      <p:sp>
        <p:nvSpPr>
          <p:cNvPr id="12" name="Card1Actor"/>
          <p:cNvSpPr/>
          <p:nvPr/>
        </p:nvSpPr>
        <p:spPr>
          <a:xfrm>
            <a:off x="4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Anthropic</a:t>
            </a:r>
            <a:endParaRPr lang="en-US" sz="1500" dirty="0"/>
          </a:p>
        </p:txBody>
      </p:sp>
      <p:sp>
        <p:nvSpPr>
          <p:cNvPr id="13" name="Card1Desc"/>
          <p:cNvSpPr/>
          <p:nvPr/>
        </p:nvSpPr>
        <p:spPr>
          <a:xfrm>
            <a:off x="4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Agent Skills</a:t>
            </a:r>
            <a:br>
              <a:rPr lang="en-US" sz="1200" dirty="0"/>
            </a:br>
            <a:r>
              <a:rPr lang="ko-KR" altLang="en-US" sz="1200" b="1" dirty="0">
                <a:solidFill>
                  <a:srgbClr val="4FC3F7"/>
                </a:solidFill>
              </a:rPr>
              <a:t>오픈 표준 공개</a:t>
            </a:r>
            <a:endParaRPr lang="en-US" sz="1200" dirty="0"/>
          </a:p>
        </p:txBody>
      </p:sp>
      <p:sp>
        <p:nvSpPr>
          <p:cNvPr id="20" name="Card2Box"/>
          <p:cNvSpPr/>
          <p:nvPr/>
        </p:nvSpPr>
        <p:spPr>
          <a:xfrm>
            <a:off x="25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FBBF24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Card2Date"/>
          <p:cNvSpPr/>
          <p:nvPr/>
        </p:nvSpPr>
        <p:spPr>
          <a:xfrm>
            <a:off x="25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+48h</a:t>
            </a:r>
            <a:endParaRPr lang="en-US" sz="2400" dirty="0"/>
          </a:p>
        </p:txBody>
      </p:sp>
      <p:sp>
        <p:nvSpPr>
          <p:cNvPr id="22" name="Card2Actor"/>
          <p:cNvSpPr/>
          <p:nvPr/>
        </p:nvSpPr>
        <p:spPr>
          <a:xfrm>
            <a:off x="25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Microsoft · OpenAI</a:t>
            </a:r>
            <a:endParaRPr lang="en-US" sz="1500" dirty="0"/>
          </a:p>
        </p:txBody>
      </p:sp>
      <p:sp>
        <p:nvSpPr>
          <p:cNvPr id="23" name="Card2Desc"/>
          <p:cNvSpPr/>
          <p:nvPr/>
        </p:nvSpPr>
        <p:spPr>
          <a:xfrm>
            <a:off x="25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VS Code · Copilot</a:t>
            </a:r>
            <a:br>
              <a:rPr lang="en-US" sz="1200" dirty="0"/>
            </a:br>
            <a:r>
              <a:rPr lang="en-US" sz="1200" dirty="0">
                <a:solidFill>
                  <a:srgbClr val="C8DCFC"/>
                </a:solidFill>
              </a:rPr>
              <a:t>ChatGPT · Codex </a:t>
            </a:r>
            <a:r>
              <a:rPr lang="ko-KR" altLang="en-US" sz="1200" b="1" dirty="0">
                <a:solidFill>
                  <a:srgbClr val="FBBF24"/>
                </a:solidFill>
              </a:rPr>
              <a:t>즉시 지원</a:t>
            </a:r>
            <a:endParaRPr lang="en-US" sz="1200" dirty="0"/>
          </a:p>
        </p:txBody>
      </p:sp>
      <p:sp>
        <p:nvSpPr>
          <p:cNvPr id="30" name="Card3Box"/>
          <p:cNvSpPr/>
          <p:nvPr/>
        </p:nvSpPr>
        <p:spPr>
          <a:xfrm>
            <a:off x="46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A78BFA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Card3Date"/>
          <p:cNvSpPr/>
          <p:nvPr/>
        </p:nvSpPr>
        <p:spPr>
          <a:xfrm>
            <a:off x="46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2026.01</a:t>
            </a:r>
            <a:endParaRPr lang="en-US" sz="2400" dirty="0"/>
          </a:p>
        </p:txBody>
      </p:sp>
      <p:sp>
        <p:nvSpPr>
          <p:cNvPr id="32" name="Card3Actor"/>
          <p:cNvSpPr/>
          <p:nvPr/>
        </p:nvSpPr>
        <p:spPr>
          <a:xfrm>
            <a:off x="46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</a:t>
            </a:r>
            <a:endParaRPr lang="en-US" sz="1500" dirty="0"/>
          </a:p>
        </p:txBody>
      </p:sp>
      <p:sp>
        <p:nvSpPr>
          <p:cNvPr id="33" name="Card3Desc"/>
          <p:cNvSpPr/>
          <p:nvPr/>
        </p:nvSpPr>
        <p:spPr>
          <a:xfrm>
            <a:off x="46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Antigravity</a:t>
            </a:r>
            <a:br>
              <a:rPr lang="en-US" sz="1200" dirty="0"/>
            </a:br>
            <a:r>
              <a:rPr lang="ko-KR" altLang="en-US" sz="1200" b="1" dirty="0">
                <a:solidFill>
                  <a:srgbClr val="A78BFA"/>
                </a:solidFill>
              </a:rPr>
              <a:t>표준 채택</a:t>
            </a:r>
            <a:endParaRPr lang="en-US" sz="1200" dirty="0"/>
          </a:p>
        </p:txBody>
      </p:sp>
      <p:sp>
        <p:nvSpPr>
          <p:cNvPr id="40" name="Card4Box"/>
          <p:cNvSpPr/>
          <p:nvPr/>
        </p:nvSpPr>
        <p:spPr>
          <a:xfrm>
            <a:off x="67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34D399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Card4Date"/>
          <p:cNvSpPr/>
          <p:nvPr/>
        </p:nvSpPr>
        <p:spPr>
          <a:xfrm>
            <a:off x="67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2026.03</a:t>
            </a:r>
            <a:endParaRPr lang="en-US" sz="2400" dirty="0"/>
          </a:p>
        </p:txBody>
      </p:sp>
      <p:sp>
        <p:nvSpPr>
          <p:cNvPr id="42" name="Card4Actor"/>
          <p:cNvSpPr/>
          <p:nvPr/>
        </p:nvSpPr>
        <p:spPr>
          <a:xfrm>
            <a:off x="67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32+ 도구</a:t>
            </a:r>
            <a:endParaRPr lang="en-US" sz="1500" dirty="0"/>
          </a:p>
        </p:txBody>
      </p:sp>
      <p:sp>
        <p:nvSpPr>
          <p:cNvPr id="43" name="Card4Desc"/>
          <p:cNvSpPr/>
          <p:nvPr/>
        </p:nvSpPr>
        <p:spPr>
          <a:xfrm>
            <a:off x="67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JetBrains · AWS Kiro</a:t>
            </a:r>
            <a:br>
              <a:rPr lang="en-US" sz="1200" dirty="0"/>
            </a:br>
            <a:r>
              <a:rPr lang="en-US" sz="1200" dirty="0">
                <a:solidFill>
                  <a:srgbClr val="C8DCFC"/>
                </a:solidFill>
              </a:rPr>
              <a:t>Cursor </a:t>
            </a:r>
            <a:r>
              <a:rPr lang="ko-KR" altLang="en-US" sz="1200" dirty="0">
                <a:solidFill>
                  <a:srgbClr val="C8DCFC"/>
                </a:solidFill>
              </a:rPr>
              <a:t>등 </a:t>
            </a:r>
            <a:r>
              <a:rPr lang="ko-KR" altLang="en-US" sz="1200" b="1" dirty="0">
                <a:solidFill>
                  <a:srgbClr val="34D399"/>
                </a:solidFill>
              </a:rPr>
              <a:t>확산</a:t>
            </a:r>
            <a:endParaRPr lang="en-US" sz="1200" dirty="0"/>
          </a:p>
        </p:txBody>
      </p:sp>
      <p:sp>
        <p:nvSpPr>
          <p:cNvPr id="50" name="ClosingBox"/>
          <p:cNvSpPr/>
          <p:nvPr/>
        </p:nvSpPr>
        <p:spPr>
          <a:xfrm>
            <a:off x="800000" y="4180000"/>
            <a:ext cx="7544000" cy="82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25400">
            <a:solidFill>
              <a:srgbClr val="4FC3F7"/>
            </a:solidFill>
          </a:ln>
        </p:spPr>
      </p:sp>
      <p:sp>
        <p:nvSpPr>
          <p:cNvPr id="51" name="ClosingText"/>
          <p:cNvSpPr/>
          <p:nvPr/>
        </p:nvSpPr>
        <p:spPr>
          <a:xfrm>
            <a:off x="800000" y="4180000"/>
            <a:ext cx="7544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900" b="1" dirty="0">
                <a:solidFill>
                  <a:srgbClr val="FFFFFF"/>
                </a:solidFill>
              </a:rPr>
              <a:t>지금 익힐 것 = </a:t>
            </a:r>
            <a:r>
              <a:rPr lang="en-US" sz="1900" b="1" dirty="0">
                <a:solidFill>
                  <a:srgbClr val="4FC3F7"/>
                </a:solidFill>
              </a:rPr>
              <a:t>SKILL.md </a:t>
            </a:r>
            <a:r>
              <a:rPr lang="en-US" sz="1900" b="1" dirty="0">
                <a:solidFill>
                  <a:srgbClr val="8899BB"/>
                </a:solidFill>
              </a:rPr>
              <a:t>· </a:t>
            </a:r>
            <a:r>
              <a:rPr lang="en-US" sz="1900" b="1" dirty="0">
                <a:solidFill>
                  <a:srgbClr val="4FC3F7"/>
                </a:solidFill>
              </a:rPr>
              <a:t>CLAUDE.md </a:t>
            </a:r>
            <a:r>
              <a:rPr lang="en-US" sz="1900" b="1" dirty="0">
                <a:solidFill>
                  <a:srgbClr val="8899BB"/>
                </a:solidFill>
              </a:rPr>
              <a:t>· </a:t>
            </a:r>
            <a:r>
              <a:rPr lang="en-US" sz="1900" b="1" dirty="0">
                <a:solidFill>
                  <a:srgbClr val="4FC3F7"/>
                </a:solidFill>
              </a:rPr>
              <a:t>AGENTS.md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모든 구성 요소가 필수는 아닙니다 — 규모·비용·시간을 고려해 적절히 선택하세요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435608"/>
            <a:ext cx="402336" cy="40233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흐름 파악이 핵심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요소가 어떻게 연결되는지 이해하는 것이 단순 사용보다 중요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98448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1435608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791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Docs가 기반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하나만 잘 써도 AI의 코딩 일관성이 크게 향상됨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98448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43560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= 토큰 절약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/명령어로 긴 프롬프트를 대체. 반복 작업은 Skills로 정의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295351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Subagent는 도구별 차이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도구마다 지원 방식이 다르므로 실행 전 환경 확인 필요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816352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953512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6791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Hooks는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트리거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필요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7413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실행은 Git Hook 등 외부 트리거 연동 +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호출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816352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2953512"/>
            <a:ext cx="402336" cy="4023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도구마다 방식이 다름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5449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Claude·Codex는 통합, Gemini·Antigravity는 Commands 별도 작성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2572</Words>
  <Application>Microsoft Office PowerPoint</Application>
  <PresentationFormat>화면 슬라이드 쇼(16:9)</PresentationFormat>
  <Paragraphs>409</Paragraphs>
  <Slides>18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완전 가이드 v3</dc:title>
  <dc:subject>PptxGenJS Presentation</dc:subject>
  <dc:creator>PptxGenJS</dc:creator>
  <cp:lastModifiedBy>HyeonBeom Lee</cp:lastModifiedBy>
  <cp:revision>17</cp:revision>
  <dcterms:created xsi:type="dcterms:W3CDTF">2026-02-23T07:17:00Z</dcterms:created>
  <dcterms:modified xsi:type="dcterms:W3CDTF">2026-07-10T16:48:38Z</dcterms:modified>
</cp:coreProperties>
</file>