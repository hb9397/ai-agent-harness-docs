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2" r:id="rId4"/>
    <p:sldId id="273" r:id="rId5"/>
    <p:sldId id="258" r:id="rId6"/>
    <p:sldId id="259" r:id="rId7"/>
    <p:sldId id="260" r:id="rId8"/>
    <p:sldId id="261" r:id="rId9"/>
    <p:sldId id="274" r:id="rId10"/>
    <p:sldId id="262" r:id="rId11"/>
    <p:sldId id="263" r:id="rId12"/>
    <p:sldId id="265" r:id="rId13"/>
    <p:sldId id="266" r:id="rId14"/>
    <p:sldId id="267" r:id="rId15"/>
    <p:sldId id="270" r:id="rId16"/>
    <p:sldId id="268" r:id="rId17"/>
    <p:sldId id="271" r:id="rId18"/>
    <p:sldId id="269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6" autoAdjust="0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20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314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AI-30531c9ba56180529f93d788c26f9b14?source=copy_lin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251460"/>
            <a:ext cx="3474720" cy="347472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708660"/>
            <a:ext cx="2560320" cy="2560320"/>
          </a:xfrm>
          <a:prstGeom prst="ellipse">
            <a:avLst/>
          </a:prstGeom>
          <a:solidFill>
            <a:srgbClr val="252D4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70866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000000"/>
                </a:solidFill>
              </a:rPr>
              <a:t>🤖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640080" y="59436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Agent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활용한 개발 환경 소개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33472"/>
            <a:ext cx="1828800" cy="384048"/>
          </a:xfrm>
          <a:prstGeom prst="rect">
            <a:avLst/>
          </a:prstGeom>
          <a:solidFill>
            <a:srgbClr val="252D4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334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DCFC"/>
                </a:solidFill>
              </a:rPr>
              <a:t>AI Docs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51760" y="2633472"/>
            <a:ext cx="1828800" cy="384048"/>
          </a:xfrm>
          <a:prstGeom prst="rect">
            <a:avLst/>
          </a:prstGeom>
          <a:solidFill>
            <a:srgbClr val="252D4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26334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DCFC"/>
                </a:solidFill>
              </a:rPr>
              <a:t>Skills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633472"/>
            <a:ext cx="1828800" cy="384048"/>
          </a:xfrm>
          <a:prstGeom prst="rect">
            <a:avLst/>
          </a:prstGeom>
          <a:solidFill>
            <a:srgbClr val="252D4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334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DCFC"/>
                </a:solidFill>
              </a:rPr>
              <a:t>Memory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1828800" cy="384048"/>
          </a:xfrm>
          <a:prstGeom prst="rect">
            <a:avLst/>
          </a:prstGeom>
          <a:solidFill>
            <a:srgbClr val="252D4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1089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DCFC"/>
                </a:solidFill>
              </a:rPr>
              <a:t>Hooks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51760" y="3108960"/>
            <a:ext cx="1828800" cy="384048"/>
          </a:xfrm>
          <a:prstGeom prst="rect">
            <a:avLst/>
          </a:prstGeom>
          <a:solidFill>
            <a:srgbClr val="252D4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31089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DCFC"/>
                </a:solidFill>
              </a:rPr>
              <a:t>MCP &amp; Plugin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108960"/>
            <a:ext cx="1828800" cy="384048"/>
          </a:xfrm>
          <a:prstGeom prst="rect">
            <a:avLst/>
          </a:prstGeom>
          <a:solidFill>
            <a:srgbClr val="252D4D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1089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DCFC"/>
                </a:solidFill>
              </a:rPr>
              <a:t>Subagent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-195029" y="4626864"/>
            <a:ext cx="953405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1050" b="1" dirty="0">
                <a:solidFill>
                  <a:srgbClr val="8899BB"/>
                </a:solidFill>
              </a:rPr>
              <a:t>| </a:t>
            </a:r>
            <a:r>
              <a:rPr lang="en-US" sz="1050" b="1" dirty="0" err="1">
                <a:solidFill>
                  <a:srgbClr val="8899BB"/>
                </a:solidFill>
              </a:rPr>
              <a:t>최종</a:t>
            </a:r>
            <a:r>
              <a:rPr lang="en-US" sz="1050" b="1" dirty="0">
                <a:solidFill>
                  <a:srgbClr val="8899BB"/>
                </a:solidFill>
              </a:rPr>
              <a:t> 업데이트</a:t>
            </a:r>
            <a:r>
              <a:rPr lang="en-US" sz="1050" dirty="0">
                <a:solidFill>
                  <a:srgbClr val="8899BB"/>
                </a:solidFill>
              </a:rPr>
              <a:t>: 2026-06-28  </a:t>
            </a:r>
            <a:r>
              <a:rPr lang="en-US" sz="1050" b="1" dirty="0">
                <a:solidFill>
                  <a:srgbClr val="8899BB"/>
                </a:solidFill>
              </a:rPr>
              <a:t>|</a:t>
            </a:r>
            <a:r>
              <a:rPr lang="en-US" sz="1050" dirty="0">
                <a:solidFill>
                  <a:srgbClr val="8899BB"/>
                </a:solidFill>
              </a:rPr>
              <a:t>  </a:t>
            </a:r>
            <a:r>
              <a:rPr lang="en-US" sz="1050" b="1" dirty="0">
                <a:solidFill>
                  <a:srgbClr val="8899BB"/>
                </a:solidFill>
              </a:rPr>
              <a:t>대상</a:t>
            </a:r>
            <a:r>
              <a:rPr lang="en-US" sz="1050" dirty="0">
                <a:solidFill>
                  <a:srgbClr val="8899BB"/>
                </a:solidFill>
              </a:rPr>
              <a:t>: Claude Code · OpenAI Codex · Google Antigravity · </a:t>
            </a:r>
            <a:r>
              <a:rPr lang="en-US" sz="1050" dirty="0" err="1">
                <a:solidFill>
                  <a:srgbClr val="8899BB"/>
                </a:solidFill>
              </a:rPr>
              <a:t>VSCode</a:t>
            </a:r>
            <a:r>
              <a:rPr lang="en-US" sz="1050" dirty="0">
                <a:solidFill>
                  <a:srgbClr val="8899BB"/>
                </a:solidFill>
              </a:rPr>
              <a:t> </a:t>
            </a:r>
            <a:r>
              <a:rPr lang="en-US" sz="1050" b="1" dirty="0">
                <a:solidFill>
                  <a:srgbClr val="8899BB"/>
                </a:solidFill>
              </a:rPr>
              <a:t>|</a:t>
            </a:r>
            <a:r>
              <a:rPr lang="en-US" sz="1050" dirty="0">
                <a:solidFill>
                  <a:srgbClr val="8899BB"/>
                </a:solidFill>
              </a:rPr>
              <a:t> </a:t>
            </a:r>
            <a:r>
              <a:rPr lang="ko-KR" altLang="en-US" sz="1050" b="1" dirty="0">
                <a:solidFill>
                  <a:srgbClr val="8899BB"/>
                </a:solidFill>
              </a:rPr>
              <a:t>가이드문서</a:t>
            </a:r>
            <a:r>
              <a:rPr lang="ko-KR" altLang="en-US" sz="1050" dirty="0">
                <a:solidFill>
                  <a:srgbClr val="8899BB"/>
                </a:solidFill>
              </a:rPr>
              <a:t> </a:t>
            </a:r>
            <a:r>
              <a:rPr lang="en-US" altLang="ko-KR" sz="1050" dirty="0">
                <a:solidFill>
                  <a:srgbClr val="8899BB"/>
                </a:solidFill>
              </a:rPr>
              <a:t>: </a:t>
            </a:r>
            <a:r>
              <a:rPr lang="en-US" altLang="ko-KR" sz="1050" dirty="0">
                <a:solidFill>
                  <a:srgbClr val="8899BB"/>
                </a:solidFill>
                <a:hlinkClick r:id="rId3"/>
              </a:rPr>
              <a:t>AI </a:t>
            </a:r>
            <a:r>
              <a:rPr lang="ko-KR" altLang="en-US" sz="1050" dirty="0">
                <a:solidFill>
                  <a:srgbClr val="8899BB"/>
                </a:solidFill>
                <a:hlinkClick r:id="rId3"/>
              </a:rPr>
              <a:t>가이드 및 자동화 제어</a:t>
            </a:r>
            <a:r>
              <a:rPr lang="en-US" altLang="ko-KR" sz="1050" dirty="0">
                <a:solidFill>
                  <a:srgbClr val="8899BB"/>
                </a:solidFill>
                <a:hlinkClick r:id="rId3"/>
              </a:rPr>
              <a:t>(</a:t>
            </a:r>
            <a:r>
              <a:rPr lang="ko-KR" altLang="en-US" sz="1050" dirty="0">
                <a:solidFill>
                  <a:srgbClr val="8899BB"/>
                </a:solidFill>
                <a:hlinkClick r:id="rId3"/>
              </a:rPr>
              <a:t>개발환경 세팅</a:t>
            </a:r>
            <a:r>
              <a:rPr lang="en-US" altLang="ko-KR" sz="1050" dirty="0">
                <a:solidFill>
                  <a:srgbClr val="8899BB"/>
                </a:solidFill>
                <a:hlinkClick r:id="rId3"/>
              </a:rPr>
              <a:t>)</a:t>
            </a:r>
            <a:r>
              <a:rPr lang="en-US" altLang="ko-KR" sz="1050" b="1" dirty="0">
                <a:solidFill>
                  <a:srgbClr val="8899BB"/>
                </a:solidFill>
              </a:rPr>
              <a:t>|</a:t>
            </a:r>
            <a:endParaRPr lang="en-US" sz="1050" dirty="0">
              <a:solidFill>
                <a:srgbClr val="8899BB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Agent란? &amp; 전체 구성 요소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633982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6437" y="832104"/>
            <a:ext cx="8412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목표를 주면 스스로 계획을 세우고, 도구를 사용하고, 결과를 검토하며 작업을 </a:t>
            </a:r>
            <a:r>
              <a:rPr lang="en-US" sz="1500" dirty="0" err="1">
                <a:solidFill>
                  <a:srgbClr val="FFFFFF"/>
                </a:solidFill>
              </a:rPr>
              <a:t>완료하는</a:t>
            </a:r>
            <a:r>
              <a:rPr lang="en-US" sz="1500" dirty="0">
                <a:solidFill>
                  <a:srgbClr val="FFFFFF"/>
                </a:solidFill>
              </a:rPr>
              <a:t>  </a:t>
            </a:r>
            <a:br>
              <a:rPr lang="en-US" sz="1500" dirty="0">
                <a:solidFill>
                  <a:srgbClr val="FFFFFF"/>
                </a:solidFill>
              </a:rPr>
            </a:br>
            <a:r>
              <a:rPr lang="en-US" sz="1500" b="1" dirty="0" err="1">
                <a:solidFill>
                  <a:srgbClr val="4FC3F7"/>
                </a:solidFill>
              </a:rPr>
              <a:t>자율적인</a:t>
            </a:r>
            <a:r>
              <a:rPr lang="en-US" sz="1500" b="1" dirty="0">
                <a:solidFill>
                  <a:srgbClr val="4FC3F7"/>
                </a:solidFill>
              </a:rPr>
              <a:t> AI 실행 단위</a:t>
            </a:r>
            <a:endParaRPr lang="en-US" sz="1500" dirty="0"/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15CC18E4-24BF-49D5-BA73-3125DB258BC7}"/>
              </a:ext>
            </a:extLst>
          </p:cNvPr>
          <p:cNvGrpSpPr/>
          <p:nvPr/>
        </p:nvGrpSpPr>
        <p:grpSpPr>
          <a:xfrm>
            <a:off x="365755" y="3089074"/>
            <a:ext cx="8633987" cy="1234440"/>
            <a:chOff x="365755" y="1755648"/>
            <a:chExt cx="8633987" cy="1234440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8B1E077C-9F9F-4C41-BA0A-614FFC025584}"/>
                </a:ext>
              </a:extLst>
            </p:cNvPr>
            <p:cNvGrpSpPr/>
            <p:nvPr/>
          </p:nvGrpSpPr>
          <p:grpSpPr>
            <a:xfrm>
              <a:off x="365755" y="1755648"/>
              <a:ext cx="1353312" cy="1234440"/>
              <a:chOff x="148350" y="1755648"/>
              <a:chExt cx="1353312" cy="1234440"/>
            </a:xfrm>
          </p:grpSpPr>
          <p:sp>
            <p:nvSpPr>
              <p:cNvPr id="6" name="Shape 4"/>
              <p:cNvSpPr/>
              <p:nvPr/>
            </p:nvSpPr>
            <p:spPr>
              <a:xfrm>
                <a:off x="148350" y="1755648"/>
                <a:ext cx="1353312" cy="1234440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rgbClr val="34D399"/>
                </a:solidFill>
                <a:prstDash val="solid"/>
              </a:ln>
              <a:effectLst>
                <a:outerShdw blurRad="101600" dist="25400" dir="8100000" algn="b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7" name="Shape 5"/>
              <p:cNvSpPr/>
              <p:nvPr/>
            </p:nvSpPr>
            <p:spPr>
              <a:xfrm>
                <a:off x="148350" y="1755648"/>
                <a:ext cx="1353312" cy="45720"/>
              </a:xfrm>
              <a:prstGeom prst="rect">
                <a:avLst/>
              </a:prstGeom>
              <a:solidFill>
                <a:srgbClr val="34D399"/>
              </a:solidFill>
              <a:ln w="12700">
                <a:solidFill>
                  <a:srgbClr val="34D399"/>
                </a:solidFill>
                <a:prstDash val="solid"/>
              </a:ln>
            </p:spPr>
          </p:sp>
          <p:sp>
            <p:nvSpPr>
              <p:cNvPr id="8" name="Text 6"/>
              <p:cNvSpPr/>
              <p:nvPr/>
            </p:nvSpPr>
            <p:spPr>
              <a:xfrm>
                <a:off x="148350" y="1828800"/>
                <a:ext cx="1353312" cy="43891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000000"/>
                    </a:solidFill>
                  </a:rPr>
                  <a:t>📄</a:t>
                </a:r>
                <a:endParaRPr lang="en-US" sz="2200" dirty="0"/>
              </a:p>
            </p:txBody>
          </p:sp>
          <p:sp>
            <p:nvSpPr>
              <p:cNvPr id="9" name="Text 7"/>
              <p:cNvSpPr/>
              <p:nvPr/>
            </p:nvSpPr>
            <p:spPr>
              <a:xfrm>
                <a:off x="221502" y="2286000"/>
                <a:ext cx="1207008" cy="29260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34D399"/>
                    </a:solidFill>
                    <a:latin typeface="Arial Black" pitchFamily="34" charset="0"/>
                    <a:ea typeface="Arial Black" pitchFamily="34" charset="-122"/>
                    <a:cs typeface="Arial Black" pitchFamily="34" charset="-120"/>
                  </a:rPr>
                  <a:t>AI Docs</a:t>
                </a:r>
                <a:endParaRPr lang="en-US" sz="130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221502" y="2578608"/>
                <a:ext cx="1207008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100" dirty="0">
                    <a:solidFill>
                      <a:srgbClr val="8899BB"/>
                    </a:solidFill>
                  </a:rPr>
                  <a:t>프로젝트 맥락 전달 문서</a:t>
                </a:r>
                <a:endParaRPr lang="en-US" sz="1100" dirty="0"/>
              </a:p>
            </p:txBody>
          </p:sp>
        </p:grp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E95BA307-65BB-484B-B085-983BC25724D0}"/>
                </a:ext>
              </a:extLst>
            </p:cNvPr>
            <p:cNvGrpSpPr/>
            <p:nvPr/>
          </p:nvGrpSpPr>
          <p:grpSpPr>
            <a:xfrm>
              <a:off x="1839794" y="1755648"/>
              <a:ext cx="1353312" cy="1234440"/>
              <a:chOff x="1647966" y="1755648"/>
              <a:chExt cx="1353312" cy="1234440"/>
            </a:xfrm>
          </p:grpSpPr>
          <p:sp>
            <p:nvSpPr>
              <p:cNvPr id="11" name="Shape 9"/>
              <p:cNvSpPr/>
              <p:nvPr/>
            </p:nvSpPr>
            <p:spPr>
              <a:xfrm>
                <a:off x="1647966" y="1755648"/>
                <a:ext cx="1353312" cy="1234440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rgbClr val="4FC3F7"/>
                </a:solidFill>
                <a:prstDash val="solid"/>
              </a:ln>
              <a:effectLst>
                <a:outerShdw blurRad="101600" dist="25400" dir="8100000" algn="b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12" name="Shape 10"/>
              <p:cNvSpPr/>
              <p:nvPr/>
            </p:nvSpPr>
            <p:spPr>
              <a:xfrm>
                <a:off x="1647966" y="1755648"/>
                <a:ext cx="1353312" cy="45720"/>
              </a:xfrm>
              <a:prstGeom prst="rect">
                <a:avLst/>
              </a:prstGeom>
              <a:solidFill>
                <a:srgbClr val="4FC3F7"/>
              </a:solidFill>
              <a:ln w="12700">
                <a:solidFill>
                  <a:srgbClr val="4FC3F7"/>
                </a:solidFill>
                <a:prstDash val="solid"/>
              </a:ln>
            </p:spPr>
          </p:sp>
          <p:sp>
            <p:nvSpPr>
              <p:cNvPr id="13" name="Text 11"/>
              <p:cNvSpPr/>
              <p:nvPr/>
            </p:nvSpPr>
            <p:spPr>
              <a:xfrm>
                <a:off x="1647966" y="1828800"/>
                <a:ext cx="1353312" cy="43891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000000"/>
                    </a:solidFill>
                  </a:rPr>
                  <a:t>🛠</a:t>
                </a:r>
                <a:endParaRPr lang="en-US" sz="2200" dirty="0"/>
              </a:p>
            </p:txBody>
          </p:sp>
          <p:sp>
            <p:nvSpPr>
              <p:cNvPr id="14" name="Text 12"/>
              <p:cNvSpPr/>
              <p:nvPr/>
            </p:nvSpPr>
            <p:spPr>
              <a:xfrm>
                <a:off x="1721118" y="2286000"/>
                <a:ext cx="1207008" cy="29260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4FC3F7"/>
                    </a:solidFill>
                    <a:latin typeface="Arial Black" pitchFamily="34" charset="0"/>
                    <a:ea typeface="Arial Black" pitchFamily="34" charset="-122"/>
                    <a:cs typeface="Arial Black" pitchFamily="34" charset="-120"/>
                  </a:rPr>
                  <a:t>Skills</a:t>
                </a:r>
                <a:endParaRPr lang="en-US" sz="1300" dirty="0"/>
              </a:p>
            </p:txBody>
          </p:sp>
          <p:sp>
            <p:nvSpPr>
              <p:cNvPr id="15" name="Text 13"/>
              <p:cNvSpPr/>
              <p:nvPr/>
            </p:nvSpPr>
            <p:spPr>
              <a:xfrm>
                <a:off x="1721118" y="2578608"/>
                <a:ext cx="1207008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100" dirty="0">
                    <a:solidFill>
                      <a:srgbClr val="8899BB"/>
                    </a:solidFill>
                  </a:rPr>
                  <a:t>재사용 가능한 작업 단위</a:t>
                </a:r>
                <a:endParaRPr lang="en-US" sz="1100" dirty="0"/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E9714A03-C841-4A1A-AB43-38F2CF57BB99}"/>
                </a:ext>
              </a:extLst>
            </p:cNvPr>
            <p:cNvGrpSpPr/>
            <p:nvPr/>
          </p:nvGrpSpPr>
          <p:grpSpPr>
            <a:xfrm>
              <a:off x="3294649" y="1755648"/>
              <a:ext cx="1353312" cy="1234440"/>
              <a:chOff x="3147582" y="1755648"/>
              <a:chExt cx="1353312" cy="1234440"/>
            </a:xfrm>
          </p:grpSpPr>
          <p:sp>
            <p:nvSpPr>
              <p:cNvPr id="16" name="Shape 14"/>
              <p:cNvSpPr/>
              <p:nvPr/>
            </p:nvSpPr>
            <p:spPr>
              <a:xfrm>
                <a:off x="3147582" y="1755648"/>
                <a:ext cx="1353312" cy="1234440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rgbClr val="FBBF24"/>
                </a:solidFill>
                <a:prstDash val="solid"/>
              </a:ln>
              <a:effectLst>
                <a:outerShdw blurRad="101600" dist="25400" dir="8100000" algn="b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17" name="Shape 15"/>
              <p:cNvSpPr/>
              <p:nvPr/>
            </p:nvSpPr>
            <p:spPr>
              <a:xfrm>
                <a:off x="3147582" y="1755648"/>
                <a:ext cx="1353312" cy="45720"/>
              </a:xfrm>
              <a:prstGeom prst="rect">
                <a:avLst/>
              </a:prstGeom>
              <a:solidFill>
                <a:srgbClr val="FBBF24"/>
              </a:solidFill>
              <a:ln w="12700">
                <a:solidFill>
                  <a:srgbClr val="FBBF24"/>
                </a:solidFill>
                <a:prstDash val="solid"/>
              </a:ln>
            </p:spPr>
          </p:sp>
          <p:sp>
            <p:nvSpPr>
              <p:cNvPr id="18" name="Text 16"/>
              <p:cNvSpPr/>
              <p:nvPr/>
            </p:nvSpPr>
            <p:spPr>
              <a:xfrm>
                <a:off x="3147582" y="1828800"/>
                <a:ext cx="1353312" cy="43891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000000"/>
                    </a:solidFill>
                  </a:rPr>
                  <a:t>🧠</a:t>
                </a:r>
                <a:endParaRPr lang="en-US" sz="2200" dirty="0"/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3220734" y="2286000"/>
                <a:ext cx="1207008" cy="29260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FBBF24"/>
                    </a:solidFill>
                    <a:latin typeface="Arial Black" pitchFamily="34" charset="0"/>
                    <a:ea typeface="Arial Black" pitchFamily="34" charset="-122"/>
                    <a:cs typeface="Arial Black" pitchFamily="34" charset="-120"/>
                  </a:rPr>
                  <a:t>Memory</a:t>
                </a:r>
                <a:endParaRPr lang="en-US" sz="1300" dirty="0"/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3220734" y="2578608"/>
                <a:ext cx="1207008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100" dirty="0">
                    <a:solidFill>
                      <a:srgbClr val="8899BB"/>
                    </a:solidFill>
                  </a:rPr>
                  <a:t>세션 </a:t>
                </a:r>
                <a:r>
                  <a:rPr lang="en-US" sz="1100" dirty="0" err="1">
                    <a:solidFill>
                      <a:srgbClr val="8899BB"/>
                    </a:solidFill>
                  </a:rPr>
                  <a:t>넘는</a:t>
                </a:r>
                <a:r>
                  <a:rPr lang="en-US" sz="1100" dirty="0">
                    <a:solidFill>
                      <a:srgbClr val="8899BB"/>
                    </a:solidFill>
                  </a:rPr>
                  <a:t> </a:t>
                </a:r>
                <a:br>
                  <a:rPr lang="en-US" sz="1100" dirty="0">
                    <a:solidFill>
                      <a:srgbClr val="8899BB"/>
                    </a:solidFill>
                  </a:rPr>
                </a:br>
                <a:r>
                  <a:rPr lang="en-US" sz="1100" dirty="0" err="1">
                    <a:solidFill>
                      <a:srgbClr val="8899BB"/>
                    </a:solidFill>
                  </a:rPr>
                  <a:t>지속</a:t>
                </a:r>
                <a:r>
                  <a:rPr lang="en-US" sz="1100" dirty="0">
                    <a:solidFill>
                      <a:srgbClr val="8899BB"/>
                    </a:solidFill>
                  </a:rPr>
                  <a:t> 기억</a:t>
                </a:r>
                <a:endParaRPr lang="en-US" sz="1100" dirty="0"/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88A48A65-5B69-4D67-88CB-284F85869096}"/>
                </a:ext>
              </a:extLst>
            </p:cNvPr>
            <p:cNvGrpSpPr/>
            <p:nvPr/>
          </p:nvGrpSpPr>
          <p:grpSpPr>
            <a:xfrm>
              <a:off x="4749509" y="1755648"/>
              <a:ext cx="1353312" cy="1234440"/>
              <a:chOff x="4647198" y="1755648"/>
              <a:chExt cx="1353312" cy="1234440"/>
            </a:xfrm>
          </p:grpSpPr>
          <p:sp>
            <p:nvSpPr>
              <p:cNvPr id="21" name="Shape 19"/>
              <p:cNvSpPr/>
              <p:nvPr/>
            </p:nvSpPr>
            <p:spPr>
              <a:xfrm>
                <a:off x="4647198" y="1755648"/>
                <a:ext cx="1353312" cy="1234440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rgbClr val="A78BFA"/>
                </a:solidFill>
                <a:prstDash val="solid"/>
              </a:ln>
              <a:effectLst>
                <a:outerShdw blurRad="101600" dist="25400" dir="8100000" algn="b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22" name="Shape 20"/>
              <p:cNvSpPr/>
              <p:nvPr/>
            </p:nvSpPr>
            <p:spPr>
              <a:xfrm>
                <a:off x="4647198" y="1755648"/>
                <a:ext cx="1353312" cy="45720"/>
              </a:xfrm>
              <a:prstGeom prst="rect">
                <a:avLst/>
              </a:prstGeom>
              <a:solidFill>
                <a:srgbClr val="A78BFA"/>
              </a:solidFill>
              <a:ln w="12700">
                <a:solidFill>
                  <a:srgbClr val="A78BFA"/>
                </a:solidFill>
                <a:prstDash val="solid"/>
              </a:ln>
            </p:spPr>
          </p:sp>
          <p:sp>
            <p:nvSpPr>
              <p:cNvPr id="23" name="Text 21"/>
              <p:cNvSpPr/>
              <p:nvPr/>
            </p:nvSpPr>
            <p:spPr>
              <a:xfrm>
                <a:off x="4647198" y="1828800"/>
                <a:ext cx="1353312" cy="43891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000000"/>
                    </a:solidFill>
                  </a:rPr>
                  <a:t>🔗</a:t>
                </a:r>
                <a:endParaRPr lang="en-US" sz="2200" dirty="0"/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4720350" y="2286000"/>
                <a:ext cx="1207008" cy="29260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A78BFA"/>
                    </a:solidFill>
                    <a:latin typeface="Arial Black" pitchFamily="34" charset="0"/>
                    <a:ea typeface="Arial Black" pitchFamily="34" charset="-122"/>
                    <a:cs typeface="Arial Black" pitchFamily="34" charset="-120"/>
                  </a:rPr>
                  <a:t>Hooks</a:t>
                </a:r>
                <a:endParaRPr lang="en-US" sz="1300" dirty="0"/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4720350" y="2578608"/>
                <a:ext cx="1207008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100" dirty="0">
                    <a:solidFill>
                      <a:srgbClr val="8899BB"/>
                    </a:solidFill>
                  </a:rPr>
                  <a:t>이벤트 </a:t>
                </a:r>
                <a:r>
                  <a:rPr lang="en-US" sz="1100" dirty="0" err="1">
                    <a:solidFill>
                      <a:srgbClr val="8899BB"/>
                    </a:solidFill>
                  </a:rPr>
                  <a:t>기반</a:t>
                </a:r>
                <a:r>
                  <a:rPr lang="en-US" sz="1100" dirty="0">
                    <a:solidFill>
                      <a:srgbClr val="8899BB"/>
                    </a:solidFill>
                  </a:rPr>
                  <a:t> </a:t>
                </a:r>
                <a:br>
                  <a:rPr lang="en-US" sz="1100" dirty="0">
                    <a:solidFill>
                      <a:srgbClr val="8899BB"/>
                    </a:solidFill>
                  </a:rPr>
                </a:br>
                <a:r>
                  <a:rPr lang="en-US" sz="1100" dirty="0" err="1">
                    <a:solidFill>
                      <a:srgbClr val="8899BB"/>
                    </a:solidFill>
                  </a:rPr>
                  <a:t>자동</a:t>
                </a:r>
                <a:r>
                  <a:rPr lang="en-US" sz="1100" dirty="0">
                    <a:solidFill>
                      <a:srgbClr val="8899BB"/>
                    </a:solidFill>
                  </a:rPr>
                  <a:t> 실행</a:t>
                </a:r>
                <a:endParaRPr lang="en-US" sz="1100" dirty="0"/>
              </a:p>
            </p:txBody>
          </p:sp>
        </p:grp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A84AAA50-9329-4565-8F3C-9166F155D54A}"/>
                </a:ext>
              </a:extLst>
            </p:cNvPr>
            <p:cNvGrpSpPr/>
            <p:nvPr/>
          </p:nvGrpSpPr>
          <p:grpSpPr>
            <a:xfrm>
              <a:off x="6039255" y="1755648"/>
              <a:ext cx="1657945" cy="1234440"/>
              <a:chOff x="5994497" y="1755648"/>
              <a:chExt cx="1657945" cy="1234440"/>
            </a:xfrm>
          </p:grpSpPr>
          <p:sp>
            <p:nvSpPr>
              <p:cNvPr id="26" name="Shape 24"/>
              <p:cNvSpPr/>
              <p:nvPr/>
            </p:nvSpPr>
            <p:spPr>
              <a:xfrm>
                <a:off x="6146814" y="1755648"/>
                <a:ext cx="1353312" cy="1234440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rgbClr val="F472B6"/>
                </a:solidFill>
                <a:prstDash val="solid"/>
              </a:ln>
              <a:effectLst>
                <a:outerShdw blurRad="101600" dist="25400" dir="8100000" algn="b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27" name="Shape 25"/>
              <p:cNvSpPr/>
              <p:nvPr/>
            </p:nvSpPr>
            <p:spPr>
              <a:xfrm>
                <a:off x="6146814" y="1755648"/>
                <a:ext cx="1353312" cy="45720"/>
              </a:xfrm>
              <a:prstGeom prst="rect">
                <a:avLst/>
              </a:prstGeom>
              <a:solidFill>
                <a:srgbClr val="F472B6"/>
              </a:solidFill>
              <a:ln w="12700">
                <a:solidFill>
                  <a:srgbClr val="F472B6"/>
                </a:solidFill>
                <a:prstDash val="solid"/>
              </a:ln>
            </p:spPr>
          </p:sp>
          <p:sp>
            <p:nvSpPr>
              <p:cNvPr id="28" name="Text 26"/>
              <p:cNvSpPr/>
              <p:nvPr/>
            </p:nvSpPr>
            <p:spPr>
              <a:xfrm>
                <a:off x="6146814" y="1828800"/>
                <a:ext cx="1353312" cy="43891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000000"/>
                    </a:solidFill>
                  </a:rPr>
                  <a:t>🔌</a:t>
                </a:r>
                <a:endParaRPr lang="en-US" sz="2200" dirty="0"/>
              </a:p>
            </p:txBody>
          </p:sp>
          <p:sp>
            <p:nvSpPr>
              <p:cNvPr id="29" name="Text 27"/>
              <p:cNvSpPr/>
              <p:nvPr/>
            </p:nvSpPr>
            <p:spPr>
              <a:xfrm>
                <a:off x="5994497" y="2286000"/>
                <a:ext cx="1657945" cy="29260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F472B6"/>
                    </a:solidFill>
                    <a:latin typeface="Arial Black" pitchFamily="34" charset="0"/>
                    <a:ea typeface="Arial Black" pitchFamily="34" charset="-122"/>
                    <a:cs typeface="Arial Black" pitchFamily="34" charset="-120"/>
                  </a:rPr>
                  <a:t>MCP &amp; Plugin</a:t>
                </a:r>
                <a:endParaRPr lang="en-US" sz="1300" dirty="0"/>
              </a:p>
            </p:txBody>
          </p:sp>
          <p:sp>
            <p:nvSpPr>
              <p:cNvPr id="30" name="Text 28"/>
              <p:cNvSpPr/>
              <p:nvPr/>
            </p:nvSpPr>
            <p:spPr>
              <a:xfrm>
                <a:off x="6219966" y="2578608"/>
                <a:ext cx="1207008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100" dirty="0">
                    <a:solidFill>
                      <a:srgbClr val="8899BB"/>
                    </a:solidFill>
                  </a:rPr>
                  <a:t>외부 도구 연결 확장</a:t>
                </a:r>
                <a:endParaRPr lang="en-US" sz="1100" dirty="0"/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FF34BED4-1BB5-48A0-8949-F854BA9EB6BB}"/>
                </a:ext>
              </a:extLst>
            </p:cNvPr>
            <p:cNvGrpSpPr/>
            <p:nvPr/>
          </p:nvGrpSpPr>
          <p:grpSpPr>
            <a:xfrm>
              <a:off x="7646430" y="1755648"/>
              <a:ext cx="1353312" cy="1234440"/>
              <a:chOff x="7646430" y="1755648"/>
              <a:chExt cx="1353312" cy="1234440"/>
            </a:xfrm>
          </p:grpSpPr>
          <p:sp>
            <p:nvSpPr>
              <p:cNvPr id="31" name="Shape 29"/>
              <p:cNvSpPr/>
              <p:nvPr/>
            </p:nvSpPr>
            <p:spPr>
              <a:xfrm>
                <a:off x="7646430" y="1755648"/>
                <a:ext cx="1353312" cy="1234440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rgbClr val="2DD4BF"/>
                </a:solidFill>
                <a:prstDash val="solid"/>
              </a:ln>
              <a:effectLst>
                <a:outerShdw blurRad="101600" dist="25400" dir="8100000" algn="b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32" name="Shape 30"/>
              <p:cNvSpPr/>
              <p:nvPr/>
            </p:nvSpPr>
            <p:spPr>
              <a:xfrm>
                <a:off x="7646430" y="1755648"/>
                <a:ext cx="1353312" cy="45720"/>
              </a:xfrm>
              <a:prstGeom prst="rect">
                <a:avLst/>
              </a:prstGeom>
              <a:solidFill>
                <a:srgbClr val="2DD4BF"/>
              </a:solidFill>
              <a:ln w="12700">
                <a:solidFill>
                  <a:srgbClr val="2DD4BF"/>
                </a:solidFill>
                <a:prstDash val="solid"/>
              </a:ln>
            </p:spPr>
          </p:sp>
          <p:sp>
            <p:nvSpPr>
              <p:cNvPr id="33" name="Text 31"/>
              <p:cNvSpPr/>
              <p:nvPr/>
            </p:nvSpPr>
            <p:spPr>
              <a:xfrm>
                <a:off x="7646430" y="1828800"/>
                <a:ext cx="1353312" cy="43891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000000"/>
                    </a:solidFill>
                  </a:rPr>
                  <a:t>🤝</a:t>
                </a:r>
                <a:endParaRPr lang="en-US" sz="2200" dirty="0"/>
              </a:p>
            </p:txBody>
          </p:sp>
          <p:sp>
            <p:nvSpPr>
              <p:cNvPr id="34" name="Text 32"/>
              <p:cNvSpPr/>
              <p:nvPr/>
            </p:nvSpPr>
            <p:spPr>
              <a:xfrm>
                <a:off x="7719582" y="2286000"/>
                <a:ext cx="1207008" cy="29260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300" b="1" dirty="0">
                    <a:solidFill>
                      <a:srgbClr val="2DD4BF"/>
                    </a:solidFill>
                    <a:latin typeface="Arial Black" pitchFamily="34" charset="0"/>
                    <a:ea typeface="Arial Black" pitchFamily="34" charset="-122"/>
                    <a:cs typeface="Arial Black" pitchFamily="34" charset="-120"/>
                  </a:rPr>
                  <a:t>SubAgent</a:t>
                </a:r>
                <a:endParaRPr lang="en-US" sz="1300" dirty="0"/>
              </a:p>
            </p:txBody>
          </p:sp>
          <p:sp>
            <p:nvSpPr>
              <p:cNvPr id="35" name="Text 33"/>
              <p:cNvSpPr/>
              <p:nvPr/>
            </p:nvSpPr>
            <p:spPr>
              <a:xfrm>
                <a:off x="7719582" y="2578608"/>
                <a:ext cx="1207008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100" dirty="0">
                    <a:solidFill>
                      <a:srgbClr val="8899BB"/>
                    </a:solidFill>
                  </a:rPr>
                  <a:t>병렬 Agent </a:t>
                </a:r>
                <a:br>
                  <a:rPr lang="en-US" sz="1100" dirty="0">
                    <a:solidFill>
                      <a:srgbClr val="8899BB"/>
                    </a:solidFill>
                  </a:rPr>
                </a:br>
                <a:r>
                  <a:rPr lang="en-US" sz="1100" dirty="0" err="1">
                    <a:solidFill>
                      <a:srgbClr val="8899BB"/>
                    </a:solidFill>
                  </a:rPr>
                  <a:t>분산</a:t>
                </a:r>
                <a:r>
                  <a:rPr lang="en-US" sz="1100" dirty="0">
                    <a:solidFill>
                      <a:srgbClr val="8899BB"/>
                    </a:solidFill>
                  </a:rPr>
                  <a:t> 처리</a:t>
                </a:r>
                <a:endParaRPr lang="en-US" sz="1100" dirty="0"/>
              </a:p>
            </p:txBody>
          </p: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E3E7647B-5FAA-4654-92ED-814A716AB2A0}"/>
              </a:ext>
            </a:extLst>
          </p:cNvPr>
          <p:cNvGrpSpPr/>
          <p:nvPr/>
        </p:nvGrpSpPr>
        <p:grpSpPr>
          <a:xfrm>
            <a:off x="377265" y="1722879"/>
            <a:ext cx="8633982" cy="1243584"/>
            <a:chOff x="365760" y="3154680"/>
            <a:chExt cx="8633982" cy="1243584"/>
          </a:xfrm>
        </p:grpSpPr>
        <p:sp>
          <p:nvSpPr>
            <p:cNvPr id="36" name="Shape 34"/>
            <p:cNvSpPr/>
            <p:nvPr/>
          </p:nvSpPr>
          <p:spPr>
            <a:xfrm>
              <a:off x="365760" y="3154680"/>
              <a:ext cx="1188720" cy="310896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38912" y="3154680"/>
              <a:ext cx="104241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구분</a:t>
              </a:r>
              <a:endParaRPr lang="en-US" sz="12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600200" y="3154680"/>
              <a:ext cx="3291840" cy="310896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1673352" y="3154680"/>
              <a:ext cx="31455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일반 AI (챗봇)</a:t>
              </a:r>
              <a:endParaRPr lang="en-US" sz="12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7760" y="3154680"/>
              <a:ext cx="4061982" cy="310896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5010912" y="3154680"/>
              <a:ext cx="36027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AI Agent</a:t>
              </a:r>
              <a:endParaRPr lang="en-US" sz="12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65760" y="3465576"/>
              <a:ext cx="1188720" cy="310896"/>
            </a:xfrm>
            <a:prstGeom prst="rect">
              <a:avLst/>
            </a:prstGeom>
            <a:solidFill>
              <a:srgbClr val="F4F7FE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438912" y="3465576"/>
              <a:ext cx="104241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동작</a:t>
              </a:r>
              <a:endParaRPr lang="en-US" sz="11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1600200" y="3465576"/>
              <a:ext cx="3291840" cy="310896"/>
            </a:xfrm>
            <a:prstGeom prst="rect">
              <a:avLst/>
            </a:prstGeom>
            <a:solidFill>
              <a:srgbClr val="F4F7FE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1673352" y="3465576"/>
              <a:ext cx="31455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질문 → 답변 (1회성)</a:t>
              </a:r>
              <a:endParaRPr lang="en-US" sz="11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937760" y="3465576"/>
              <a:ext cx="4061982" cy="310896"/>
            </a:xfrm>
            <a:prstGeom prst="rect">
              <a:avLst/>
            </a:prstGeom>
            <a:solidFill>
              <a:srgbClr val="F4F7FE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5010912" y="3465576"/>
              <a:ext cx="36027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목표 → 계획 → 실행 → 검토 (반복)</a:t>
              </a:r>
              <a:endParaRPr lang="en-US" sz="11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65760" y="3776472"/>
              <a:ext cx="1188720" cy="3108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438912" y="3776472"/>
              <a:ext cx="104241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도구</a:t>
              </a:r>
              <a:endParaRPr lang="en-US" sz="11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1600200" y="3776472"/>
              <a:ext cx="3291840" cy="3108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1673352" y="3776472"/>
              <a:ext cx="31455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❌ 없음</a:t>
              </a:r>
              <a:endParaRPr lang="en-US" sz="11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4937760" y="3776472"/>
              <a:ext cx="4061982" cy="3108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5010912" y="3776472"/>
              <a:ext cx="36027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✅ 파일읽기·명령어·검색 등</a:t>
              </a:r>
              <a:endParaRPr lang="en-US" sz="110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365760" y="4087368"/>
              <a:ext cx="1188720" cy="310896"/>
            </a:xfrm>
            <a:prstGeom prst="rect">
              <a:avLst/>
            </a:prstGeom>
            <a:solidFill>
              <a:srgbClr val="F4F7FE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55" name="Text 53"/>
            <p:cNvSpPr/>
            <p:nvPr/>
          </p:nvSpPr>
          <p:spPr>
            <a:xfrm>
              <a:off x="438912" y="4087368"/>
              <a:ext cx="104241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자율성</a:t>
              </a:r>
              <a:endParaRPr lang="en-US" sz="11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1600200" y="4087368"/>
              <a:ext cx="3291840" cy="310896"/>
            </a:xfrm>
            <a:prstGeom prst="rect">
              <a:avLst/>
            </a:prstGeom>
            <a:solidFill>
              <a:srgbClr val="F4F7FE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1673352" y="4087368"/>
              <a:ext cx="31455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없음 (사람이 매번 지시)</a:t>
              </a:r>
              <a:endParaRPr lang="en-US" sz="11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4937760" y="4087368"/>
              <a:ext cx="4061982" cy="310896"/>
            </a:xfrm>
            <a:prstGeom prst="rect">
              <a:avLst/>
            </a:prstGeom>
            <a:solidFill>
              <a:srgbClr val="F4F7FE"/>
            </a:solidFill>
            <a:ln w="12700">
              <a:solidFill>
                <a:srgbClr val="D0D8F0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5010912" y="4087368"/>
              <a:ext cx="3602736" cy="31089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761"/>
                  </a:solidFill>
                </a:rPr>
                <a:t>있음 (중간 과정 스스로 판단)</a:t>
              </a:r>
              <a:endParaRPr lang="en-US" sz="1100" dirty="0"/>
            </a:p>
          </p:txBody>
        </p:sp>
      </p:grpSp>
      <p:sp>
        <p:nvSpPr>
          <p:cNvPr id="60" name="Shape 58"/>
          <p:cNvSpPr/>
          <p:nvPr/>
        </p:nvSpPr>
        <p:spPr>
          <a:xfrm>
            <a:off x="365760" y="4434840"/>
            <a:ext cx="8633982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73324" y="4426383"/>
            <a:ext cx="80586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2761"/>
                </a:solidFill>
              </a:rPr>
              <a:t>USER  → </a:t>
            </a:r>
            <a:r>
              <a:rPr lang="en-US" sz="1050" dirty="0">
                <a:solidFill>
                  <a:srgbClr val="1E2761"/>
                </a:solidFill>
              </a:rPr>
              <a:t>[</a:t>
            </a:r>
            <a:r>
              <a:rPr lang="ko-KR" altLang="en-US" sz="1050" i="1" dirty="0">
                <a:solidFill>
                  <a:srgbClr val="1E2761"/>
                </a:solidFill>
              </a:rPr>
              <a:t>직접판단 </a:t>
            </a:r>
            <a:r>
              <a:rPr lang="en-US" altLang="ko-KR" sz="1050" i="1" dirty="0">
                <a:solidFill>
                  <a:srgbClr val="1E2761"/>
                </a:solidFill>
              </a:rPr>
              <a:t>·</a:t>
            </a:r>
            <a:r>
              <a:rPr lang="en-US" sz="1050" i="1" dirty="0">
                <a:solidFill>
                  <a:srgbClr val="1E2761"/>
                </a:solidFill>
              </a:rPr>
              <a:t> /Commands </a:t>
            </a:r>
            <a:r>
              <a:rPr lang="en-US" sz="1050" i="1" dirty="0" err="1">
                <a:solidFill>
                  <a:srgbClr val="1E2761"/>
                </a:solidFill>
              </a:rPr>
              <a:t>입력</a:t>
            </a:r>
            <a:r>
              <a:rPr lang="en-US" sz="1050" i="1" dirty="0">
                <a:solidFill>
                  <a:srgbClr val="1E2761"/>
                </a:solidFill>
              </a:rPr>
              <a:t> · </a:t>
            </a:r>
            <a:r>
              <a:rPr lang="en-US" sz="1050" i="1" dirty="0" err="1">
                <a:solidFill>
                  <a:srgbClr val="1E2761"/>
                </a:solidFill>
              </a:rPr>
              <a:t>이벤트</a:t>
            </a:r>
            <a:r>
              <a:rPr lang="en-US" sz="1050" i="1" dirty="0">
                <a:solidFill>
                  <a:srgbClr val="1E2761"/>
                </a:solidFill>
              </a:rPr>
              <a:t> </a:t>
            </a:r>
            <a:r>
              <a:rPr lang="en-US" sz="1050" i="1" dirty="0" err="1">
                <a:solidFill>
                  <a:srgbClr val="1E2761"/>
                </a:solidFill>
              </a:rPr>
              <a:t>발생</a:t>
            </a:r>
            <a:r>
              <a:rPr lang="en-US" sz="1050" i="1" dirty="0">
                <a:solidFill>
                  <a:srgbClr val="1E2761"/>
                </a:solidFill>
              </a:rPr>
              <a:t>(Hooks) </a:t>
            </a:r>
            <a:r>
              <a:rPr lang="en-US" sz="1050" dirty="0">
                <a:solidFill>
                  <a:srgbClr val="1E2761"/>
                </a:solidFill>
              </a:rPr>
              <a:t>] </a:t>
            </a:r>
            <a:r>
              <a:rPr lang="en-US" sz="1050" i="1" dirty="0">
                <a:solidFill>
                  <a:srgbClr val="1E2761"/>
                </a:solidFill>
              </a:rPr>
              <a:t> →  Skills  →  Agent (AI Docs·Memory 참조)  → </a:t>
            </a:r>
            <a:r>
              <a:rPr lang="en-US" altLang="ko-KR" sz="1050" i="1" dirty="0" err="1">
                <a:solidFill>
                  <a:srgbClr val="1E2761"/>
                </a:solidFill>
              </a:rPr>
              <a:t>SubAgent</a:t>
            </a:r>
            <a:r>
              <a:rPr lang="en-US" altLang="ko-KR" sz="1050" i="1" dirty="0">
                <a:solidFill>
                  <a:srgbClr val="1E2761"/>
                </a:solidFill>
              </a:rPr>
              <a:t> </a:t>
            </a:r>
            <a:r>
              <a:rPr lang="en-US" sz="1050" i="1" dirty="0">
                <a:solidFill>
                  <a:srgbClr val="1E2761"/>
                </a:solidFill>
              </a:rPr>
              <a:t>or MCP or Plugin (</a:t>
            </a:r>
            <a:r>
              <a:rPr lang="ko-KR" altLang="en-US" sz="1050" i="1" dirty="0">
                <a:solidFill>
                  <a:srgbClr val="1E2761"/>
                </a:solidFill>
              </a:rPr>
              <a:t>필요시</a:t>
            </a:r>
            <a:r>
              <a:rPr lang="en-US" altLang="ko-KR" sz="1050" i="1" dirty="0">
                <a:solidFill>
                  <a:srgbClr val="1E2761"/>
                </a:solidFill>
              </a:rPr>
              <a:t>)</a:t>
            </a:r>
            <a:endParaRPr lang="en-US" sz="1050" dirty="0"/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2DF9AA0-CDA7-40AE-ADD0-22C703CBD834}"/>
              </a:ext>
            </a:extLst>
          </p:cNvPr>
          <p:cNvGrpSpPr/>
          <p:nvPr/>
        </p:nvGrpSpPr>
        <p:grpSpPr>
          <a:xfrm>
            <a:off x="335990" y="4434839"/>
            <a:ext cx="869066" cy="502920"/>
            <a:chOff x="-756176" y="3290242"/>
            <a:chExt cx="949056" cy="310896"/>
          </a:xfrm>
        </p:grpSpPr>
        <p:sp>
          <p:nvSpPr>
            <p:cNvPr id="70" name="Shape 34">
              <a:extLst>
                <a:ext uri="{FF2B5EF4-FFF2-40B4-BE49-F238E27FC236}">
                  <a16:creationId xmlns:a16="http://schemas.microsoft.com/office/drawing/2014/main" id="{06FBA96A-725C-4180-8CA1-DB1555641771}"/>
                </a:ext>
              </a:extLst>
            </p:cNvPr>
            <p:cNvSpPr/>
            <p:nvPr/>
          </p:nvSpPr>
          <p:spPr>
            <a:xfrm>
              <a:off x="-723664" y="3290242"/>
              <a:ext cx="772689" cy="310896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D0D8F0"/>
              </a:solidFill>
              <a:prstDash val="solid"/>
            </a:ln>
          </p:spPr>
          <p:txBody>
            <a:bodyPr/>
            <a:lstStyle/>
            <a:p>
              <a:endParaRPr lang="ko-KR" altLang="en-US" sz="1200" i="1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3561A56-5DFD-40A5-923E-9E1438CDB122}"/>
                </a:ext>
              </a:extLst>
            </p:cNvPr>
            <p:cNvSpPr txBox="1"/>
            <p:nvPr/>
          </p:nvSpPr>
          <p:spPr>
            <a:xfrm>
              <a:off x="-756176" y="3372100"/>
              <a:ext cx="949056" cy="1569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 i="1" dirty="0" err="1">
                  <a:solidFill>
                    <a:schemeClr val="bg1"/>
                  </a:solidFill>
                </a:rPr>
                <a:t>호출</a:t>
              </a:r>
              <a:r>
                <a:rPr lang="en-US" altLang="ko-KR" sz="1050" i="1" dirty="0">
                  <a:solidFill>
                    <a:schemeClr val="bg1"/>
                  </a:solidFill>
                </a:rPr>
                <a:t> </a:t>
              </a:r>
              <a:r>
                <a:rPr lang="en-US" altLang="ko-KR" sz="1050" i="1" dirty="0" err="1">
                  <a:solidFill>
                    <a:schemeClr val="bg1"/>
                  </a:solidFill>
                </a:rPr>
                <a:t>흐름</a:t>
              </a:r>
              <a:endParaRPr lang="ko-KR" altLang="en-US" sz="1050" i="1" dirty="0">
                <a:solidFill>
                  <a:schemeClr val="bg1"/>
                </a:solidFill>
              </a:endParaRPr>
            </a:p>
          </p:txBody>
        </p:sp>
      </p:grpSp>
      <p:sp>
        <p:nvSpPr>
          <p:cNvPr id="71" name="왼쪽 중괄호 70">
            <a:extLst>
              <a:ext uri="{FF2B5EF4-FFF2-40B4-BE49-F238E27FC236}">
                <a16:creationId xmlns:a16="http://schemas.microsoft.com/office/drawing/2014/main" id="{FD7257EA-7D86-40E0-B346-F15D0B10A2CB}"/>
              </a:ext>
            </a:extLst>
          </p:cNvPr>
          <p:cNvSpPr/>
          <p:nvPr/>
        </p:nvSpPr>
        <p:spPr>
          <a:xfrm rot="5400000">
            <a:off x="4950300" y="636357"/>
            <a:ext cx="703173" cy="7234062"/>
          </a:xfrm>
          <a:prstGeom prst="leftBrace">
            <a:avLst>
              <a:gd name="adj1" fmla="val 6500"/>
              <a:gd name="adj2" fmla="val 19892"/>
            </a:avLst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8820676-F27B-43D4-A443-A733DFF3BD09}"/>
              </a:ext>
            </a:extLst>
          </p:cNvPr>
          <p:cNvSpPr/>
          <p:nvPr/>
        </p:nvSpPr>
        <p:spPr>
          <a:xfrm>
            <a:off x="6872730" y="3609192"/>
            <a:ext cx="629458" cy="292609"/>
          </a:xfrm>
          <a:prstGeom prst="ellipse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</p:sp>
      <p:sp>
        <p:nvSpPr>
          <p:cNvPr id="3" name="Title"/>
          <p:cNvSpPr/>
          <p:nvPr/>
        </p:nvSpPr>
        <p:spPr>
          <a:xfrm>
            <a:off x="365760" y="200000"/>
            <a:ext cx="841248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결국 우리가 쓰는 건 전부 </a:t>
            </a:r>
            <a:r>
              <a:rPr lang="en-US" sz="32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.md</a:t>
            </a:r>
            <a:endParaRPr lang="en-US" sz="3200" dirty="0"/>
          </a:p>
        </p:txBody>
      </p:sp>
      <p:sp>
        <p:nvSpPr>
          <p:cNvPr id="4" name="Subtitle"/>
          <p:cNvSpPr/>
          <p:nvPr/>
        </p:nvSpPr>
        <p:spPr>
          <a:xfrm>
            <a:off x="365760" y="900000"/>
            <a:ext cx="84124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i="1" dirty="0">
                <a:solidFill>
                  <a:srgbClr val="6B7280"/>
                </a:solidFill>
              </a:rPr>
              <a:t>다음부터 소개할 6개 부품 — 이름은 달라도 실체는 결국 하나</a:t>
            </a:r>
            <a:endParaRPr lang="en-US" sz="1500" dirty="0"/>
          </a:p>
        </p:txBody>
      </p:sp>
      <p:sp>
        <p:nvSpPr>
          <p:cNvPr id="10" name="R1C1"/>
          <p:cNvSpPr/>
          <p:nvPr/>
        </p:nvSpPr>
        <p:spPr>
          <a:xfrm>
            <a:off x="400000" y="1550000"/>
            <a:ext cx="2680000" cy="10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R1C1Text"/>
          <p:cNvSpPr/>
          <p:nvPr/>
        </p:nvSpPr>
        <p:spPr>
          <a:xfrm>
            <a:off x="500000" y="1620000"/>
            <a:ext cx="2480000" cy="9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D399"/>
                </a:solidFill>
              </a:rPr>
              <a:t>AI Docs</a:t>
            </a:r>
            <a:r>
              <a:rPr lang="ko-KR" altLang="en-US" sz="1500" b="1" dirty="0">
                <a:solidFill>
                  <a:srgbClr val="6B7280"/>
                </a:solidFill>
              </a:rPr>
              <a:t>   →   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· AGENTS.md</a:t>
            </a:r>
            <a:endParaRPr lang="en-US" sz="1000" dirty="0"/>
          </a:p>
        </p:txBody>
      </p:sp>
      <p:sp>
        <p:nvSpPr>
          <p:cNvPr id="20" name="R1C2"/>
          <p:cNvSpPr/>
          <p:nvPr/>
        </p:nvSpPr>
        <p:spPr>
          <a:xfrm>
            <a:off x="3232000" y="1550000"/>
            <a:ext cx="2680000" cy="10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R1C2Text"/>
          <p:cNvSpPr/>
          <p:nvPr/>
        </p:nvSpPr>
        <p:spPr>
          <a:xfrm>
            <a:off x="3332000" y="1620000"/>
            <a:ext cx="2480000" cy="9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</a:rPr>
              <a:t>Skills</a:t>
            </a:r>
            <a:r>
              <a:rPr lang="ko-KR" altLang="en-US" sz="1500" b="1" dirty="0">
                <a:solidFill>
                  <a:srgbClr val="6B7280"/>
                </a:solidFill>
              </a:rPr>
              <a:t>   →   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(오픈 표준)</a:t>
            </a:r>
            <a:endParaRPr lang="en-US" sz="1000" dirty="0"/>
          </a:p>
        </p:txBody>
      </p:sp>
      <p:sp>
        <p:nvSpPr>
          <p:cNvPr id="30" name="R1C3"/>
          <p:cNvSpPr/>
          <p:nvPr/>
        </p:nvSpPr>
        <p:spPr>
          <a:xfrm>
            <a:off x="6064000" y="1550000"/>
            <a:ext cx="2680000" cy="10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A78BFA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R1C3Text"/>
          <p:cNvSpPr/>
          <p:nvPr/>
        </p:nvSpPr>
        <p:spPr>
          <a:xfrm>
            <a:off x="6164000" y="1620000"/>
            <a:ext cx="2480000" cy="9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</a:rPr>
              <a:t>Hooks</a:t>
            </a:r>
            <a:r>
              <a:rPr lang="ko-KR" altLang="en-US" sz="1500" b="1" dirty="0">
                <a:solidFill>
                  <a:srgbClr val="6B7280"/>
                </a:solidFill>
              </a:rPr>
              <a:t>   →   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</a:t>
            </a:r>
            <a:endParaRPr lang="en-US" sz="14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이벤트 정의 문서</a:t>
            </a:r>
            <a:endParaRPr lang="en-US" sz="1000" dirty="0"/>
          </a:p>
        </p:txBody>
      </p:sp>
      <p:sp>
        <p:nvSpPr>
          <p:cNvPr id="40" name="R2C1"/>
          <p:cNvSpPr/>
          <p:nvPr/>
        </p:nvSpPr>
        <p:spPr>
          <a:xfrm>
            <a:off x="400000" y="2732000"/>
            <a:ext cx="2680000" cy="10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472B6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R2C1Text"/>
          <p:cNvSpPr/>
          <p:nvPr/>
        </p:nvSpPr>
        <p:spPr>
          <a:xfrm>
            <a:off x="500000" y="2802000"/>
            <a:ext cx="2480000" cy="9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72B6"/>
                </a:solidFill>
              </a:rPr>
              <a:t>MCP</a:t>
            </a:r>
            <a:r>
              <a:rPr lang="ko-KR" altLang="en-US" sz="1500" b="1" dirty="0">
                <a:solidFill>
                  <a:srgbClr val="6B7280"/>
                </a:solidFill>
              </a:rPr>
              <a:t>   →   </a:t>
            </a:r>
            <a:r>
              <a:rPr lang="en-US" sz="13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설정파일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/ toml (예외)</a:t>
            </a:r>
            <a:endParaRPr lang="en-US" sz="1000" dirty="0"/>
          </a:p>
        </p:txBody>
      </p:sp>
      <p:sp>
        <p:nvSpPr>
          <p:cNvPr id="50" name="R2C2"/>
          <p:cNvSpPr/>
          <p:nvPr/>
        </p:nvSpPr>
        <p:spPr>
          <a:xfrm>
            <a:off x="3232000" y="2732000"/>
            <a:ext cx="2680000" cy="10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DD4BF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R2C2Text"/>
          <p:cNvSpPr/>
          <p:nvPr/>
        </p:nvSpPr>
        <p:spPr>
          <a:xfrm>
            <a:off x="3332000" y="2802000"/>
            <a:ext cx="2480000" cy="9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</a:rPr>
              <a:t>Subagent</a:t>
            </a:r>
            <a:r>
              <a:rPr lang="ko-KR" altLang="en-US" sz="1500" b="1" dirty="0">
                <a:solidFill>
                  <a:srgbClr val="6B7280"/>
                </a:solidFill>
              </a:rPr>
              <a:t>   →   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agents/*.md</a:t>
            </a:r>
            <a:endParaRPr lang="en-US" sz="1000" dirty="0"/>
          </a:p>
        </p:txBody>
      </p:sp>
      <p:sp>
        <p:nvSpPr>
          <p:cNvPr id="60" name="R2C3"/>
          <p:cNvSpPr/>
          <p:nvPr/>
        </p:nvSpPr>
        <p:spPr>
          <a:xfrm>
            <a:off x="6064000" y="2732000"/>
            <a:ext cx="2680000" cy="105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BBF24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1" name="R2C3Text"/>
          <p:cNvSpPr/>
          <p:nvPr/>
        </p:nvSpPr>
        <p:spPr>
          <a:xfrm>
            <a:off x="6164000" y="2802000"/>
            <a:ext cx="2480000" cy="9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</a:rPr>
              <a:t>Memory</a:t>
            </a:r>
            <a:r>
              <a:rPr lang="ko-KR" altLang="en-US" sz="1500" b="1" dirty="0">
                <a:solidFill>
                  <a:srgbClr val="6B7280"/>
                </a:solidFill>
              </a:rPr>
              <a:t>   →   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.md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MEMORY.md / memories/</a:t>
            </a:r>
            <a:endParaRPr lang="en-US" sz="1000" dirty="0"/>
          </a:p>
        </p:txBody>
      </p:sp>
      <p:sp>
        <p:nvSpPr>
          <p:cNvPr id="90" name="Closing"/>
          <p:cNvSpPr/>
          <p:nvPr/>
        </p:nvSpPr>
        <p:spPr>
          <a:xfrm>
            <a:off x="400000" y="4020000"/>
            <a:ext cx="8344000" cy="88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19050">
            <a:solidFill>
              <a:srgbClr val="1E2761"/>
            </a:solidFill>
          </a:ln>
        </p:spPr>
      </p:sp>
      <p:sp>
        <p:nvSpPr>
          <p:cNvPr id="91" name="ClosingText"/>
          <p:cNvSpPr/>
          <p:nvPr/>
        </p:nvSpPr>
        <p:spPr>
          <a:xfrm>
            <a:off x="400000" y="4020000"/>
            <a:ext cx="8344000" cy="8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>
                <a:solidFill>
                  <a:srgbClr val="C8DCFC"/>
                </a:solidFill>
              </a:rPr>
              <a:t>구성 요소들의 이름과 사용법을 외우는 게 아니라, </a:t>
            </a:r>
            <a:br>
              <a:rPr lang="en-US" altLang="ko-KR" sz="1600" dirty="0">
                <a:solidFill>
                  <a:srgbClr val="C8DCFC"/>
                </a:solidFill>
              </a:rPr>
            </a:br>
            <a:r>
              <a:rPr lang="ko-KR" altLang="en-US" sz="1600" b="1" dirty="0">
                <a:solidFill>
                  <a:srgbClr val="34D399"/>
                </a:solidFill>
              </a:rPr>
              <a:t>.md 문서를 쓰고 작성하는 질의 방식 </a:t>
            </a:r>
            <a:r>
              <a:rPr lang="ko-KR" altLang="en-US" sz="1600" dirty="0">
                <a:solidFill>
                  <a:srgbClr val="C8DCFC"/>
                </a:solidFill>
              </a:rPr>
              <a:t>을 학습한다.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</p:sp>
      <p:sp>
        <p:nvSpPr>
          <p:cNvPr id="3" name="Title"/>
          <p:cNvSpPr/>
          <p:nvPr/>
        </p:nvSpPr>
        <p:spPr>
          <a:xfrm>
            <a:off x="365760" y="180000"/>
            <a:ext cx="841248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코딩 </a:t>
            </a:r>
            <a:r>
              <a:rPr lang="en-US" altLang="ko-KR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</a:t>
            </a:r>
            <a:r>
              <a:rPr lang="ko-KR" alt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어떻게 쓸까</a:t>
            </a:r>
            <a:r>
              <a:rPr lang="en-US" altLang="ko-KR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r>
              <a:rPr lang="ko-KR" alt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— 3가지 인터페이스</a:t>
            </a:r>
            <a:endParaRPr lang="en-US" sz="2600" dirty="0"/>
          </a:p>
        </p:txBody>
      </p:sp>
      <p:sp>
        <p:nvSpPr>
          <p:cNvPr id="4" name="MatrixBox"/>
          <p:cNvSpPr/>
          <p:nvPr/>
        </p:nvSpPr>
        <p:spPr>
          <a:xfrm>
            <a:off x="365760" y="820000"/>
            <a:ext cx="8412480" cy="2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CFC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ColHead1"/>
          <p:cNvSpPr/>
          <p:nvPr/>
        </p:nvSpPr>
        <p:spPr>
          <a:xfrm>
            <a:off x="2145760" y="900000"/>
            <a:ext cx="21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</a:rPr>
              <a:t>Web</a:t>
            </a:r>
            <a:r>
              <a:rPr lang="ko-KR" altLang="en-US" sz="1100" dirty="0">
                <a:solidFill>
                  <a:srgbClr val="6B7280"/>
                </a:solidFill>
              </a:rPr>
              <a:t>   대화 · 탐색</a:t>
            </a:r>
            <a:endParaRPr lang="en-US" sz="1100" dirty="0"/>
          </a:p>
        </p:txBody>
      </p:sp>
      <p:sp>
        <p:nvSpPr>
          <p:cNvPr id="11" name="ColHead2"/>
          <p:cNvSpPr/>
          <p:nvPr/>
        </p:nvSpPr>
        <p:spPr>
          <a:xfrm>
            <a:off x="4245760" y="900000"/>
            <a:ext cx="21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</a:rPr>
              <a:t>CLI</a:t>
            </a:r>
            <a:r>
              <a:rPr lang="ko-KR" altLang="en-US" sz="1100" dirty="0">
                <a:solidFill>
                  <a:srgbClr val="6B7280"/>
                </a:solidFill>
              </a:rPr>
              <a:t>   실제 파일 · 자동화</a:t>
            </a:r>
            <a:endParaRPr lang="en-US" sz="1100" dirty="0"/>
          </a:p>
        </p:txBody>
      </p:sp>
      <p:sp>
        <p:nvSpPr>
          <p:cNvPr id="12" name="ColHead3"/>
          <p:cNvSpPr/>
          <p:nvPr/>
        </p:nvSpPr>
        <p:spPr>
          <a:xfrm>
            <a:off x="6345760" y="900000"/>
            <a:ext cx="23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E2761"/>
                </a:solidFill>
              </a:rPr>
              <a:t>App </a:t>
            </a:r>
            <a:r>
              <a:rPr lang="ko-KR" altLang="en-US" sz="1100" b="1">
                <a:solidFill>
                  <a:srgbClr val="2DD4BF"/>
                </a:solidFill>
              </a:rPr>
              <a:t>✅</a:t>
            </a:r>
            <a:endParaRPr lang="en-US" sz="1100" dirty="0"/>
          </a:p>
        </p:txBody>
      </p:sp>
      <p:sp>
        <p:nvSpPr>
          <p:cNvPr id="20" name="Row1Label"/>
          <p:cNvSpPr/>
          <p:nvPr/>
        </p:nvSpPr>
        <p:spPr>
          <a:xfrm>
            <a:off x="465760" y="1350000"/>
            <a:ext cx="168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</a:rPr>
              <a:t>Claude</a:t>
            </a:r>
            <a:endParaRPr lang="en-US" sz="1400" dirty="0"/>
          </a:p>
        </p:txBody>
      </p:sp>
      <p:sp>
        <p:nvSpPr>
          <p:cNvPr id="21" name="R1C1Cell"/>
          <p:cNvSpPr/>
          <p:nvPr/>
        </p:nvSpPr>
        <p:spPr>
          <a:xfrm>
            <a:off x="2145760" y="1350000"/>
            <a:ext cx="21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claude.ai</a:t>
            </a:r>
            <a:endParaRPr lang="en-US" sz="1200" dirty="0"/>
          </a:p>
        </p:txBody>
      </p:sp>
      <p:sp>
        <p:nvSpPr>
          <p:cNvPr id="22" name="R1C2Cell"/>
          <p:cNvSpPr/>
          <p:nvPr/>
        </p:nvSpPr>
        <p:spPr>
          <a:xfrm>
            <a:off x="4245760" y="1350000"/>
            <a:ext cx="21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1200" dirty="0"/>
          </a:p>
        </p:txBody>
      </p:sp>
      <p:sp>
        <p:nvSpPr>
          <p:cNvPr id="23" name="R1C3Cell"/>
          <p:cNvSpPr/>
          <p:nvPr/>
        </p:nvSpPr>
        <p:spPr>
          <a:xfrm>
            <a:off x="6345760" y="1350000"/>
            <a:ext cx="23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20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APP</a:t>
            </a:r>
            <a:endParaRPr lang="en-US" sz="1200" dirty="0"/>
          </a:p>
        </p:txBody>
      </p:sp>
      <p:sp>
        <p:nvSpPr>
          <p:cNvPr id="30" name="Row2Label"/>
          <p:cNvSpPr/>
          <p:nvPr/>
        </p:nvSpPr>
        <p:spPr>
          <a:xfrm>
            <a:off x="465760" y="1930000"/>
            <a:ext cx="168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</a:rPr>
              <a:t>Codex</a:t>
            </a:r>
            <a:endParaRPr lang="en-US" sz="1400" dirty="0"/>
          </a:p>
        </p:txBody>
      </p:sp>
      <p:sp>
        <p:nvSpPr>
          <p:cNvPr id="31" name="R2C1Cell"/>
          <p:cNvSpPr/>
          <p:nvPr/>
        </p:nvSpPr>
        <p:spPr>
          <a:xfrm>
            <a:off x="2145760" y="1930000"/>
            <a:ext cx="21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chatgpt.com</a:t>
            </a:r>
            <a:endParaRPr lang="en-US" sz="1200" dirty="0"/>
          </a:p>
        </p:txBody>
      </p:sp>
      <p:sp>
        <p:nvSpPr>
          <p:cNvPr id="32" name="R2C2Cell"/>
          <p:cNvSpPr/>
          <p:nvPr/>
        </p:nvSpPr>
        <p:spPr>
          <a:xfrm>
            <a:off x="4245760" y="1930000"/>
            <a:ext cx="21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</a:t>
            </a:r>
            <a:endParaRPr lang="en-US" sz="1200" dirty="0"/>
          </a:p>
        </p:txBody>
      </p:sp>
      <p:sp>
        <p:nvSpPr>
          <p:cNvPr id="33" name="R2C3Cell"/>
          <p:cNvSpPr/>
          <p:nvPr/>
        </p:nvSpPr>
        <p:spPr>
          <a:xfrm>
            <a:off x="6345760" y="1930000"/>
            <a:ext cx="23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ChatGPT </a:t>
            </a:r>
            <a:r>
              <a:rPr lang="en-US" altLang="ko-KR" sz="120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200" dirty="0"/>
          </a:p>
        </p:txBody>
      </p:sp>
      <p:sp>
        <p:nvSpPr>
          <p:cNvPr id="40" name="Row3Label"/>
          <p:cNvSpPr/>
          <p:nvPr/>
        </p:nvSpPr>
        <p:spPr>
          <a:xfrm>
            <a:off x="465760" y="2510000"/>
            <a:ext cx="168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</a:rPr>
              <a:t>Antigravity</a:t>
            </a:r>
            <a:endParaRPr lang="en-US" sz="1400" dirty="0"/>
          </a:p>
        </p:txBody>
      </p:sp>
      <p:sp>
        <p:nvSpPr>
          <p:cNvPr id="41" name="R3C1Cell"/>
          <p:cNvSpPr/>
          <p:nvPr/>
        </p:nvSpPr>
        <p:spPr>
          <a:xfrm>
            <a:off x="2145760" y="2510000"/>
            <a:ext cx="21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gemini.google.com</a:t>
            </a:r>
            <a:endParaRPr lang="en-US" sz="1200" dirty="0"/>
          </a:p>
        </p:txBody>
      </p:sp>
      <p:sp>
        <p:nvSpPr>
          <p:cNvPr id="42" name="R3C2Cell"/>
          <p:cNvSpPr/>
          <p:nvPr/>
        </p:nvSpPr>
        <p:spPr>
          <a:xfrm>
            <a:off x="4245760" y="2510000"/>
            <a:ext cx="21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agy CLI</a:t>
            </a:r>
            <a:endParaRPr lang="en-US" sz="1200" dirty="0"/>
          </a:p>
        </p:txBody>
      </p:sp>
      <p:sp>
        <p:nvSpPr>
          <p:cNvPr id="43" name="R3C3Cell"/>
          <p:cNvSpPr/>
          <p:nvPr/>
        </p:nvSpPr>
        <p:spPr>
          <a:xfrm>
            <a:off x="6345760" y="2510000"/>
            <a:ext cx="230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20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</a:t>
            </a:r>
            <a:r>
              <a:rPr lang="ko-KR" altLang="en-US" sz="120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r>
              <a:rPr lang="en-US" altLang="ko-KR" sz="120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200" dirty="0"/>
          </a:p>
        </p:txBody>
      </p:sp>
      <p:sp>
        <p:nvSpPr>
          <p:cNvPr id="50" name="Footer1"/>
          <p:cNvSpPr/>
          <p:nvPr/>
        </p:nvSpPr>
        <p:spPr>
          <a:xfrm>
            <a:off x="365760" y="3100000"/>
            <a:ext cx="841248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i="1" dirty="0">
                <a:solidFill>
                  <a:srgbClr val="8899BB"/>
                </a:solidFill>
              </a:rPr>
              <a:t>표면은 다르지만 동일 harness — 어떤 걸 골라도 학습은 이전됨</a:t>
            </a:r>
            <a:endParaRPr lang="en-US" sz="1100" dirty="0"/>
          </a:p>
        </p:txBody>
      </p:sp>
      <p:sp>
        <p:nvSpPr>
          <p:cNvPr id="60" name="ClosingBox"/>
          <p:cNvSpPr/>
          <p:nvPr/>
        </p:nvSpPr>
        <p:spPr>
          <a:xfrm>
            <a:off x="365760" y="3560000"/>
            <a:ext cx="8412480" cy="1400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9050">
            <a:solidFill>
              <a:srgbClr val="2DD4BF"/>
            </a:solidFill>
          </a:ln>
        </p:spPr>
      </p:sp>
      <p:sp>
        <p:nvSpPr>
          <p:cNvPr id="61" name="ClosingTitle"/>
          <p:cNvSpPr/>
          <p:nvPr/>
        </p:nvSpPr>
        <p:spPr>
          <a:xfrm>
            <a:off x="365760" y="3610000"/>
            <a:ext cx="841248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FFFFFF"/>
                </a:solidFill>
              </a:rPr>
              <a:t>어디서든 조작은 공통</a:t>
            </a:r>
            <a:endParaRPr lang="en-US" sz="1400" dirty="0"/>
          </a:p>
        </p:txBody>
      </p:sp>
      <p:sp>
        <p:nvSpPr>
          <p:cNvPr id="62" name="SlashRow"/>
          <p:cNvSpPr/>
          <p:nvPr/>
        </p:nvSpPr>
        <p:spPr>
          <a:xfrm>
            <a:off x="565760" y="4110000"/>
            <a:ext cx="801248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ko-KR" altLang="en-US" sz="1500" dirty="0">
                <a:solidFill>
                  <a:srgbClr val="C8DCFC"/>
                </a:solidFill>
              </a:rPr>
              <a:t>  스킬·명령 호출     </a:t>
            </a:r>
            <a:r>
              <a:rPr lang="en-US" sz="1500" dirty="0">
                <a:solidFill>
                  <a:srgbClr val="8899BB"/>
                </a:solidFill>
              </a:rPr>
              <a:t>·     </a:t>
            </a: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ko-KR" altLang="en-US" sz="1500" dirty="0">
                <a:solidFill>
                  <a:srgbClr val="C8DCFC"/>
                </a:solidFill>
              </a:rPr>
              <a:t>  파일·컨텍스트 언급</a:t>
            </a:r>
            <a:endParaRPr lang="en-US" sz="1500" dirty="0"/>
          </a:p>
        </p:txBody>
      </p:sp>
      <p:sp>
        <p:nvSpPr>
          <p:cNvPr id="63" name="ClosingNote"/>
          <p:cNvSpPr/>
          <p:nvPr/>
        </p:nvSpPr>
        <p:spPr>
          <a:xfrm>
            <a:off x="565760" y="4570000"/>
            <a:ext cx="80124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i="1" dirty="0">
                <a:solidFill>
                  <a:srgbClr val="8899BB"/>
                </a:solidFill>
              </a:rPr>
              <a:t>결국 “AI에게 문서를 가리키는” 동작 — 새로 배울 게 별로 없음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Docs — 개요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9BB"/>
                </a:solidFill>
              </a:rPr>
              <a:t>AI 개발 도구에게 프로젝트 정보를 전달하는 지침 문서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60120"/>
          </a:xfrm>
          <a:prstGeom prst="rect">
            <a:avLst/>
          </a:prstGeom>
          <a:solidFill>
            <a:srgbClr val="252D4D"/>
          </a:solidFill>
          <a:ln w="2540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78992"/>
            <a:ext cx="841248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4300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/ GEMINI.md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루트에 두면 각 AI Agent가 자동으로 읽음. Instruction·Rule은 @멘션 또는 상위 문서에서 참조하도록 설정.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2651760" cy="2834640"/>
          </a:xfrm>
          <a:prstGeom prst="rect">
            <a:avLst/>
          </a:prstGeom>
          <a:solidFill>
            <a:srgbClr val="252D4D"/>
          </a:solidFill>
          <a:ln w="2540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176272"/>
            <a:ext cx="265176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4942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🗺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" y="2670048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(맥락·배경지식)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" y="3127248"/>
            <a:ext cx="2322576" cy="274320"/>
          </a:xfrm>
          <a:prstGeom prst="rect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3127248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4D399"/>
                </a:solidFill>
              </a:rPr>
              <a:t>프로젝트가 무엇인지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3474720"/>
            <a:ext cx="232257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스택, 구조, 패턴 정의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상황을 이해하는 배경지식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Java 17 / Spring Boot / PostgreSQL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Controller → Service → Repository 구조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46120" y="2176272"/>
            <a:ext cx="2651760" cy="2834640"/>
          </a:xfrm>
          <a:prstGeom prst="rect">
            <a:avLst/>
          </a:prstGeom>
          <a:solidFill>
            <a:srgbClr val="252D4D"/>
          </a:solidFill>
          <a:ln w="2540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6120" y="2176272"/>
            <a:ext cx="26517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46120" y="224942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355848" y="2670048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(지침·작업방식)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10712" y="3127248"/>
            <a:ext cx="2322576" cy="274320"/>
          </a:xfrm>
          <a:prstGeom prst="rect">
            <a:avLst/>
          </a:prstGeom>
          <a:solidFill>
            <a:srgbClr val="4FC3F7">
              <a:alpha val="25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127248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C3F7"/>
                </a:solidFill>
              </a:rPr>
              <a:t>작업을 어떻게 수행할지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10712" y="3474720"/>
            <a:ext cx="232257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단계별 상세 작업 방식 정의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AI의 행동 방식 명세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요구분석 → 영향범위 → 코드 → 테스트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형식: 설명 → 코드 → 요약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2176272"/>
            <a:ext cx="2651760" cy="2834640"/>
          </a:xfrm>
          <a:prstGeom prst="rect">
            <a:avLst/>
          </a:prstGeom>
          <a:solidFill>
            <a:srgbClr val="252D4D"/>
          </a:solidFill>
          <a:ln w="25400">
            <a:solidFill>
              <a:srgbClr val="FBBF24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2176272"/>
            <a:ext cx="265176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24942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236208" y="2670048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B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 (규칙·엄격한 제약)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91072" y="3127248"/>
            <a:ext cx="2322576" cy="274320"/>
          </a:xfrm>
          <a:prstGeom prst="rect">
            <a:avLst/>
          </a:prstGeom>
          <a:solidFill>
            <a:srgbClr val="FBBF24">
              <a:alpha val="25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3127248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BF24"/>
                </a:solidFill>
              </a:rPr>
              <a:t>반드시 지켜야 할 제약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91072" y="3474720"/>
            <a:ext cx="232257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컨벤션, 금지사항 명시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 시 오류가 되는 사항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Controller 비즈니스로직 금지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Entity 직접 반환 금지 (DTO 변환 필수)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Docs — Context 실전 </a:t>
            </a:r>
            <a:r>
              <a:rPr lang="en-US" sz="2600" b="1" dirty="0" err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예시</a:t>
            </a: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(AGENTS.md)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4846320" cy="4206240"/>
          </a:xfrm>
          <a:prstGeom prst="rect">
            <a:avLst/>
          </a:prstGeom>
          <a:solidFill>
            <a:srgbClr val="0D1117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961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</a:rPr>
              <a:t>📄  AGENTS.md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07008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 AI Guide
---
</a:t>
            </a:r>
            <a:r>
              <a:rPr lang="en-US" sz="105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1️⃣ Context (프로젝트 맥락)
</a:t>
            </a:r>
            <a:r>
              <a:rPr lang="en-US" sz="105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프로젝트 개요
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Spring Boot 기반 인증 API 서버
- JWT 기반 인증 구조 사용
</a:t>
            </a:r>
            <a:r>
              <a:rPr lang="en-US" sz="105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기술 스택
</a:t>
            </a:r>
            <a:r>
              <a:rPr lang="en-US" sz="10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Java 17  /  Spring Boot 3.x
- PostgreSQL  /  Gradle
</a:t>
            </a:r>
            <a:r>
              <a:rPr lang="en-US" sz="105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아키텍처
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Controller → Service → Repository
- DTO / Entity 분리
- GlobalExceptionHandler 사용
</a:t>
            </a:r>
            <a:r>
              <a:rPr lang="en-US" sz="105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2️⃣ Instruction
</a:t>
            </a:r>
            <a:r>
              <a:rPr lang="en-US" sz="10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@.docs/instruction/coding-style.md
</a:t>
            </a:r>
            <a:r>
              <a:rPr lang="en-US" sz="105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3️⃣ Rule
</a:t>
            </a:r>
            <a:r>
              <a:rPr lang="en-US" sz="10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@.docs/rules/global-rules.md
@.docs/rules/backend-rules.md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394960" y="841248"/>
            <a:ext cx="33832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94960" y="841248"/>
            <a:ext cx="3383280" cy="45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32120" y="9326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자동 로드 파일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532120" y="1280160"/>
            <a:ext cx="3108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→ Claude Code 자동 인식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→ Codex 자동 인식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GEMINI.md → Gemini/Antigravity 자동 인식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루트 또는 하위 디렉토리에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258568"/>
            <a:ext cx="33832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394960" y="2258568"/>
            <a:ext cx="3383280" cy="45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2120" y="235000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@멘션으로 참조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32120" y="2697480"/>
            <a:ext cx="3108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Instruction·Rule은 임의 이름의 .md 파일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@경로 형태로 멘션하면 AI가 읽음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문서에서 언급해도 읽음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 맥락을 통해 자동 로드되기도 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94960" y="3675888"/>
            <a:ext cx="33832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FBBF24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94960" y="3675888"/>
            <a:ext cx="338328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376732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규모별 관리 방식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4114800"/>
            <a:ext cx="3108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소규모: CLAUDE.md 하나에 모두 통합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대규모: 계층별·도메인별 파일 분리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.docs/instruction/ .docs/rules/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PRD, Prompt 등 이름도 자유롭게 사용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Docs — Instruction &amp; Rule </a:t>
            </a:r>
            <a:r>
              <a:rPr lang="en-US" sz="2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예시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4114800" cy="4206240"/>
          </a:xfrm>
          <a:prstGeom prst="rect">
            <a:avLst/>
          </a:prstGeom>
          <a:solidFill>
            <a:srgbClr val="0D1117"/>
          </a:solidFill>
          <a:ln w="19050">
            <a:solidFill>
              <a:srgbClr val="4FC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961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</a:rPr>
              <a:t>📋  coding-style.md  (Instruction)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3840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작업 전 확인
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관련 PRD 존재 시 반드시 읽는다
</a:t>
            </a: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예: @doc/prd/auth-feature.md
</a:t>
            </a:r>
            <a:r>
              <a:rPr lang="en-US" sz="9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
</a:t>
            </a:r>
            <a:r>
              <a:rPr lang="en-US" sz="9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작업 절차
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요구사항 분석
2. 영향 범위 확인
3. 코드 작성
4. 테스트/예외 검토
</a:t>
            </a:r>
            <a:r>
              <a:rPr lang="en-US" sz="9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
</a:t>
            </a:r>
            <a:r>
              <a:rPr lang="en-US" sz="9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응답 형식
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설명 → 코드 → 요약 순서
- 변경 코드 diff 형식 출력
- 새 파일은 전체 코드 제공
</a:t>
            </a:r>
            <a:r>
              <a:rPr lang="en-US" sz="9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반드시 준수할 규칙
</a:t>
            </a:r>
            <a:r>
              <a:rPr lang="en-US" sz="9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@.docs/rules/global-rules.md
@.docs/rules/backend-rules.md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841248"/>
            <a:ext cx="4114800" cy="4206240"/>
          </a:xfrm>
          <a:prstGeom prst="rect">
            <a:avLst/>
          </a:prstGeom>
          <a:solidFill>
            <a:srgbClr val="0D1117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8961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</a:rPr>
              <a:t>📏  global-rules.md  (Rule)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00600" y="1188720"/>
            <a:ext cx="3840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아키텍처 규칙
</a:t>
            </a: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Controller에 비즈니스 로직 작성 금지
- Service 계층에서만 트랜잭션 허용
- Entity 직접 반환 금지 (DTO 변환 필수)
</a:t>
            </a: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코드 규칙
</a:t>
            </a: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하드코딩 금지
- Optional.get() 직접 사용 금지
- 로그에 민감 정보 출력 금지
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위반 시:
1. 위반 내용 명시
2. 수정 코드 제안
</a:t>
            </a:r>
            <a:r>
              <a:rPr lang="en-US" sz="10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
</a:t>
            </a: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backend-rules.md
</a:t>
            </a: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@Transactional은 Service만 선언
- Repository 비즈니스 로직 금지
- Response는 공통 Wrapper 사용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Docs — 파일 위치 &amp; 프로젝트 구조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480560" cy="4206240"/>
          </a:xfrm>
          <a:prstGeom prst="rect">
            <a:avLst/>
          </a:prstGeom>
          <a:solidFill>
            <a:srgbClr val="0D1117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778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</a:rPr>
              <a:t>📁  프로젝트 폴더 구조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843358"/>
            <a:ext cx="42062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Project/
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
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CLAUDE.md        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 진입점 (자동로드)
</a:t>
            </a: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.agents/agents.md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Antigravity 진입점
</a:t>
            </a: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AGENTS.md        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Codex 진입점
│
</a:t>
            </a:r>
            <a:r>
              <a:rPr lang="en-US" sz="110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.docs/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instruction/
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 coding-style.md
│   │   └─ review-process.md
│   │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rules/
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 global-rules.md
│       └─ backend-rules.md
│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doc/
    └─ prd/
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 auth-feature.md
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822960"/>
            <a:ext cx="37490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0" y="822960"/>
            <a:ext cx="374904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66360" y="93268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66360" y="1325880"/>
            <a:ext cx="3474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(루트 → 자동로드)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하위 디렉토리는 읽도록 명시 필요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2240280"/>
            <a:ext cx="37490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0" y="2240280"/>
            <a:ext cx="374904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23500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OpenAI Codex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6360" y="2743200"/>
            <a:ext cx="3474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(프로젝트 루트)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Instruction·Rule은 @멘션 참조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3657600"/>
            <a:ext cx="37490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FBBF24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3657600"/>
            <a:ext cx="374904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37673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Google Antigravity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66360" y="4160520"/>
            <a:ext cx="3474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.agents/agents.md (프로젝트 루트)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Skills·Workflows는 .agents/ 하위에 위치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6656" y="4235782"/>
            <a:ext cx="3749040" cy="713232"/>
          </a:xfrm>
          <a:prstGeom prst="rect">
            <a:avLst/>
          </a:prstGeom>
          <a:solidFill>
            <a:srgbClr val="FFF8E7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" y="4290646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규모별 선택
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소규모: </a:t>
            </a:r>
            <a:r>
              <a:rPr lang="en-US" altLang="ko-KR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하나에 통합  |  대규모: .docs/ 폴더로 계층 분리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</p:sp>
      <p:sp>
        <p:nvSpPr>
          <p:cNvPr id="3" name="Title"/>
          <p:cNvSpPr/>
          <p:nvPr/>
        </p:nvSpPr>
        <p:spPr>
          <a:xfrm>
            <a:off x="365760" y="180000"/>
            <a:ext cx="841248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AI가 인식하는 경로 — 실무는 두 곳</a:t>
            </a:r>
            <a:endParaRPr lang="en-US" sz="2600" dirty="0"/>
          </a:p>
        </p:txBody>
      </p:sp>
      <p:sp>
        <p:nvSpPr>
          <p:cNvPr id="10" name="ProjBox"/>
          <p:cNvSpPr/>
          <p:nvPr/>
        </p:nvSpPr>
        <p:spPr>
          <a:xfrm>
            <a:off x="365760" y="820000"/>
            <a:ext cx="4120000" cy="13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ProjTitle"/>
          <p:cNvSpPr/>
          <p:nvPr/>
        </p:nvSpPr>
        <p:spPr>
          <a:xfrm>
            <a:off x="500000" y="900000"/>
            <a:ext cx="39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</a:rPr>
              <a:t>📁  프로젝트 스코프</a:t>
            </a:r>
            <a:endParaRPr lang="en-US" sz="1400" dirty="0"/>
          </a:p>
        </p:txBody>
      </p:sp>
      <p:sp>
        <p:nvSpPr>
          <p:cNvPr id="12" name="ProjPath1Bg"/>
          <p:cNvSpPr/>
          <p:nvPr/>
        </p:nvSpPr>
        <p:spPr>
          <a:xfrm>
            <a:off x="500000" y="1290000"/>
            <a:ext cx="3850000" cy="33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</p:sp>
      <p:sp>
        <p:nvSpPr>
          <p:cNvPr id="13" name="ProjPath1"/>
          <p:cNvSpPr/>
          <p:nvPr/>
        </p:nvSpPr>
        <p:spPr>
          <a:xfrm>
            <a:off x="500000" y="1290000"/>
            <a:ext cx="385000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&lt;proj&gt;/.claude/*</a:t>
            </a:r>
            <a:endParaRPr lang="en-US" sz="1300" dirty="0"/>
          </a:p>
        </p:txBody>
      </p:sp>
      <p:sp>
        <p:nvSpPr>
          <p:cNvPr id="14" name="ProjPath2Bg"/>
          <p:cNvSpPr/>
          <p:nvPr/>
        </p:nvSpPr>
        <p:spPr>
          <a:xfrm>
            <a:off x="500000" y="1680000"/>
            <a:ext cx="3850000" cy="33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</p:sp>
      <p:sp>
        <p:nvSpPr>
          <p:cNvPr id="15" name="ProjPath2"/>
          <p:cNvSpPr/>
          <p:nvPr/>
        </p:nvSpPr>
        <p:spPr>
          <a:xfrm>
            <a:off x="500000" y="1680000"/>
            <a:ext cx="385000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&lt;proj&gt;/.agents/*</a:t>
            </a:r>
            <a:endParaRPr lang="en-US" sz="1300" dirty="0"/>
          </a:p>
        </p:txBody>
      </p:sp>
      <p:sp>
        <p:nvSpPr>
          <p:cNvPr id="20" name="GlobBox"/>
          <p:cNvSpPr/>
          <p:nvPr/>
        </p:nvSpPr>
        <p:spPr>
          <a:xfrm>
            <a:off x="4658240" y="820000"/>
            <a:ext cx="4120000" cy="13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A78BFA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GlobTitle"/>
          <p:cNvSpPr/>
          <p:nvPr/>
        </p:nvSpPr>
        <p:spPr>
          <a:xfrm>
            <a:off x="4793240" y="900000"/>
            <a:ext cx="39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</a:rPr>
              <a:t>🌐  전역 스코프 (~/)</a:t>
            </a:r>
            <a:endParaRPr lang="en-US" sz="1400" dirty="0"/>
          </a:p>
        </p:txBody>
      </p:sp>
      <p:sp>
        <p:nvSpPr>
          <p:cNvPr id="22" name="GlobPath1Bg"/>
          <p:cNvSpPr/>
          <p:nvPr/>
        </p:nvSpPr>
        <p:spPr>
          <a:xfrm>
            <a:off x="4793240" y="1290000"/>
            <a:ext cx="3850000" cy="33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</p:sp>
      <p:sp>
        <p:nvSpPr>
          <p:cNvPr id="23" name="GlobPath1"/>
          <p:cNvSpPr/>
          <p:nvPr/>
        </p:nvSpPr>
        <p:spPr>
          <a:xfrm>
            <a:off x="4793240" y="1290000"/>
            <a:ext cx="385000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  ·  ~/.codex/</a:t>
            </a:r>
            <a:endParaRPr lang="en-US" sz="1300" dirty="0"/>
          </a:p>
        </p:txBody>
      </p:sp>
      <p:sp>
        <p:nvSpPr>
          <p:cNvPr id="24" name="GlobPath2Bg"/>
          <p:cNvSpPr/>
          <p:nvPr/>
        </p:nvSpPr>
        <p:spPr>
          <a:xfrm>
            <a:off x="4793240" y="1680000"/>
            <a:ext cx="3850000" cy="33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</p:sp>
      <p:sp>
        <p:nvSpPr>
          <p:cNvPr id="25" name="GlobPath2"/>
          <p:cNvSpPr/>
          <p:nvPr/>
        </p:nvSpPr>
        <p:spPr>
          <a:xfrm>
            <a:off x="4793240" y="1680000"/>
            <a:ext cx="385000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~/.gemini/config/skills/</a:t>
            </a:r>
            <a:endParaRPr lang="en-US" sz="1300" dirty="0"/>
          </a:p>
        </p:txBody>
      </p:sp>
      <p:sp>
        <p:nvSpPr>
          <p:cNvPr id="40" name="RuleBox"/>
          <p:cNvSpPr/>
          <p:nvPr/>
        </p:nvSpPr>
        <p:spPr>
          <a:xfrm>
            <a:off x="365760" y="2300000"/>
            <a:ext cx="8412480" cy="9000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FBBF24"/>
            </a:solidFill>
          </a:ln>
        </p:spPr>
      </p:sp>
      <p:sp>
        <p:nvSpPr>
          <p:cNvPr id="41" name="RuleText"/>
          <p:cNvSpPr/>
          <p:nvPr/>
        </p:nvSpPr>
        <p:spPr>
          <a:xfrm>
            <a:off x="565760" y="2360000"/>
            <a:ext cx="8012480" cy="7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</a:rPr>
              <a:t>💡  실무 </a:t>
            </a:r>
            <a:r>
              <a:rPr lang="ko-KR" altLang="en-US" sz="1400" b="1" dirty="0">
                <a:solidFill>
                  <a:srgbClr val="B45309"/>
                </a:solidFill>
              </a:rPr>
              <a:t>선택 기준</a:t>
            </a:r>
            <a:endParaRPr lang="en-US" sz="1400" dirty="0"/>
          </a:p>
          <a:p>
            <a:pPr marL="0" indent="0">
              <a:buNone/>
            </a:pPr>
            <a:r>
              <a:rPr lang="ko-KR" altLang="en-US" sz="1300" dirty="0">
                <a:solidFill>
                  <a:srgbClr val="1E2761"/>
                </a:solidFill>
              </a:rPr>
              <a:t>모든 프로젝트에서 쓰는 것 → </a:t>
            </a:r>
            <a:r>
              <a:rPr lang="ko-KR" altLang="en-US" sz="1300" b="1" dirty="0">
                <a:solidFill>
                  <a:srgbClr val="A78BFA"/>
                </a:solidFill>
              </a:rPr>
              <a:t>전역</a:t>
            </a:r>
            <a:r>
              <a:rPr lang="ko-KR" altLang="en-US" sz="1300" dirty="0">
                <a:solidFill>
                  <a:srgbClr val="1E2761"/>
                </a:solidFill>
              </a:rPr>
              <a:t>   ·   특정 프로젝트에만 → </a:t>
            </a:r>
            <a:r>
              <a:rPr lang="ko-KR" altLang="en-US" sz="1300" b="1" dirty="0">
                <a:solidFill>
                  <a:srgbClr val="4FC3F7"/>
                </a:solidFill>
              </a:rPr>
              <a:t>프로젝트</a:t>
            </a:r>
            <a:endParaRPr lang="en-US" sz="1300" dirty="0"/>
          </a:p>
        </p:txBody>
      </p:sp>
      <p:sp>
        <p:nvSpPr>
          <p:cNvPr id="50" name="NoteBox"/>
          <p:cNvSpPr/>
          <p:nvPr/>
        </p:nvSpPr>
        <p:spPr>
          <a:xfrm>
            <a:off x="365760" y="3360000"/>
            <a:ext cx="8412480" cy="1580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9050">
            <a:solidFill>
              <a:srgbClr val="FBBF24"/>
            </a:solidFill>
          </a:ln>
        </p:spPr>
      </p:sp>
      <p:sp>
        <p:nvSpPr>
          <p:cNvPr id="51" name="NoteTitle"/>
          <p:cNvSpPr/>
          <p:nvPr/>
        </p:nvSpPr>
        <p:spPr>
          <a:xfrm>
            <a:off x="565760" y="3440000"/>
            <a:ext cx="801248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FBBF24"/>
                </a:solidFill>
              </a:rPr>
              <a:t>다른 경로도 있다 — 그런데 나는 왜 이 두 곳만 쓰는가</a:t>
            </a:r>
            <a:endParaRPr lang="en-US" sz="1400" dirty="0"/>
          </a:p>
        </p:txBody>
      </p:sp>
      <p:sp>
        <p:nvSpPr>
          <p:cNvPr id="52" name="NoteBody"/>
          <p:cNvSpPr/>
          <p:nvPr/>
        </p:nvSpPr>
        <p:spPr>
          <a:xfrm>
            <a:off x="565760" y="3850000"/>
            <a:ext cx="8012480" cy="10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C8DCFC"/>
                </a:solidFill>
              </a:rPr>
              <a:t>도구·버전마다 </a:t>
            </a:r>
            <a:r>
              <a:rPr lang="en-US" sz="120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.codex/skills/ </a:t>
            </a:r>
            <a:r>
              <a:rPr lang="en-US" altLang="ko-KR" sz="1200" dirty="0">
                <a:solidFill>
                  <a:srgbClr val="C8DCFC"/>
                </a:solidFill>
              </a:rPr>
              <a:t>· </a:t>
            </a:r>
            <a:r>
              <a:rPr lang="en-US" sz="120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.gemini/config/ </a:t>
            </a:r>
            <a:r>
              <a:rPr lang="ko-KR" altLang="en-US" sz="1200" dirty="0">
                <a:solidFill>
                  <a:srgbClr val="C8DCFC"/>
                </a:solidFill>
              </a:rPr>
              <a:t>등 여러 경로가 있고, 지원 범위도 조금씩 다르다.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CFC"/>
                </a:solidFill>
              </a:rPr>
              <a:t>  </a:t>
            </a:r>
            <a:endParaRPr lang="en-US" sz="1200" dirty="0"/>
          </a:p>
          <a:p>
            <a:pPr marL="0" indent="0">
              <a:buNone/>
            </a:pPr>
            <a:r>
              <a:rPr lang="ko-KR" altLang="en-US" sz="1300" b="1" dirty="0">
                <a:solidFill>
                  <a:srgbClr val="FBBF24"/>
                </a:solidFill>
              </a:rPr>
              <a:t>→ </a:t>
            </a:r>
            <a:r>
              <a:rPr lang="ko-KR" altLang="en-US" sz="1300" dirty="0">
                <a:solidFill>
                  <a:srgbClr val="FFFFFF"/>
                </a:solidFill>
              </a:rPr>
              <a:t>프로젝트마다 상이하니 </a:t>
            </a:r>
            <a:r>
              <a:rPr lang="ko-KR" altLang="en-US" sz="1300" b="1" dirty="0">
                <a:solidFill/>
              </a:rPr>
              <a:t> </a:t>
            </a:r>
            <a:r>
              <a:rPr lang="en-US" sz="1300" b="1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</a:t>
            </a:r>
            <a:r>
              <a:rPr lang="ko-KR" altLang="en-US" sz="1300" dirty="0">
                <a:solidFill>
                  <a:srgbClr val="FFFFFF"/>
                </a:solidFill>
              </a:rPr>
              <a:t> · </a:t>
            </a:r>
            <a:r>
              <a:rPr lang="en-US" sz="13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</a:t>
            </a:r>
            <a:r>
              <a:rPr lang="ko-KR" altLang="en-US" sz="1300" dirty="0">
                <a:solidFill>
                  <a:srgbClr val="FFFFFF"/>
                </a:solidFill>
              </a:rPr>
              <a:t> 두 곳만 쓴다 </a:t>
            </a:r>
            <a:r>
              <a:rPr lang="ko-KR" altLang="en-US" sz="1300" b="1" dirty="0">
                <a:solidFill>
                  <a:srgbClr val="FBBF24"/>
                </a:solidFill>
              </a:rPr>
              <a:t>— 어디서든 통하니까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무엇인가?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412480" cy="868680"/>
          </a:xfrm>
          <a:prstGeom prst="rect">
            <a:avLst/>
          </a:prstGeom>
          <a:solidFill>
            <a:srgbClr val="252D4D"/>
          </a:solidFill>
          <a:ln w="2540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841248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9611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특정 작업을 구조화된 방식으로 수행하도록 정의한  </a:t>
            </a: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 가능한 작업 단위 (프롬프트 패키지)
</a:t>
            </a:r>
            <a:r>
              <a:rPr lang="en-US" sz="14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프롬프트 한 줄이 아닌, 역할·지침·템플릿·스크립트를 포함해 하나의 "기능"처럼 동작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84708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사용하는가?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2267712"/>
            <a:ext cx="2743200" cy="1371600"/>
          </a:xfrm>
          <a:prstGeom prst="rect">
            <a:avLst/>
          </a:prstGeom>
          <a:solidFill>
            <a:srgbClr val="252D4D"/>
          </a:solidFill>
          <a:ln w="1905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" y="2761488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토큰 절약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39151" y="3090672"/>
            <a:ext cx="29964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매번 긴 프롬프트 입력 시 토큰이 계속 증가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Skills는 /multi-review처럼 짧은 명령어로 호출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267712"/>
            <a:ext cx="2743200" cy="1371600"/>
          </a:xfrm>
          <a:prstGeom prst="rect">
            <a:avLst/>
          </a:prstGeom>
          <a:solidFill>
            <a:srgbClr val="252D4D"/>
          </a:solidFill>
          <a:ln w="1905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91840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01568" y="2761488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재사용성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08960" y="309067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한 번 정의하면 여러 프로젝트·맥락에서 재사용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팀 전체가 동일한 방식으로 작업 가능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2267712"/>
            <a:ext cx="2743200" cy="1371600"/>
          </a:xfrm>
          <a:prstGeom prst="rect">
            <a:avLst/>
          </a:prstGeom>
          <a:solidFill>
            <a:srgbClr val="252D4D"/>
          </a:solidFill>
          <a:ln w="1905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27648" y="2761488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일관성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0" y="30906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BB"/>
                </a:solidFill>
              </a:rPr>
              <a:t>매번 다른 결과 없이 정해진 방식으로 일관된 출력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99BB"/>
                </a:solidFill>
              </a:rPr>
              <a:t>코드 리뷰·문서화 등 반복 작업에 특히 효과적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37673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파일 형태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5760" y="4133088"/>
            <a:ext cx="41148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87952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multi-review/
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</a:t>
            </a: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# 핵심 지침
│   ├─ template.md    # 템플릿
│   └─ scripts/       # 스크립트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37673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호출 방식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63440" y="4133088"/>
            <a:ext cx="1371600" cy="914400"/>
          </a:xfrm>
          <a:prstGeom prst="rect">
            <a:avLst/>
          </a:prstGeom>
          <a:solidFill>
            <a:srgbClr val="252D4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4133088"/>
            <a:ext cx="1371600" cy="45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4206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</a:rPr>
              <a:t>/명령어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09160" y="450799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/multi-review 입력으로 즉시 호출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2200" y="4133088"/>
            <a:ext cx="1371600" cy="914400"/>
          </a:xfrm>
          <a:prstGeom prst="rect">
            <a:avLst/>
          </a:prstGeom>
          <a:solidFill>
            <a:srgbClr val="252D4D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4133088"/>
            <a:ext cx="1371600" cy="45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4206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</a:rPr>
              <a:t>자동 로드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7920" y="450799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AI가 맥락 파악 후 자동으로 Skills 참조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4133088"/>
            <a:ext cx="1371600" cy="914400"/>
          </a:xfrm>
          <a:prstGeom prst="rect">
            <a:avLst/>
          </a:prstGeom>
          <a:solidFill>
            <a:srgbClr val="252D4D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0" y="4133088"/>
            <a:ext cx="13716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26680" y="4206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</a:rPr>
              <a:t>@멘션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26680" y="450799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BB"/>
                </a:solidFill>
              </a:rPr>
              <a:t>@경로로 직접 지정하여 호출 가능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도구별 적용 방법 &amp; 주의사항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196596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196596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📁  경로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116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.claude/skills/*/SKILL.md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57860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⌨️  커맨드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852928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 이름 (자동 통합)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525012"/>
            <a:ext cx="1783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2.1대 — Slash Commands가 Skills로 통합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.claude/commands/ 파일도 여전히 작동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환경 및 VSCode Extension 모두 인식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89020" y="841248"/>
            <a:ext cx="196596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89020" y="841248"/>
            <a:ext cx="1965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902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80460" y="12801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OpenAI Codex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80460" y="17373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📁  경로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80460" y="2011680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26180" y="20116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.agents/skills/*/SKILL.md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80460" y="257860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⌨️  커맨드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80460" y="2852928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26180" y="2852928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 이름 (자동 통합)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25596" y="35656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Code와 마찬가지로 Slash Commands 통합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.agents/skills/ 는 교차도구 공용 경로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.codex/skills/ 는 Codex 전용 프로젝트 경로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12280" y="841248"/>
            <a:ext cx="196596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A78BF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812280" y="841248"/>
            <a:ext cx="196596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1228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6903720" y="12801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Google Antigravity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903720" y="17373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📁  경로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03720" y="2011680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20116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.agents/skills/*/SKILL.md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903720" y="257860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⌨️  커맨드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903720" y="2852928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2852928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.agents/workflows/ </a:t>
            </a:r>
            <a:b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ko-KR" alt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위치</a:t>
            </a: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에 Skills 복붙 후 /명령어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903720" y="342900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CLI(agy)·IDE(Editor)·Manager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3표면 모두 동일 harness 공유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Skills는 .agents/skills 표준 채택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 — 이벤트 기반 자동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412480" cy="658368"/>
          </a:xfrm>
          <a:prstGeom prst="rect">
            <a:avLst/>
          </a:prstGeom>
          <a:solidFill>
            <a:srgbClr val="1E2761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229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핵심: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Hooks는 독립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기능이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아</a:t>
            </a:r>
            <a:r>
              <a:rPr lang="ko-KR" alt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니다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ko-KR" altLang="en-US" sz="1200" b="1" dirty="0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</a:t>
            </a:r>
            <a:r>
              <a:rPr lang="en-US" sz="1200" dirty="0" err="1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트리거</a:t>
            </a:r>
            <a:r>
              <a:rPr lang="en-US" sz="1200" dirty="0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 Hook, IDE Event)로 AI Skills를 강제 호출하는 실행 패턴.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</a:t>
            </a:r>
            <a:r>
              <a:rPr lang="en-US" sz="1200" dirty="0" err="1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</a:t>
            </a:r>
            <a:r>
              <a:rPr lang="en-US" sz="1200" dirty="0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실행을 </a:t>
            </a:r>
            <a:r>
              <a:rPr lang="en-US" sz="1200" dirty="0" err="1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원하면</a:t>
            </a:r>
            <a:r>
              <a:rPr lang="en-US" sz="1200" dirty="0">
                <a:solidFill>
                  <a:srgbClr val="C8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</a:t>
            </a: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스크립트 작성이 반드시 필요합니다.</a:t>
            </a:r>
            <a:endParaRPr lang="en-US" sz="12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71F14715-E0CE-4F69-B03B-7220D72ACE50}"/>
              </a:ext>
            </a:extLst>
          </p:cNvPr>
          <p:cNvGrpSpPr/>
          <p:nvPr/>
        </p:nvGrpSpPr>
        <p:grpSpPr>
          <a:xfrm>
            <a:off x="365760" y="1627632"/>
            <a:ext cx="2743200" cy="1353312"/>
            <a:chOff x="365760" y="1627632"/>
            <a:chExt cx="2743200" cy="1353312"/>
          </a:xfrm>
        </p:grpSpPr>
        <p:sp>
          <p:nvSpPr>
            <p:cNvPr id="6" name="Shape 4"/>
            <p:cNvSpPr/>
            <p:nvPr/>
          </p:nvSpPr>
          <p:spPr>
            <a:xfrm>
              <a:off x="365760" y="1627632"/>
              <a:ext cx="2743200" cy="1353312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34D399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5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365760" y="1627632"/>
              <a:ext cx="2743200" cy="54864"/>
            </a:xfrm>
            <a:prstGeom prst="rect">
              <a:avLst/>
            </a:prstGeom>
            <a:solidFill>
              <a:srgbClr val="34D399"/>
            </a:solidFill>
            <a:ln w="12700">
              <a:solidFill>
                <a:srgbClr val="34D39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65760" y="1700784"/>
              <a:ext cx="274320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000000"/>
                  </a:solidFill>
                </a:rPr>
                <a:t>💾</a:t>
              </a:r>
              <a:endParaRPr lang="en-US" sz="2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7200" y="2103120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34D399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On-save</a:t>
              </a:r>
              <a:endParaRPr lang="en-US" sz="16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57200" y="2441448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8899BB"/>
                  </a:solidFill>
                </a:rPr>
                <a:t>파일 저장 시</a:t>
              </a:r>
              <a:endParaRPr lang="en-US" sz="1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57200" y="2715768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761"/>
                  </a:solidFill>
                </a:rPr>
                <a:t>자동 포맷팅·린팅</a:t>
              </a:r>
              <a:endParaRPr lang="en-US" sz="13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D0C61F7A-4870-4E86-9773-25E5478F7B86}"/>
              </a:ext>
            </a:extLst>
          </p:cNvPr>
          <p:cNvGrpSpPr/>
          <p:nvPr/>
        </p:nvGrpSpPr>
        <p:grpSpPr>
          <a:xfrm>
            <a:off x="3208020" y="1627632"/>
            <a:ext cx="2743200" cy="1353312"/>
            <a:chOff x="3291840" y="1627632"/>
            <a:chExt cx="2743200" cy="1353312"/>
          </a:xfrm>
        </p:grpSpPr>
        <p:sp>
          <p:nvSpPr>
            <p:cNvPr id="12" name="Shape 10"/>
            <p:cNvSpPr/>
            <p:nvPr/>
          </p:nvSpPr>
          <p:spPr>
            <a:xfrm>
              <a:off x="3291840" y="1627632"/>
              <a:ext cx="2743200" cy="1353312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FBBF24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5000"/>
                </a:srgbClr>
              </a:outerShdw>
            </a:effectLst>
          </p:spPr>
        </p:sp>
        <p:sp>
          <p:nvSpPr>
            <p:cNvPr id="13" name="Shape 11"/>
            <p:cNvSpPr/>
            <p:nvPr/>
          </p:nvSpPr>
          <p:spPr>
            <a:xfrm>
              <a:off x="3291840" y="1627632"/>
              <a:ext cx="2743200" cy="54864"/>
            </a:xfrm>
            <a:prstGeom prst="rect">
              <a:avLst/>
            </a:prstGeom>
            <a:solidFill>
              <a:srgbClr val="FBBF24"/>
            </a:solidFill>
            <a:ln w="12700">
              <a:solidFill>
                <a:srgbClr val="FBBF24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291840" y="1700784"/>
              <a:ext cx="274320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000000"/>
                  </a:solidFill>
                </a:rPr>
                <a:t>📦</a:t>
              </a:r>
              <a:endParaRPr lang="en-US" sz="2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383280" y="2103120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BBF24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Pre-commit</a:t>
              </a:r>
              <a:endParaRPr lang="en-US" sz="1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383280" y="2441448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8899BB"/>
                  </a:solidFill>
                </a:rPr>
                <a:t>커밋 직전</a:t>
              </a:r>
              <a:endParaRPr lang="en-US" sz="1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383280" y="2715768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761"/>
                  </a:solidFill>
                </a:rPr>
                <a:t>코드 스타일 검사</a:t>
              </a:r>
              <a:endParaRPr lang="en-US" sz="13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36192EDA-EF19-4D89-883D-984130E42D18}"/>
              </a:ext>
            </a:extLst>
          </p:cNvPr>
          <p:cNvGrpSpPr/>
          <p:nvPr/>
        </p:nvGrpSpPr>
        <p:grpSpPr>
          <a:xfrm>
            <a:off x="6035040" y="1627632"/>
            <a:ext cx="2743200" cy="1353312"/>
            <a:chOff x="6217920" y="1627632"/>
            <a:chExt cx="2743200" cy="1353312"/>
          </a:xfrm>
        </p:grpSpPr>
        <p:sp>
          <p:nvSpPr>
            <p:cNvPr id="18" name="Shape 16"/>
            <p:cNvSpPr/>
            <p:nvPr/>
          </p:nvSpPr>
          <p:spPr>
            <a:xfrm>
              <a:off x="6217920" y="1627632"/>
              <a:ext cx="2743200" cy="1353312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A78BFA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5000"/>
                </a:srgbClr>
              </a:outerShdw>
            </a:effectLst>
          </p:spPr>
        </p:sp>
        <p:sp>
          <p:nvSpPr>
            <p:cNvPr id="19" name="Shape 17"/>
            <p:cNvSpPr/>
            <p:nvPr/>
          </p:nvSpPr>
          <p:spPr>
            <a:xfrm>
              <a:off x="6217920" y="1627632"/>
              <a:ext cx="2743200" cy="54864"/>
            </a:xfrm>
            <a:prstGeom prst="rect">
              <a:avLst/>
            </a:prstGeom>
            <a:solidFill>
              <a:srgbClr val="A78BFA"/>
            </a:solidFill>
            <a:ln w="12700">
              <a:solidFill>
                <a:srgbClr val="A78BFA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217920" y="1700784"/>
              <a:ext cx="274320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000000"/>
                  </a:solidFill>
                </a:rPr>
                <a:t>🔀</a:t>
              </a:r>
              <a:endParaRPr lang="en-US" sz="2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309360" y="2103120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A78BFA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Post-merge</a:t>
              </a:r>
              <a:endParaRPr lang="en-US" sz="16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309360" y="2441448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8899BB"/>
                  </a:solidFill>
                </a:rPr>
                <a:t>병합 완료 후</a:t>
              </a:r>
              <a:endParaRPr lang="en-US" sz="1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09360" y="2715768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761"/>
                  </a:solidFill>
                </a:rPr>
                <a:t>의존성 충돌 검사</a:t>
              </a:r>
              <a:endParaRPr lang="en-US" sz="1300" dirty="0"/>
            </a:p>
          </p:txBody>
        </p:sp>
      </p:grpSp>
      <p:sp>
        <p:nvSpPr>
          <p:cNvPr id="24" name="Shape 22"/>
          <p:cNvSpPr/>
          <p:nvPr/>
        </p:nvSpPr>
        <p:spPr>
          <a:xfrm>
            <a:off x="365760" y="3127248"/>
            <a:ext cx="3931920" cy="1920240"/>
          </a:xfrm>
          <a:prstGeom prst="rect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</a:rPr>
              <a:t>📝  구현 예시 (별도 스크립트 직접 작성)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3493008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
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.git/hooks/pre-commit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run 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.claude/skills/pre-commit-check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407408"/>
            <a:ext cx="3657600" cy="594360"/>
          </a:xfrm>
          <a:prstGeom prst="rect">
            <a:avLst/>
          </a:prstGeom>
          <a:solidFill>
            <a:srgbClr val="FFF3CD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425696"/>
            <a:ext cx="347472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4F00"/>
                </a:solidFill>
              </a:rPr>
              <a:t>⚠️  모든 AI 도구가 자동 Hooks를 제공하지는 않음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4F00"/>
                </a:solidFill>
              </a:rPr>
              <a:t>.claude/hooks/ 디렉토리는 실행할 Skills를 정리한 것일 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480560" y="3127248"/>
            <a:ext cx="429768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318211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↔ Hooks 관계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663440" y="3547872"/>
            <a:ext cx="3931920" cy="438912"/>
          </a:xfrm>
          <a:prstGeom prst="rect">
            <a:avLst/>
          </a:prstGeom>
          <a:solidFill>
            <a:srgbClr val="4FC3F7">
              <a:alpha val="15000"/>
            </a:srgbClr>
          </a:solidFill>
          <a:ln w="19050">
            <a:solidFill>
              <a:srgbClr val="4FC3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54787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</a:rPr>
              <a:t>Skills  </a:t>
            </a:r>
            <a:r>
              <a:rPr lang="en-US" sz="1200" dirty="0">
                <a:solidFill>
                  <a:srgbClr val="1E2761"/>
                </a:solidFill>
              </a:rPr>
              <a:t>지식 정의 (SKILL.md)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663440" y="4005072"/>
            <a:ext cx="3931920" cy="54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BB"/>
                </a:solidFill>
              </a:rPr>
              <a:t>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4059936"/>
            <a:ext cx="3931920" cy="438912"/>
          </a:xfrm>
          <a:prstGeom prst="rect">
            <a:avLst/>
          </a:prstGeom>
          <a:solidFill>
            <a:srgbClr val="A78BFA">
              <a:alpha val="15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40599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</a:rPr>
              <a:t>Hooks  </a:t>
            </a:r>
            <a:r>
              <a:rPr lang="en-US" sz="1200" dirty="0">
                <a:solidFill>
                  <a:srgbClr val="1E2761"/>
                </a:solidFill>
              </a:rPr>
              <a:t>특정 시점 실행용으로 구조화된 Skills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3931920" cy="54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BB"/>
                </a:solidFill>
              </a:rPr>
              <a:t>↓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3440" y="4572000"/>
            <a:ext cx="3931920" cy="438912"/>
          </a:xfrm>
          <a:prstGeom prst="rect">
            <a:avLst/>
          </a:prstGeom>
          <a:solidFill>
            <a:srgbClr val="FBBF24">
              <a:alpha val="1500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45720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</a:rPr>
              <a:t>자동 실행  </a:t>
            </a:r>
            <a:r>
              <a:rPr lang="en-US" sz="1200" dirty="0">
                <a:solidFill>
                  <a:srgbClr val="1E2761"/>
                </a:solidFill>
              </a:rPr>
              <a:t>별도 스크립트로 구현 필수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&amp; Plugin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9BB"/>
                </a:solidFill>
              </a:rPr>
              <a:t>AI 모델 ↔ 외부 시스템 간 표준화된 인터페이스 프로토콜 + 확장 패키지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931920"/>
          </a:xfrm>
          <a:prstGeom prst="rect">
            <a:avLst/>
          </a:prstGeom>
          <a:solidFill>
            <a:srgbClr val="252D4D"/>
          </a:solidFill>
          <a:ln w="25400">
            <a:solidFill>
              <a:srgbClr val="F472B6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78992"/>
            <a:ext cx="4114800" cy="64008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704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72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🔌  MCP (Model Context Protocol)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8DCFC"/>
                </a:solidFill>
              </a:rPr>
              <a:t>Anthropic 발표. HTTP가 웹을, SMTP가 이메일을 표준화했듯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C8DCFC"/>
                </a:solidFill>
              </a:rPr>
              <a:t>AI ↔ 외부 시스템 간 통신을 표준화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025904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파일 시스템 직접 조회·조작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Drive, GitHub 연동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Slack, Postgres DB 등 실시간 연결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 Extension으로 직관적 관리 가능</a:t>
            </a:r>
            <a:endParaRPr lang="en-US" sz="1200" dirty="0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89D9931C-A4B8-49A5-9A51-5F787F8857A4}"/>
              </a:ext>
            </a:extLst>
          </p:cNvPr>
          <p:cNvGrpSpPr/>
          <p:nvPr/>
        </p:nvGrpSpPr>
        <p:grpSpPr>
          <a:xfrm>
            <a:off x="449580" y="3191256"/>
            <a:ext cx="3947160" cy="1691640"/>
            <a:chOff x="502920" y="3584448"/>
            <a:chExt cx="4069080" cy="2084832"/>
          </a:xfrm>
        </p:grpSpPr>
        <p:sp>
          <p:nvSpPr>
            <p:cNvPr id="10" name="Shape 8"/>
            <p:cNvSpPr/>
            <p:nvPr/>
          </p:nvSpPr>
          <p:spPr>
            <a:xfrm>
              <a:off x="502920" y="3584448"/>
              <a:ext cx="777240" cy="34747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48640" y="3584448"/>
              <a:ext cx="685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구분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1325880" y="3584448"/>
              <a:ext cx="1051560" cy="34747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1371600" y="3584448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MCP</a:t>
              </a:r>
              <a:endParaRPr lang="en-US" sz="9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2423160" y="3584448"/>
              <a:ext cx="1051560" cy="34747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2468880" y="3584448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Skills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520440" y="3584448"/>
              <a:ext cx="1051560" cy="34747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566160" y="3584448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Plugin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2920" y="3931920"/>
              <a:ext cx="77724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8640" y="3931920"/>
              <a:ext cx="685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본질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1325880" y="3931920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1371600" y="3931920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C8DCFC"/>
                  </a:solidFill>
                </a:rPr>
                <a:t>외부 </a:t>
              </a:r>
              <a:r>
                <a:rPr lang="en-US" sz="800" dirty="0" err="1">
                  <a:solidFill>
                    <a:srgbClr val="C8DCFC"/>
                  </a:solidFill>
                </a:rPr>
                <a:t>연결</a:t>
              </a:r>
              <a:r>
                <a:rPr lang="en-US" sz="800" dirty="0">
                  <a:solidFill>
                    <a:srgbClr val="C8DCFC"/>
                  </a:solidFill>
                </a:rPr>
                <a:t> </a:t>
              </a:r>
              <a:br>
                <a:rPr lang="en-US" sz="800" dirty="0">
                  <a:solidFill>
                    <a:srgbClr val="C8DCFC"/>
                  </a:solidFill>
                </a:rPr>
              </a:br>
              <a:r>
                <a:rPr lang="en-US" sz="800" dirty="0" err="1">
                  <a:solidFill>
                    <a:srgbClr val="C8DCFC"/>
                  </a:solidFill>
                </a:rPr>
                <a:t>프로토콜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423160" y="3931920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2468880" y="3931920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C8DCFC"/>
                  </a:solidFill>
                </a:rPr>
                <a:t>방법 가르치는 문서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520440" y="3931920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566160" y="3931920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C8DCFC"/>
                  </a:solidFill>
                </a:rPr>
                <a:t>확장 </a:t>
              </a:r>
              <a:r>
                <a:rPr lang="en-US" sz="800" dirty="0" err="1">
                  <a:solidFill>
                    <a:srgbClr val="C8DCFC"/>
                  </a:solidFill>
                </a:rPr>
                <a:t>배포</a:t>
              </a:r>
              <a:r>
                <a:rPr lang="en-US" sz="800" dirty="0">
                  <a:solidFill>
                    <a:srgbClr val="C8DCFC"/>
                  </a:solidFill>
                </a:rPr>
                <a:t> </a:t>
              </a:r>
              <a:br>
                <a:rPr lang="en-US" sz="800" dirty="0">
                  <a:solidFill>
                    <a:srgbClr val="C8DCFC"/>
                  </a:solidFill>
                </a:rPr>
              </a:br>
              <a:r>
                <a:rPr lang="en-US" sz="800" dirty="0" err="1">
                  <a:solidFill>
                    <a:srgbClr val="C8DCFC"/>
                  </a:solidFill>
                </a:rPr>
                <a:t>패키지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2920" y="4279392"/>
              <a:ext cx="77724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48640" y="4279392"/>
              <a:ext cx="685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형태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1325880" y="4279392"/>
              <a:ext cx="105156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1371600" y="4279392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C8DCFC"/>
                  </a:solidFill>
                </a:rPr>
                <a:t>실행 중인 서버 프로세스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2423160" y="4279392"/>
              <a:ext cx="105156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468880" y="4279392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SKILL.md 파일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520440" y="4279392"/>
              <a:ext cx="105156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3566160" y="4279392"/>
              <a:ext cx="100584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 err="1">
                  <a:solidFill>
                    <a:srgbClr val="C8DCFC"/>
                  </a:solidFill>
                </a:rPr>
                <a:t>Skills+MCP+Hooks</a:t>
              </a:r>
              <a:r>
                <a:rPr lang="en-US" sz="800" dirty="0">
                  <a:solidFill>
                    <a:srgbClr val="C8DCFC"/>
                  </a:solidFill>
                </a:rPr>
                <a:t> </a:t>
              </a:r>
              <a:r>
                <a:rPr lang="en-US" sz="800" dirty="0" err="1">
                  <a:solidFill>
                    <a:srgbClr val="C8DCFC"/>
                  </a:solidFill>
                </a:rPr>
                <a:t>묶음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02920" y="4626864"/>
              <a:ext cx="77724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48640" y="4626864"/>
              <a:ext cx="685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네트워크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1325880" y="4626864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1371600" y="4626864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필요</a:t>
              </a:r>
              <a:endParaRPr lang="en-US" sz="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2423160" y="4626864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2468880" y="4626864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불필요</a:t>
              </a:r>
              <a:endParaRPr lang="en-US" sz="9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520440" y="4626864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3566160" y="4626864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포함 가능</a:t>
              </a:r>
              <a:endParaRPr lang="en-US" sz="9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02920" y="4974336"/>
              <a:ext cx="77724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548640" y="4974336"/>
              <a:ext cx="685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범위</a:t>
              </a:r>
              <a:endParaRPr lang="en-US" sz="9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1325880" y="4974336"/>
              <a:ext cx="105156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1371600" y="4974336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C8DCFC"/>
                  </a:solidFill>
                </a:rPr>
                <a:t>업계 </a:t>
              </a:r>
              <a:r>
                <a:rPr lang="en-US" sz="800" dirty="0" err="1">
                  <a:solidFill>
                    <a:srgbClr val="C8DCFC"/>
                  </a:solidFill>
                </a:rPr>
                <a:t>표준</a:t>
              </a:r>
              <a:r>
                <a:rPr lang="en-US" sz="800" dirty="0">
                  <a:solidFill>
                    <a:srgbClr val="C8DCFC"/>
                  </a:solidFill>
                </a:rPr>
                <a:t> </a:t>
              </a:r>
              <a:br>
                <a:rPr lang="en-US" sz="800" dirty="0">
                  <a:solidFill>
                    <a:srgbClr val="C8DCFC"/>
                  </a:solidFill>
                </a:rPr>
              </a:br>
              <a:r>
                <a:rPr lang="en-US" sz="800" dirty="0">
                  <a:solidFill>
                    <a:srgbClr val="C8DCFC"/>
                  </a:solidFill>
                </a:rPr>
                <a:t>(어디서나)</a:t>
              </a:r>
              <a:endParaRPr lang="en-US" sz="8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423160" y="4974336"/>
              <a:ext cx="105156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2468880" y="4974336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Claude Code</a:t>
              </a:r>
              <a:br>
                <a:rPr lang="en-US" sz="900" dirty="0">
                  <a:solidFill>
                    <a:srgbClr val="C8DCFC"/>
                  </a:solidFill>
                </a:rPr>
              </a:br>
              <a:r>
                <a:rPr lang="en-US" sz="900" dirty="0">
                  <a:solidFill>
                    <a:srgbClr val="C8DCFC"/>
                  </a:solidFill>
                </a:rPr>
                <a:t> 중심</a:t>
              </a:r>
              <a:endParaRPr lang="en-US" sz="9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520440" y="4974336"/>
              <a:ext cx="1051560" cy="347472"/>
            </a:xfrm>
            <a:prstGeom prst="rect">
              <a:avLst/>
            </a:prstGeom>
            <a:solidFill>
              <a:srgbClr val="1A2140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3566160" y="4974336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Claude Code</a:t>
              </a:r>
              <a:br>
                <a:rPr lang="en-US" sz="900" dirty="0">
                  <a:solidFill>
                    <a:srgbClr val="C8DCFC"/>
                  </a:solidFill>
                </a:rPr>
              </a:br>
              <a:r>
                <a:rPr lang="en-US" sz="900" dirty="0">
                  <a:solidFill>
                    <a:srgbClr val="C8DCFC"/>
                  </a:solidFill>
                </a:rPr>
                <a:t> 특화</a:t>
              </a:r>
              <a:endParaRPr lang="en-US" sz="9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02920" y="5321808"/>
              <a:ext cx="77724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548640" y="5321808"/>
              <a:ext cx="685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비유</a:t>
              </a:r>
              <a:endParaRPr lang="en-US" sz="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1325880" y="5321808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1371600" y="5321808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 err="1">
                  <a:solidFill>
                    <a:srgbClr val="C8DCFC"/>
                  </a:solidFill>
                </a:rPr>
                <a:t>마트</a:t>
              </a:r>
              <a:r>
                <a:rPr lang="en-US" sz="800" dirty="0">
                  <a:solidFill>
                    <a:srgbClr val="C8DCFC"/>
                  </a:solidFill>
                </a:rPr>
                <a:t> </a:t>
              </a:r>
              <a:r>
                <a:rPr lang="en-US" sz="800" dirty="0" err="1">
                  <a:solidFill>
                    <a:srgbClr val="C8DCFC"/>
                  </a:solidFill>
                </a:rPr>
                <a:t>배달</a:t>
              </a:r>
              <a:br>
                <a:rPr lang="en-US" sz="800" dirty="0">
                  <a:solidFill>
                    <a:srgbClr val="C8DCFC"/>
                  </a:solidFill>
                </a:rPr>
              </a:br>
              <a:r>
                <a:rPr lang="en-US" sz="800" dirty="0">
                  <a:solidFill>
                    <a:srgbClr val="C8DCFC"/>
                  </a:solidFill>
                </a:rPr>
                <a:t> 서비스</a:t>
              </a:r>
              <a:endParaRPr lang="en-US" sz="80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2423160" y="5321808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55" name="Text 53"/>
            <p:cNvSpPr/>
            <p:nvPr/>
          </p:nvSpPr>
          <p:spPr>
            <a:xfrm>
              <a:off x="2468880" y="5321808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요리책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3520440" y="5321808"/>
              <a:ext cx="1051560" cy="347472"/>
            </a:xfrm>
            <a:prstGeom prst="rect">
              <a:avLst/>
            </a:prstGeom>
            <a:solidFill>
              <a:srgbClr val="13162A"/>
            </a:solidFill>
            <a:ln w="12700">
              <a:solidFill>
                <a:srgbClr val="2A3060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3566160" y="5321808"/>
              <a:ext cx="9601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C8DCFC"/>
                  </a:solidFill>
                </a:rPr>
                <a:t>밀키트 패키지</a:t>
              </a:r>
              <a:endParaRPr lang="en-US" sz="900" dirty="0"/>
            </a:p>
          </p:txBody>
        </p:sp>
      </p:grpSp>
      <p:sp>
        <p:nvSpPr>
          <p:cNvPr id="58" name="Shape 56"/>
          <p:cNvSpPr/>
          <p:nvPr/>
        </p:nvSpPr>
        <p:spPr>
          <a:xfrm>
            <a:off x="4663440" y="1078992"/>
            <a:ext cx="4114800" cy="3931920"/>
          </a:xfrm>
          <a:prstGeom prst="rect">
            <a:avLst/>
          </a:prstGeom>
          <a:solidFill>
            <a:srgbClr val="252D4D"/>
          </a:solidFill>
          <a:ln w="25400">
            <a:solidFill>
              <a:srgbClr val="2DD4BF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663440" y="1078992"/>
            <a:ext cx="4114800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00600" y="11704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📦  Plugin (Claude Code 전용)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4800600" y="162763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8DCFC"/>
                </a:solidFill>
              </a:rPr>
              <a:t>2025년 10월 출시. 여러 확장을 하나의 배포 패키지로 묶어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C8DCFC"/>
                </a:solidFill>
              </a:rPr>
              <a:t>"내 팀 셋업 그대로" 한 명령어로 공유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800600" y="19659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— /deploy, /review 단축 명령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 — 특화된 AI 에이전트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도메인 지식 패키지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외부 연결 설정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— 자동 트리거 스크립트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LSP Servers — IDE 언어 서버 통합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800600" y="3951224"/>
            <a:ext cx="3840480" cy="749808"/>
          </a:xfrm>
          <a:prstGeom prst="rect">
            <a:avLst/>
          </a:prstGeom>
          <a:solidFill>
            <a:srgbClr val="1A2550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Text 62"/>
          <p:cNvSpPr/>
          <p:nvPr/>
        </p:nvSpPr>
        <p:spPr>
          <a:xfrm>
            <a:off x="4892040" y="3978656"/>
            <a:ext cx="3657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install 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&lt;marketplace-url&gt;
</a:t>
            </a: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marketplace add </a:t>
            </a: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anthropics/skills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 — 독립 Agent 병렬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41248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FFFFFF"/>
                </a:solidFill>
              </a:rPr>
              <a:t>📢 </a:t>
            </a:r>
            <a:r>
              <a:rPr lang="en-US" sz="1300" dirty="0" err="1">
                <a:solidFill>
                  <a:srgbClr val="FFFFFF"/>
                </a:solidFill>
              </a:rPr>
              <a:t>메인</a:t>
            </a:r>
            <a:r>
              <a:rPr lang="en-US" sz="1300" dirty="0">
                <a:solidFill>
                  <a:srgbClr val="FFFFFF"/>
                </a:solidFill>
              </a:rPr>
              <a:t> 에이전트에서 독립된 컨텍스트 윈도우로 분리되는 전문화된 AI </a:t>
            </a:r>
            <a:r>
              <a:rPr lang="en-US" sz="1300" dirty="0" err="1">
                <a:solidFill>
                  <a:srgbClr val="FFFFFF"/>
                </a:solidFill>
              </a:rPr>
              <a:t>인스턴스</a:t>
            </a:r>
            <a:endParaRPr lang="en-US" sz="13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ko-KR" altLang="en-US" sz="1300" dirty="0">
                <a:solidFill>
                  <a:srgbClr val="FFFFFF"/>
                </a:solidFill>
              </a:rPr>
              <a:t>📢 </a:t>
            </a:r>
            <a:r>
              <a:rPr lang="en-US" sz="1300" dirty="0" err="1">
                <a:solidFill>
                  <a:srgbClr val="FFFFFF"/>
                </a:solidFill>
              </a:rPr>
              <a:t>메인</a:t>
            </a:r>
            <a:r>
              <a:rPr lang="en-US" sz="1300" dirty="0">
                <a:solidFill>
                  <a:srgbClr val="FFFFFF"/>
                </a:solidFill>
              </a:rPr>
              <a:t> 세션 오염 없이 제한된 권한으로 병렬 실행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1965960" cy="1874520"/>
          </a:xfrm>
          <a:prstGeom prst="rect">
            <a:avLst/>
          </a:prstGeom>
          <a:solidFill>
            <a:srgbClr val="FFFFFF"/>
          </a:solidFill>
          <a:ln w="2540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572768"/>
            <a:ext cx="196596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64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4D399"/>
                </a:solidFill>
              </a:rPr>
              <a:t>🟢 정식 지원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4800" y="2331720"/>
            <a:ext cx="2087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도구 문서 기준으로 확인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커뮤니티 subagent 예시 다수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.claude/agents/*.md 로 직접 정의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89020" y="1572768"/>
            <a:ext cx="1965960" cy="1874520"/>
          </a:xfrm>
          <a:prstGeom prst="rect">
            <a:avLst/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89020" y="1572768"/>
            <a:ext cx="196596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80460" y="1664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OpenAI Codex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80460" y="202996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BBF24"/>
                </a:solidFill>
              </a:rPr>
              <a:t>🟡 환경별 확인 필요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43300" y="2331720"/>
            <a:ext cx="2087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Multi-agent 지원 방식 확인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사용 전 지원 방식 확인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자동 오케스트레이션 중심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12280" y="1572768"/>
            <a:ext cx="1965960" cy="1874520"/>
          </a:xfrm>
          <a:prstGeom prst="rect">
            <a:avLst/>
          </a:prstGeom>
          <a:solidFill>
            <a:srgbClr val="FFFFFF"/>
          </a:solidFill>
          <a:ln w="25400">
            <a:solidFill>
              <a:srgbClr val="F87171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12280" y="1572768"/>
            <a:ext cx="1965960" cy="54864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1664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Antigravity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03720" y="202996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BBF24"/>
                </a:solidFill>
              </a:rPr>
              <a:t>🟡 Manager 지원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66560" y="2331720"/>
            <a:ext cx="2087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Agent Manager로 다중 에이전트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비동기 병렬 오케스트레이션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BB"/>
                </a:solidFill>
              </a:rPr>
              <a:t>CLI·IDE·Manager </a:t>
            </a:r>
            <a:r>
              <a:rPr lang="en-US" sz="1000" dirty="0" err="1">
                <a:solidFill>
                  <a:srgbClr val="8899BB"/>
                </a:solidFill>
              </a:rPr>
              <a:t>3표면</a:t>
            </a:r>
            <a:r>
              <a:rPr lang="en-US" sz="1000" dirty="0">
                <a:solidFill>
                  <a:srgbClr val="8899BB"/>
                </a:solidFill>
              </a:rPr>
              <a:t> </a:t>
            </a:r>
            <a:br>
              <a:rPr lang="en-US" sz="1000" dirty="0">
                <a:solidFill>
                  <a:srgbClr val="8899BB"/>
                </a:solidFill>
              </a:rPr>
            </a:br>
            <a:r>
              <a:rPr lang="en-US" sz="1000" dirty="0">
                <a:solidFill>
                  <a:srgbClr val="8899BB"/>
                </a:solidFill>
              </a:rPr>
              <a:t>동일 harness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584448"/>
            <a:ext cx="4206240" cy="1481328"/>
          </a:xfrm>
          <a:prstGeom prst="rect">
            <a:avLst/>
          </a:prstGeom>
          <a:solidFill>
            <a:srgbClr val="0D1117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6393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D4BF"/>
                </a:solidFill>
              </a:rPr>
              <a:t>Claude Code — Subagent YAML 구조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3931920"/>
            <a:ext cx="393192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
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security-auditor
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보안 취약점 검토 전문 Agent
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 필드 하드코딩 금지: </a:t>
            </a: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환경에서 선택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모델은 사용자/환경에서 선택
</a:t>
            </a:r>
            <a:r>
              <a:rPr lang="en-US" sz="11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</a:t>
            </a: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Read, Grep, Glob   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최소 권한
---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84448"/>
            <a:ext cx="402336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92040" y="36393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</a:rPr>
              <a:t>tools 권한 전략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46320" y="3977640"/>
            <a:ext cx="3749040" cy="320040"/>
          </a:xfrm>
          <a:prstGeom prst="rect">
            <a:avLst/>
          </a:prstGeom>
          <a:solidFill>
            <a:srgbClr val="F4F7F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읽기전용 (리뷰·분석)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86600" y="397764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Read, Grep, Glob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4325112"/>
            <a:ext cx="3749040" cy="320040"/>
          </a:xfrm>
          <a:prstGeom prst="rect">
            <a:avLst/>
          </a:prstGeom>
          <a:solidFill>
            <a:srgbClr val="F4F7FE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43251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읽기/쓰기 (구현 작업)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086600" y="4325112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Read, Write, Edit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0" y="4672584"/>
            <a:ext cx="3749040" cy="320040"/>
          </a:xfrm>
          <a:prstGeom prst="rect">
            <a:avLst/>
          </a:prstGeom>
          <a:solidFill>
            <a:srgbClr val="F4F7FE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467258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실행포함 (테스트·빌드)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86600" y="4672584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Read, Write, Bash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Memory — 세션을 넘는 지속 기억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196596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196596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📁  위치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116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FC3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~/.claude/…/memory/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57860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🔄  동작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852928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자동 로드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525012"/>
            <a:ext cx="1783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 인덱스 + 토픽 .md 파일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시작 시 앞부분 자동 로드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에이전트가 유지 · 사람 편집 가능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89020" y="841248"/>
            <a:ext cx="196596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89020" y="841248"/>
            <a:ext cx="1965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902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80460" y="12801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OpenAI Codex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80460" y="17373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📁  위치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80460" y="2011680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26180" y="20116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~/.codex/memories/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80460" y="257860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🔄  동작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80460" y="2852928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26180" y="2852928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자동 학습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25596" y="35656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AGENTS.md(정적) + Memories(자동)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2계층 메모리 구조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선호·규칙·함정을 스스로 축적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12280" y="841248"/>
            <a:ext cx="196596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A78BF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812280" y="841248"/>
            <a:ext cx="196596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1228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6903720" y="12801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Google Antigravity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903720" y="17373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📁  위치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03720" y="2011680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20116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.gemini/antigravity/brain/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903720" y="257860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BB"/>
                </a:solidFill>
              </a:rPr>
              <a:t>🔄  동작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903720" y="2852928"/>
            <a:ext cx="1783080" cy="502920"/>
          </a:xfrm>
          <a:prstGeom prst="rect">
            <a:avLst/>
          </a:prstGeom>
          <a:solidFill>
            <a:srgbClr val="0D111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2852928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 </a:t>
            </a:r>
            <a:b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ko-KR" alt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</a:t>
            </a:r>
            <a:r>
              <a:rPr lang="en-US" sz="7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추출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903720" y="342900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 끝에 Knowledge Subagent가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KI(Knowledge Items) 자동 추출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CLI는 기본 미지원 (Mem0 등 필요)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도구별 파일 위치 &amp; 지원 현황 총정리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51560" y="822960"/>
            <a:ext cx="1417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8899B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82296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구성 요소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4600" y="822960"/>
            <a:ext cx="1828800" cy="411480"/>
          </a:xfrm>
          <a:prstGeom prst="rect">
            <a:avLst/>
          </a:prstGeom>
          <a:solidFill>
            <a:srgbClr val="4FC3F7">
              <a:alpha val="85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8229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Claude Code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822960"/>
            <a:ext cx="1828800" cy="411480"/>
          </a:xfrm>
          <a:prstGeom prst="rect">
            <a:avLst/>
          </a:prstGeom>
          <a:solidFill>
            <a:srgbClr val="34D399">
              <a:alpha val="8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8229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OpenAI Codex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822960"/>
            <a:ext cx="1760220" cy="411480"/>
          </a:xfrm>
          <a:prstGeom prst="rect">
            <a:avLst/>
          </a:prstGeom>
          <a:solidFill>
            <a:srgbClr val="A78BFA">
              <a:alpha val="85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822960"/>
            <a:ext cx="167834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Antigravity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51560" y="1280160"/>
            <a:ext cx="14173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1280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Guide Docs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128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78608" y="128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(루트 자동로드)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0" y="128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53128" y="128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(루트)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63640" y="1280160"/>
            <a:ext cx="17602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1280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.agents/agents.md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51560" y="1815160"/>
            <a:ext cx="141732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815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14600" y="1815160"/>
            <a:ext cx="182880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78608" y="1815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.claude/skills/*/SKILL.md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389120" y="1815160"/>
            <a:ext cx="182880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53128" y="1815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.agents/skills/*/SKILL.md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63640" y="1815160"/>
            <a:ext cx="176022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1815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.agents/skills/*/SKILL.md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051560" y="2350160"/>
            <a:ext cx="14173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15568" y="2350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Commands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14600" y="235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78608" y="235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Skills에 통합 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389120" y="235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235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Skills에 통합 ✅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263640" y="2350160"/>
            <a:ext cx="17602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27648" y="2350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.agents/workflows/*.md ⚠️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051560" y="2885160"/>
            <a:ext cx="141732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15568" y="2885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14600" y="2885160"/>
            <a:ext cx="182880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78608" y="2885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 + 별도스크립트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389120" y="2885160"/>
            <a:ext cx="182880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53128" y="2885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별도 스크립트 작성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263640" y="2885160"/>
            <a:ext cx="176022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27648" y="2885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Workflow로 대체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051560" y="3420160"/>
            <a:ext cx="14173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115568" y="3420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14600" y="342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78608" y="342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~/.claude.json / .claude.json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89120" y="342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53128" y="342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.codex/config.toml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263640" y="3420160"/>
            <a:ext cx="17602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27648" y="3420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 UI · CLI 설정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1051560" y="3955160"/>
            <a:ext cx="141732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15568" y="3955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2514600" y="3955160"/>
            <a:ext cx="182880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578608" y="3955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.claude/agents/*.md  🟢 정식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389120" y="3955160"/>
            <a:ext cx="182880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453128" y="3955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환경별 확인 필요 🟡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6263640" y="3955160"/>
            <a:ext cx="1760220" cy="515000"/>
          </a:xfrm>
          <a:prstGeom prst="rect">
            <a:avLst/>
          </a:prstGeom>
          <a:solidFill>
            <a:srgbClr val="1E2550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27648" y="3955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지원 🟡</a:t>
            </a:r>
            <a:endParaRPr lang="en-US" sz="800" dirty="0"/>
          </a:p>
        </p:txBody>
      </p:sp>
      <p:sp>
        <p:nvSpPr>
          <p:cNvPr id="101" name="Shape 12"/>
          <p:cNvSpPr/>
          <p:nvPr/>
        </p:nvSpPr>
        <p:spPr>
          <a:xfrm>
            <a:off x="1051560" y="4490160"/>
            <a:ext cx="14173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02" name="Text 13"/>
          <p:cNvSpPr/>
          <p:nvPr/>
        </p:nvSpPr>
        <p:spPr>
          <a:xfrm>
            <a:off x="1115568" y="4490160"/>
            <a:ext cx="128930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Memory</a:t>
            </a:r>
            <a:endParaRPr lang="en-US" sz="1200" dirty="0"/>
          </a:p>
        </p:txBody>
      </p:sp>
      <p:sp>
        <p:nvSpPr>
          <p:cNvPr id="103" name="Shape 14"/>
          <p:cNvSpPr/>
          <p:nvPr/>
        </p:nvSpPr>
        <p:spPr>
          <a:xfrm>
            <a:off x="2514600" y="449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04" name="Text 15"/>
          <p:cNvSpPr/>
          <p:nvPr/>
        </p:nvSpPr>
        <p:spPr>
          <a:xfrm>
            <a:off x="2578608" y="449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~/.claude/…/memory/</a:t>
            </a:r>
            <a:endParaRPr lang="en-US" sz="800" dirty="0"/>
          </a:p>
        </p:txBody>
      </p:sp>
      <p:sp>
        <p:nvSpPr>
          <p:cNvPr id="105" name="Shape 16"/>
          <p:cNvSpPr/>
          <p:nvPr/>
        </p:nvSpPr>
        <p:spPr>
          <a:xfrm>
            <a:off x="4389120" y="4490160"/>
            <a:ext cx="182880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06" name="Text 17"/>
          <p:cNvSpPr/>
          <p:nvPr/>
        </p:nvSpPr>
        <p:spPr>
          <a:xfrm>
            <a:off x="4453128" y="4490160"/>
            <a:ext cx="1700784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~/.codex/memories/</a:t>
            </a:r>
            <a:endParaRPr lang="en-US" sz="800" dirty="0"/>
          </a:p>
        </p:txBody>
      </p:sp>
      <p:sp>
        <p:nvSpPr>
          <p:cNvPr id="107" name="Shape 20"/>
          <p:cNvSpPr/>
          <p:nvPr/>
        </p:nvSpPr>
        <p:spPr>
          <a:xfrm>
            <a:off x="6263640" y="4490160"/>
            <a:ext cx="1760220" cy="515000"/>
          </a:xfrm>
          <a:prstGeom prst="rect">
            <a:avLst/>
          </a:prstGeom>
          <a:solidFill>
            <a:srgbClr val="252D4D"/>
          </a:solidFill>
          <a:ln w="12700">
            <a:solidFill>
              <a:srgbClr val="2A3060"/>
            </a:solidFill>
            <a:prstDash val="solid"/>
          </a:ln>
        </p:spPr>
      </p:sp>
      <p:sp>
        <p:nvSpPr>
          <p:cNvPr id="108" name="Text 21"/>
          <p:cNvSpPr/>
          <p:nvPr/>
        </p:nvSpPr>
        <p:spPr>
          <a:xfrm>
            <a:off x="6327648" y="4490160"/>
            <a:ext cx="1645601" cy="5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.gemini/antigravity/brain/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Top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</p:sp>
      <p:sp>
        <p:nvSpPr>
          <p:cNvPr id="3" name="Title"/>
          <p:cNvSpPr/>
          <p:nvPr/>
        </p:nvSpPr>
        <p:spPr>
          <a:xfrm>
            <a:off x="365760" y="230000"/>
            <a:ext cx="841248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표준으로 수렴한다</a:t>
            </a:r>
            <a:endParaRPr lang="en-US" sz="4000" dirty="0"/>
          </a:p>
        </p:txBody>
      </p:sp>
      <p:sp>
        <p:nvSpPr>
          <p:cNvPr id="4" name="Subtitle"/>
          <p:cNvSpPr/>
          <p:nvPr/>
        </p:nvSpPr>
        <p:spPr>
          <a:xfrm>
            <a:off x="365760" y="960000"/>
            <a:ext cx="84124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i="1" dirty="0">
                <a:solidFill>
                  <a:srgbClr val="C8DCFC"/>
                </a:solidFill>
              </a:rPr>
              <a:t>개념은 생겼다 사라지고, 남는 건 </a:t>
            </a:r>
            <a:r>
              <a:rPr lang="en-US" sz="1700" b="1" i="1" dirty="0">
                <a:solidFill>
                  <a:srgbClr val="4FC3F7"/>
                </a:solidFill>
              </a:rPr>
              <a:t>.md</a:t>
            </a:r>
            <a:endParaRPr lang="en-US" sz="1700" dirty="0"/>
          </a:p>
        </p:txBody>
      </p:sp>
      <p:cxnSp>
        <p:nvCxnSpPr>
          <p:cNvPr id="5" name="TimelineLine"/>
          <p:cNvCxnSpPr/>
          <p:nvPr/>
        </p:nvCxnSpPr>
        <p:spPr>
          <a:xfrm>
            <a:off x="700000" y="2740000"/>
            <a:ext cx="7744000" cy="0"/>
          </a:xfrm>
          <a:prstGeom prst="line">
            <a:avLst/>
          </a:prstGeom>
          <a:ln w="19050">
            <a:solidFill>
              <a:srgbClr val="4A5175"/>
            </a:solidFill>
            <a:prstDash val="dash"/>
          </a:ln>
        </p:spPr>
      </p:cxnSp>
      <p:sp>
        <p:nvSpPr>
          <p:cNvPr id="10" name="Card1Box"/>
          <p:cNvSpPr/>
          <p:nvPr/>
        </p:nvSpPr>
        <p:spPr>
          <a:xfrm>
            <a:off x="472000" y="1750000"/>
            <a:ext cx="1900000" cy="198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4FC3F7"/>
            </a:solidFill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Card1Date"/>
          <p:cNvSpPr/>
          <p:nvPr/>
        </p:nvSpPr>
        <p:spPr>
          <a:xfrm>
            <a:off x="472000" y="1830000"/>
            <a:ext cx="190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2025.12</a:t>
            </a:r>
            <a:endParaRPr lang="en-US" sz="2400" dirty="0"/>
          </a:p>
        </p:txBody>
      </p:sp>
      <p:sp>
        <p:nvSpPr>
          <p:cNvPr id="12" name="Card1Actor"/>
          <p:cNvSpPr/>
          <p:nvPr/>
        </p:nvSpPr>
        <p:spPr>
          <a:xfrm>
            <a:off x="472000" y="2400000"/>
            <a:ext cx="19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Anthropic</a:t>
            </a:r>
            <a:endParaRPr lang="en-US" sz="1500" dirty="0"/>
          </a:p>
        </p:txBody>
      </p:sp>
      <p:sp>
        <p:nvSpPr>
          <p:cNvPr id="13" name="Card1Desc"/>
          <p:cNvSpPr/>
          <p:nvPr/>
        </p:nvSpPr>
        <p:spPr>
          <a:xfrm>
            <a:off x="472000" y="2830000"/>
            <a:ext cx="1900000" cy="8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DCFC"/>
                </a:solidFill>
              </a:rPr>
              <a:t>Agent Skills</a:t>
            </a:r>
            <a:br>
              <a:rPr lang="en-US" sz="1200" dirty="0"/>
            </a:br>
            <a:r>
              <a:rPr lang="ko-KR" altLang="en-US" sz="1200" b="1" dirty="0">
                <a:solidFill>
                  <a:srgbClr val="4FC3F7"/>
                </a:solidFill>
              </a:rPr>
              <a:t>오픈 표준 공개</a:t>
            </a:r>
            <a:endParaRPr lang="en-US" sz="1200" dirty="0"/>
          </a:p>
        </p:txBody>
      </p:sp>
      <p:sp>
        <p:nvSpPr>
          <p:cNvPr id="20" name="Card2Box"/>
          <p:cNvSpPr/>
          <p:nvPr/>
        </p:nvSpPr>
        <p:spPr>
          <a:xfrm>
            <a:off x="2572000" y="1750000"/>
            <a:ext cx="1900000" cy="198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FBBF24"/>
            </a:solidFill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Card2Date"/>
          <p:cNvSpPr/>
          <p:nvPr/>
        </p:nvSpPr>
        <p:spPr>
          <a:xfrm>
            <a:off x="2572000" y="1830000"/>
            <a:ext cx="190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BB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+48h</a:t>
            </a:r>
            <a:endParaRPr lang="en-US" sz="2400" dirty="0"/>
          </a:p>
        </p:txBody>
      </p:sp>
      <p:sp>
        <p:nvSpPr>
          <p:cNvPr id="22" name="Card2Actor"/>
          <p:cNvSpPr/>
          <p:nvPr/>
        </p:nvSpPr>
        <p:spPr>
          <a:xfrm>
            <a:off x="2572000" y="2400000"/>
            <a:ext cx="19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Microsoft · OpenAI</a:t>
            </a:r>
            <a:endParaRPr lang="en-US" sz="1500" dirty="0"/>
          </a:p>
        </p:txBody>
      </p:sp>
      <p:sp>
        <p:nvSpPr>
          <p:cNvPr id="23" name="Card2Desc"/>
          <p:cNvSpPr/>
          <p:nvPr/>
        </p:nvSpPr>
        <p:spPr>
          <a:xfrm>
            <a:off x="2572000" y="2830000"/>
            <a:ext cx="1900000" cy="8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DCFC"/>
                </a:solidFill>
              </a:rPr>
              <a:t>VS Code · Copilot</a:t>
            </a:r>
            <a:br>
              <a:rPr lang="en-US" sz="1200" dirty="0"/>
            </a:br>
            <a:r>
              <a:rPr lang="en-US" sz="1200" dirty="0">
                <a:solidFill>
                  <a:srgbClr val="C8DCFC"/>
                </a:solidFill>
              </a:rPr>
              <a:t>ChatGPT · Codex </a:t>
            </a:r>
            <a:r>
              <a:rPr lang="ko-KR" altLang="en-US" sz="1200" b="1" dirty="0">
                <a:solidFill>
                  <a:srgbClr val="FBBF24"/>
                </a:solidFill>
              </a:rPr>
              <a:t>즉시 지원</a:t>
            </a:r>
            <a:endParaRPr lang="en-US" sz="1200" dirty="0"/>
          </a:p>
        </p:txBody>
      </p:sp>
      <p:sp>
        <p:nvSpPr>
          <p:cNvPr id="30" name="Card3Box"/>
          <p:cNvSpPr/>
          <p:nvPr/>
        </p:nvSpPr>
        <p:spPr>
          <a:xfrm>
            <a:off x="4672000" y="1750000"/>
            <a:ext cx="1900000" cy="198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A78BFA"/>
            </a:solidFill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1" name="Card3Date"/>
          <p:cNvSpPr/>
          <p:nvPr/>
        </p:nvSpPr>
        <p:spPr>
          <a:xfrm>
            <a:off x="4672000" y="1830000"/>
            <a:ext cx="190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2026.01</a:t>
            </a:r>
            <a:endParaRPr lang="en-US" sz="2400" dirty="0"/>
          </a:p>
        </p:txBody>
      </p:sp>
      <p:sp>
        <p:nvSpPr>
          <p:cNvPr id="32" name="Card3Actor"/>
          <p:cNvSpPr/>
          <p:nvPr/>
        </p:nvSpPr>
        <p:spPr>
          <a:xfrm>
            <a:off x="4672000" y="2400000"/>
            <a:ext cx="19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</a:t>
            </a:r>
            <a:endParaRPr lang="en-US" sz="1500" dirty="0"/>
          </a:p>
        </p:txBody>
      </p:sp>
      <p:sp>
        <p:nvSpPr>
          <p:cNvPr id="33" name="Card3Desc"/>
          <p:cNvSpPr/>
          <p:nvPr/>
        </p:nvSpPr>
        <p:spPr>
          <a:xfrm>
            <a:off x="4672000" y="2830000"/>
            <a:ext cx="1900000" cy="8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DCFC"/>
                </a:solidFill>
              </a:rPr>
              <a:t>Antigravity</a:t>
            </a:r>
            <a:br>
              <a:rPr lang="en-US" sz="1200" dirty="0"/>
            </a:br>
            <a:r>
              <a:rPr lang="ko-KR" altLang="en-US" sz="1200" b="1" dirty="0">
                <a:solidFill>
                  <a:srgbClr val="A78BFA"/>
                </a:solidFill>
              </a:rPr>
              <a:t>표준 채택</a:t>
            </a:r>
            <a:endParaRPr lang="en-US" sz="1200" dirty="0"/>
          </a:p>
        </p:txBody>
      </p:sp>
      <p:sp>
        <p:nvSpPr>
          <p:cNvPr id="40" name="Card4Box"/>
          <p:cNvSpPr/>
          <p:nvPr/>
        </p:nvSpPr>
        <p:spPr>
          <a:xfrm>
            <a:off x="6772000" y="1750000"/>
            <a:ext cx="1900000" cy="198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34D399"/>
            </a:solidFill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Card4Date"/>
          <p:cNvSpPr/>
          <p:nvPr/>
        </p:nvSpPr>
        <p:spPr>
          <a:xfrm>
            <a:off x="6772000" y="1830000"/>
            <a:ext cx="190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2026.03</a:t>
            </a:r>
            <a:endParaRPr lang="en-US" sz="2400" dirty="0"/>
          </a:p>
        </p:txBody>
      </p:sp>
      <p:sp>
        <p:nvSpPr>
          <p:cNvPr id="42" name="Card4Actor"/>
          <p:cNvSpPr/>
          <p:nvPr/>
        </p:nvSpPr>
        <p:spPr>
          <a:xfrm>
            <a:off x="6772000" y="2400000"/>
            <a:ext cx="19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32+ 도구</a:t>
            </a:r>
            <a:endParaRPr lang="en-US" sz="1500" dirty="0"/>
          </a:p>
        </p:txBody>
      </p:sp>
      <p:sp>
        <p:nvSpPr>
          <p:cNvPr id="43" name="Card4Desc"/>
          <p:cNvSpPr/>
          <p:nvPr/>
        </p:nvSpPr>
        <p:spPr>
          <a:xfrm>
            <a:off x="6772000" y="2830000"/>
            <a:ext cx="1900000" cy="8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DCFC"/>
                </a:solidFill>
              </a:rPr>
              <a:t>JetBrains · AWS Kiro</a:t>
            </a:r>
            <a:br>
              <a:rPr lang="en-US" sz="1200" dirty="0"/>
            </a:br>
            <a:r>
              <a:rPr lang="en-US" sz="1200" dirty="0">
                <a:solidFill>
                  <a:srgbClr val="C8DCFC"/>
                </a:solidFill>
              </a:rPr>
              <a:t>Cursor </a:t>
            </a:r>
            <a:r>
              <a:rPr lang="ko-KR" altLang="en-US" sz="1200" dirty="0">
                <a:solidFill>
                  <a:srgbClr val="C8DCFC"/>
                </a:solidFill>
              </a:rPr>
              <a:t>등 </a:t>
            </a:r>
            <a:r>
              <a:rPr lang="ko-KR" altLang="en-US" sz="1200" b="1" dirty="0">
                <a:solidFill>
                  <a:srgbClr val="34D399"/>
                </a:solidFill>
              </a:rPr>
              <a:t>확산</a:t>
            </a:r>
            <a:endParaRPr lang="en-US" sz="1200" dirty="0"/>
          </a:p>
        </p:txBody>
      </p:sp>
      <p:sp>
        <p:nvSpPr>
          <p:cNvPr id="50" name="ClosingBox"/>
          <p:cNvSpPr/>
          <p:nvPr/>
        </p:nvSpPr>
        <p:spPr>
          <a:xfrm>
            <a:off x="800000" y="4180000"/>
            <a:ext cx="7544000" cy="82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25400">
            <a:solidFill>
              <a:srgbClr val="4FC3F7"/>
            </a:solidFill>
          </a:ln>
        </p:spPr>
      </p:sp>
      <p:sp>
        <p:nvSpPr>
          <p:cNvPr id="51" name="ClosingText"/>
          <p:cNvSpPr/>
          <p:nvPr/>
        </p:nvSpPr>
        <p:spPr>
          <a:xfrm>
            <a:off x="800000" y="4180000"/>
            <a:ext cx="7544000" cy="8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900" b="1" dirty="0">
                <a:solidFill>
                  <a:srgbClr val="FFFFFF"/>
                </a:solidFill>
              </a:rPr>
              <a:t>지금 익힐 것 = </a:t>
            </a:r>
            <a:r>
              <a:rPr lang="en-US" sz="1900" b="1" dirty="0">
                <a:solidFill>
                  <a:srgbClr val="4FC3F7"/>
                </a:solidFill>
              </a:rPr>
              <a:t>SKILL.md </a:t>
            </a:r>
            <a:r>
              <a:rPr lang="en-US" sz="1900" b="1" dirty="0">
                <a:solidFill>
                  <a:srgbClr val="8899BB"/>
                </a:solidFill>
              </a:rPr>
              <a:t>· </a:t>
            </a:r>
            <a:r>
              <a:rPr lang="en-US" sz="1900" b="1" dirty="0">
                <a:solidFill>
                  <a:srgbClr val="4FC3F7"/>
                </a:solidFill>
              </a:rPr>
              <a:t>CLAUDE.md </a:t>
            </a:r>
            <a:r>
              <a:rPr lang="en-US" sz="1900" b="1" dirty="0">
                <a:solidFill>
                  <a:srgbClr val="8899BB"/>
                </a:solidFill>
              </a:rPr>
              <a:t>· </a:t>
            </a:r>
            <a:r>
              <a:rPr lang="en-US" sz="1900" b="1" dirty="0">
                <a:solidFill>
                  <a:srgbClr val="4FC3F7"/>
                </a:solidFill>
              </a:rPr>
              <a:t>AGENTS.md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정리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9BB"/>
                </a:solidFill>
              </a:rPr>
              <a:t>모든 구성 요소가 필수는 아닙니다 — 규모·비용·시간을 고려해 적절히 선택하세요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2651760" cy="1353312"/>
          </a:xfrm>
          <a:prstGeom prst="rect">
            <a:avLst/>
          </a:prstGeom>
          <a:solidFill>
            <a:srgbClr val="252D4D"/>
          </a:solidFill>
          <a:ln w="19050">
            <a:solidFill>
              <a:srgbClr val="4FC3F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98448"/>
            <a:ext cx="26517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1435608"/>
            <a:ext cx="402336" cy="402336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4356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A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87552" y="1435608"/>
            <a:ext cx="1901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흐름 파악이 핵심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" y="1920240"/>
            <a:ext cx="23957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 요소가 어떻게 연결되는지 이해하는 것이 단순 사용보다 중요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298448"/>
            <a:ext cx="2651760" cy="1353312"/>
          </a:xfrm>
          <a:prstGeom prst="rect">
            <a:avLst/>
          </a:prstGeom>
          <a:solidFill>
            <a:srgbClr val="252D4D"/>
          </a:solidFill>
          <a:ln w="19050">
            <a:solidFill>
              <a:srgbClr val="34D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1298448"/>
            <a:ext cx="265176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4136" y="1435608"/>
            <a:ext cx="402336" cy="40233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74136" y="14356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A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67912" y="1435608"/>
            <a:ext cx="1901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Docs가 기반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74136" y="1920240"/>
            <a:ext cx="23957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하나만 잘 써도 AI의 코딩 일관성이 크게 향상됨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1298448"/>
            <a:ext cx="2651760" cy="1353312"/>
          </a:xfrm>
          <a:prstGeom prst="rect">
            <a:avLst/>
          </a:prstGeom>
          <a:solidFill>
            <a:srgbClr val="252D4D"/>
          </a:solidFill>
          <a:ln w="19050">
            <a:solidFill>
              <a:srgbClr val="FBBF24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298448"/>
            <a:ext cx="265176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54496" y="1435608"/>
            <a:ext cx="402336" cy="40233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14356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A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8272" y="1435608"/>
            <a:ext cx="1901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= 토큰 절약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54496" y="1920240"/>
            <a:ext cx="23957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/명령어로 긴 프롬프트를 대체. 반복 작업은 Skills로 정의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2816352"/>
            <a:ext cx="2651760" cy="1353312"/>
          </a:xfrm>
          <a:prstGeom prst="rect">
            <a:avLst/>
          </a:prstGeom>
          <a:solidFill>
            <a:srgbClr val="252D4D"/>
          </a:solidFill>
          <a:ln w="19050">
            <a:solidFill>
              <a:srgbClr val="A78BF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2816352"/>
            <a:ext cx="265176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" y="2953512"/>
            <a:ext cx="402336" cy="40233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" y="29535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A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87552" y="2953512"/>
            <a:ext cx="1901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Subagent는 도구별 차이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" y="3438144"/>
            <a:ext cx="23957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도구마다 지원 방식이 다르므로 실행 전 환경 확인 필요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46120" y="2816352"/>
            <a:ext cx="2651760" cy="1353312"/>
          </a:xfrm>
          <a:prstGeom prst="rect">
            <a:avLst/>
          </a:prstGeom>
          <a:solidFill>
            <a:srgbClr val="252D4D"/>
          </a:solidFill>
          <a:ln w="19050">
            <a:solidFill>
              <a:srgbClr val="F472B6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46120" y="2816352"/>
            <a:ext cx="265176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74136" y="2953512"/>
            <a:ext cx="402336" cy="402336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74136" y="29535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A"/>
                </a:solidFill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67912" y="2953512"/>
            <a:ext cx="1901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472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Hooks는</a:t>
            </a:r>
            <a:r>
              <a:rPr lang="en-US" sz="1200" b="1" dirty="0">
                <a:solidFill>
                  <a:srgbClr val="F472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1200" b="1" dirty="0">
                <a:solidFill>
                  <a:srgbClr val="F472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트리거</a:t>
            </a:r>
            <a:r>
              <a:rPr lang="en-US" sz="1200" b="1" dirty="0">
                <a:solidFill>
                  <a:srgbClr val="F472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필요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374136" y="3438144"/>
            <a:ext cx="23957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실행은 Git Hook 등 외부 트리거 연동 + </a:t>
            </a:r>
            <a:r>
              <a:rPr lang="en-US" sz="1200" dirty="0" err="1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</a:t>
            </a: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스크립트</a:t>
            </a: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또는 호출 필요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126480" y="2816352"/>
            <a:ext cx="2651760" cy="1353312"/>
          </a:xfrm>
          <a:prstGeom prst="rect">
            <a:avLst/>
          </a:prstGeom>
          <a:solidFill>
            <a:srgbClr val="252D4D"/>
          </a:solidFill>
          <a:ln w="19050">
            <a:solidFill>
              <a:srgbClr val="2DD4BF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26480" y="2816352"/>
            <a:ext cx="2651760" cy="5486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4496" y="2953512"/>
            <a:ext cx="402336" cy="40233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54496" y="29535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F3A"/>
                </a:solidFill>
              </a:rPr>
              <a:t>06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48272" y="2953512"/>
            <a:ext cx="1901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도구마다 방식이 다름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54496" y="3438144"/>
            <a:ext cx="23957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Claude·Codex는 통합, Gemini·Antigravity는 Commands 별도 작성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2577</Words>
  <Application>Microsoft Office PowerPoint</Application>
  <PresentationFormat>화면 슬라이드 쇼(16:9)</PresentationFormat>
  <Paragraphs>409</Paragraphs>
  <Slides>18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맑은 고딕</vt:lpstr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완전 가이드 v3</dc:title>
  <dc:subject>PptxGenJS Presentation</dc:subject>
  <dc:creator>PptxGenJS</dc:creator>
  <cp:lastModifiedBy>현범 이</cp:lastModifiedBy>
  <cp:revision>18</cp:revision>
  <dcterms:created xsi:type="dcterms:W3CDTF">2026-02-23T07:17:00Z</dcterms:created>
  <dcterms:modified xsi:type="dcterms:W3CDTF">2026-07-15T00:47:39Z</dcterms:modified>
</cp:coreProperties>
</file>