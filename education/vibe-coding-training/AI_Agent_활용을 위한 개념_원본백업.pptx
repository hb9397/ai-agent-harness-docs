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6" autoAdjust="0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3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14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otion.so/AI-30531c9ba56180529f93d788c26f9b14?source=copy_lin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251460"/>
            <a:ext cx="3474720" cy="347472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708660"/>
            <a:ext cx="2560320" cy="2560320"/>
          </a:xfrm>
          <a:prstGeom prst="ellipse">
            <a:avLst/>
          </a:prstGeom>
          <a:solidFill>
            <a:srgbClr val="252D4D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0866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dirty="0">
                <a:solidFill>
                  <a:srgbClr val="000000"/>
                </a:solidFill>
              </a:rPr>
              <a:t>🤖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640080" y="59436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활용한 개발 환경 소개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640080" y="2487168"/>
            <a:ext cx="201168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633472"/>
            <a:ext cx="1828800" cy="384048"/>
          </a:xfrm>
          <a:prstGeom prst="rect">
            <a:avLst/>
          </a:prstGeom>
          <a:solidFill>
            <a:srgbClr val="252D4D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334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DCFC"/>
                </a:solidFill>
              </a:rPr>
              <a:t>AI Docs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51760" y="2633472"/>
            <a:ext cx="1828800" cy="384048"/>
          </a:xfrm>
          <a:prstGeom prst="rect">
            <a:avLst/>
          </a:prstGeom>
          <a:solidFill>
            <a:srgbClr val="252D4D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26334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DCFC"/>
                </a:solidFill>
              </a:rPr>
              <a:t>Skills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633472"/>
            <a:ext cx="1828800" cy="384048"/>
          </a:xfrm>
          <a:prstGeom prst="rect">
            <a:avLst/>
          </a:prstGeom>
          <a:solidFill>
            <a:srgbClr val="252D4D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6334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DCFC"/>
                </a:solidFill>
              </a:rPr>
              <a:t>Commands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1828800" cy="384048"/>
          </a:xfrm>
          <a:prstGeom prst="rect">
            <a:avLst/>
          </a:prstGeom>
          <a:solidFill>
            <a:srgbClr val="252D4D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108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DCFC"/>
                </a:solidFill>
              </a:rPr>
              <a:t>Hooks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51760" y="3108960"/>
            <a:ext cx="1828800" cy="384048"/>
          </a:xfrm>
          <a:prstGeom prst="rect">
            <a:avLst/>
          </a:prstGeom>
          <a:solidFill>
            <a:srgbClr val="252D4D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0" y="3108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DCFC"/>
                </a:solidFill>
              </a:rPr>
              <a:t>MCP &amp; Plugin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3108960"/>
            <a:ext cx="1828800" cy="384048"/>
          </a:xfrm>
          <a:prstGeom prst="rect">
            <a:avLst/>
          </a:prstGeom>
          <a:solidFill>
            <a:srgbClr val="252D4D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108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DCFC"/>
                </a:solidFill>
              </a:rPr>
              <a:t>Subagent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-195029" y="4626864"/>
            <a:ext cx="953405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050" b="1" dirty="0">
                <a:solidFill>
                  <a:srgbClr val="8899BB"/>
                </a:solidFill>
              </a:rPr>
              <a:t>| </a:t>
            </a:r>
            <a:r>
              <a:rPr lang="en-US" sz="1050" b="1" dirty="0" err="1">
                <a:solidFill>
                  <a:srgbClr val="8899BB"/>
                </a:solidFill>
              </a:rPr>
              <a:t>최종</a:t>
            </a:r>
            <a:r>
              <a:rPr lang="en-US" sz="1050" b="1" dirty="0">
                <a:solidFill>
                  <a:srgbClr val="8899BB"/>
                </a:solidFill>
              </a:rPr>
              <a:t> 업데이트</a:t>
            </a:r>
            <a:r>
              <a:rPr lang="en-US" sz="1050" dirty="0">
                <a:solidFill>
                  <a:srgbClr val="8899BB"/>
                </a:solidFill>
              </a:rPr>
              <a:t>: 2026-06-28  </a:t>
            </a:r>
            <a:r>
              <a:rPr lang="en-US" sz="1050" b="1" dirty="0">
                <a:solidFill>
                  <a:srgbClr val="8899BB"/>
                </a:solidFill>
              </a:rPr>
              <a:t>|</a:t>
            </a:r>
            <a:r>
              <a:rPr lang="en-US" sz="1050" dirty="0">
                <a:solidFill>
                  <a:srgbClr val="8899BB"/>
                </a:solidFill>
              </a:rPr>
              <a:t>  </a:t>
            </a:r>
            <a:r>
              <a:rPr lang="en-US" sz="1050" b="1" dirty="0">
                <a:solidFill>
                  <a:srgbClr val="8899BB"/>
                </a:solidFill>
              </a:rPr>
              <a:t>대상</a:t>
            </a:r>
            <a:r>
              <a:rPr lang="en-US" sz="1050" dirty="0">
                <a:solidFill>
                  <a:srgbClr val="8899BB"/>
                </a:solidFill>
              </a:rPr>
              <a:t>: Claude Code · OpenAI Codex · Gemini · Google Antigravity · </a:t>
            </a:r>
            <a:r>
              <a:rPr lang="en-US" sz="1050" dirty="0" err="1">
                <a:solidFill>
                  <a:srgbClr val="8899BB"/>
                </a:solidFill>
              </a:rPr>
              <a:t>VSCode</a:t>
            </a:r>
            <a:r>
              <a:rPr lang="en-US" sz="1050" dirty="0">
                <a:solidFill>
                  <a:srgbClr val="8899BB"/>
                </a:solidFill>
              </a:rPr>
              <a:t> </a:t>
            </a:r>
            <a:r>
              <a:rPr lang="en-US" sz="1050" b="1" dirty="0">
                <a:solidFill>
                  <a:srgbClr val="8899BB"/>
                </a:solidFill>
              </a:rPr>
              <a:t>|</a:t>
            </a:r>
            <a:r>
              <a:rPr lang="en-US" sz="1050" dirty="0">
                <a:solidFill>
                  <a:srgbClr val="8899BB"/>
                </a:solidFill>
              </a:rPr>
              <a:t> </a:t>
            </a:r>
            <a:r>
              <a:rPr lang="ko-KR" altLang="en-US" sz="1050" b="1" dirty="0">
                <a:solidFill>
                  <a:srgbClr val="8899BB"/>
                </a:solidFill>
              </a:rPr>
              <a:t>가이드문서</a:t>
            </a:r>
            <a:r>
              <a:rPr lang="ko-KR" altLang="en-US" sz="1050" dirty="0">
                <a:solidFill>
                  <a:srgbClr val="8899BB"/>
                </a:solidFill>
              </a:rPr>
              <a:t> </a:t>
            </a:r>
            <a:r>
              <a:rPr lang="en-US" altLang="ko-KR" sz="1050" dirty="0">
                <a:solidFill>
                  <a:srgbClr val="8899BB"/>
                </a:solidFill>
              </a:rPr>
              <a:t>: </a:t>
            </a:r>
            <a:r>
              <a:rPr lang="en-US" altLang="ko-KR" sz="1050" dirty="0">
                <a:solidFill>
                  <a:srgbClr val="8899BB"/>
                </a:solidFill>
                <a:hlinkClick r:id="rId3"/>
              </a:rPr>
              <a:t>AI </a:t>
            </a:r>
            <a:r>
              <a:rPr lang="ko-KR" altLang="en-US" sz="1050" dirty="0">
                <a:solidFill>
                  <a:srgbClr val="8899BB"/>
                </a:solidFill>
                <a:hlinkClick r:id="rId3"/>
              </a:rPr>
              <a:t>가이드 및 자동화 제어</a:t>
            </a:r>
            <a:r>
              <a:rPr lang="en-US" altLang="ko-KR" sz="1050" dirty="0">
                <a:solidFill>
                  <a:srgbClr val="8899BB"/>
                </a:solidFill>
                <a:hlinkClick r:id="rId3"/>
              </a:rPr>
              <a:t>(</a:t>
            </a:r>
            <a:r>
              <a:rPr lang="ko-KR" altLang="en-US" sz="1050" dirty="0">
                <a:solidFill>
                  <a:srgbClr val="8899BB"/>
                </a:solidFill>
                <a:hlinkClick r:id="rId3"/>
              </a:rPr>
              <a:t>개발환경 세팅</a:t>
            </a:r>
            <a:r>
              <a:rPr lang="en-US" altLang="ko-KR" sz="1050" dirty="0">
                <a:solidFill>
                  <a:srgbClr val="8899BB"/>
                </a:solidFill>
                <a:hlinkClick r:id="rId3"/>
              </a:rPr>
              <a:t>)</a:t>
            </a:r>
            <a:r>
              <a:rPr lang="en-US" altLang="ko-KR" sz="1050" b="1" dirty="0">
                <a:solidFill>
                  <a:srgbClr val="8899BB"/>
                </a:solidFill>
              </a:rPr>
              <a:t>|</a:t>
            </a:r>
            <a:endParaRPr lang="en-US" sz="1050" dirty="0">
              <a:solidFill>
                <a:srgbClr val="8899B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Agent란? &amp; 전체 구성 요소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633982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6437" y="832104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목표를 주면 스스로 계획을 세우고, 도구를 사용하고, 결과를 검토하며 작업을 </a:t>
            </a:r>
            <a:r>
              <a:rPr lang="en-US" sz="1500" dirty="0" err="1">
                <a:solidFill>
                  <a:srgbClr val="FFFFFF"/>
                </a:solidFill>
              </a:rPr>
              <a:t>완료하는</a:t>
            </a:r>
            <a:r>
              <a:rPr lang="en-US" sz="1500" dirty="0">
                <a:solidFill>
                  <a:srgbClr val="FFFFFF"/>
                </a:solidFill>
              </a:rPr>
              <a:t>  </a:t>
            </a:r>
            <a:br>
              <a:rPr lang="en-US" sz="1500" dirty="0">
                <a:solidFill>
                  <a:srgbClr val="FFFFFF"/>
                </a:solidFill>
              </a:rPr>
            </a:br>
            <a:r>
              <a:rPr lang="en-US" sz="1500" b="1" dirty="0" err="1">
                <a:solidFill>
                  <a:srgbClr val="4FC3F7"/>
                </a:solidFill>
              </a:rPr>
              <a:t>자율적인</a:t>
            </a:r>
            <a:r>
              <a:rPr lang="en-US" sz="1500" b="1" dirty="0">
                <a:solidFill>
                  <a:srgbClr val="4FC3F7"/>
                </a:solidFill>
              </a:rPr>
              <a:t> AI 실행 단위</a:t>
            </a:r>
            <a:endParaRPr lang="en-US" sz="1500" dirty="0"/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15CC18E4-24BF-49D5-BA73-3125DB258BC7}"/>
              </a:ext>
            </a:extLst>
          </p:cNvPr>
          <p:cNvGrpSpPr/>
          <p:nvPr/>
        </p:nvGrpSpPr>
        <p:grpSpPr>
          <a:xfrm>
            <a:off x="365755" y="3089074"/>
            <a:ext cx="8633987" cy="1234440"/>
            <a:chOff x="365755" y="1755648"/>
            <a:chExt cx="8633987" cy="1234440"/>
          </a:xfrm>
        </p:grpSpPr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8B1E077C-9F9F-4C41-BA0A-614FFC025584}"/>
                </a:ext>
              </a:extLst>
            </p:cNvPr>
            <p:cNvGrpSpPr/>
            <p:nvPr/>
          </p:nvGrpSpPr>
          <p:grpSpPr>
            <a:xfrm>
              <a:off x="365755" y="1755648"/>
              <a:ext cx="1353312" cy="1234440"/>
              <a:chOff x="148350" y="1755648"/>
              <a:chExt cx="1353312" cy="1234440"/>
            </a:xfrm>
          </p:grpSpPr>
          <p:sp>
            <p:nvSpPr>
              <p:cNvPr id="6" name="Shape 4"/>
              <p:cNvSpPr/>
              <p:nvPr/>
            </p:nvSpPr>
            <p:spPr>
              <a:xfrm>
                <a:off x="148350" y="1755648"/>
                <a:ext cx="1353312" cy="123444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34D399"/>
                </a:solidFill>
                <a:prstDash val="solid"/>
              </a:ln>
              <a:effectLst>
                <a:outerShdw blurRad="101600" dist="25400" dir="8100000" algn="bl" rotWithShape="0">
                  <a:srgbClr val="000000">
                    <a:alpha val="15000"/>
                  </a:srgbClr>
                </a:outerShdw>
              </a:effectLst>
            </p:spPr>
          </p:sp>
          <p:sp>
            <p:nvSpPr>
              <p:cNvPr id="7" name="Shape 5"/>
              <p:cNvSpPr/>
              <p:nvPr/>
            </p:nvSpPr>
            <p:spPr>
              <a:xfrm>
                <a:off x="148350" y="1755648"/>
                <a:ext cx="1353312" cy="45720"/>
              </a:xfrm>
              <a:prstGeom prst="rect">
                <a:avLst/>
              </a:prstGeom>
              <a:solidFill>
                <a:srgbClr val="34D399"/>
              </a:solidFill>
              <a:ln w="12700">
                <a:solidFill>
                  <a:srgbClr val="34D399"/>
                </a:solidFill>
                <a:prstDash val="solid"/>
              </a:ln>
            </p:spPr>
          </p:sp>
          <p:sp>
            <p:nvSpPr>
              <p:cNvPr id="8" name="Text 6"/>
              <p:cNvSpPr/>
              <p:nvPr/>
            </p:nvSpPr>
            <p:spPr>
              <a:xfrm>
                <a:off x="148350" y="1828800"/>
                <a:ext cx="1353312" cy="43891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dirty="0">
                    <a:solidFill>
                      <a:srgbClr val="000000"/>
                    </a:solidFill>
                  </a:rPr>
                  <a:t>📄</a:t>
                </a:r>
                <a:endParaRPr lang="en-US" sz="2200" dirty="0"/>
              </a:p>
            </p:txBody>
          </p:sp>
          <p:sp>
            <p:nvSpPr>
              <p:cNvPr id="9" name="Text 7"/>
              <p:cNvSpPr/>
              <p:nvPr/>
            </p:nvSpPr>
            <p:spPr>
              <a:xfrm>
                <a:off x="221502" y="2286000"/>
                <a:ext cx="1207008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34D399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AI Docs</a:t>
                </a:r>
                <a:endParaRPr lang="en-US" sz="1300" dirty="0"/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221502" y="2578608"/>
                <a:ext cx="1207008" cy="34747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8899BB"/>
                    </a:solidFill>
                  </a:rPr>
                  <a:t>프로젝트 맥락 전달 문서</a:t>
                </a:r>
                <a:endParaRPr lang="en-US" sz="1100" dirty="0"/>
              </a:p>
            </p:txBody>
          </p:sp>
        </p:grp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E95BA307-65BB-484B-B085-983BC25724D0}"/>
                </a:ext>
              </a:extLst>
            </p:cNvPr>
            <p:cNvGrpSpPr/>
            <p:nvPr/>
          </p:nvGrpSpPr>
          <p:grpSpPr>
            <a:xfrm>
              <a:off x="1839794" y="1755648"/>
              <a:ext cx="1353312" cy="1234440"/>
              <a:chOff x="1647966" y="1755648"/>
              <a:chExt cx="1353312" cy="1234440"/>
            </a:xfrm>
          </p:grpSpPr>
          <p:sp>
            <p:nvSpPr>
              <p:cNvPr id="11" name="Shape 9"/>
              <p:cNvSpPr/>
              <p:nvPr/>
            </p:nvSpPr>
            <p:spPr>
              <a:xfrm>
                <a:off x="1647966" y="1755648"/>
                <a:ext cx="1353312" cy="123444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4FC3F7"/>
                </a:solidFill>
                <a:prstDash val="solid"/>
              </a:ln>
              <a:effectLst>
                <a:outerShdw blurRad="101600" dist="25400" dir="8100000" algn="bl" rotWithShape="0">
                  <a:srgbClr val="000000">
                    <a:alpha val="15000"/>
                  </a:srgbClr>
                </a:outerShdw>
              </a:effectLst>
            </p:spPr>
          </p:sp>
          <p:sp>
            <p:nvSpPr>
              <p:cNvPr id="12" name="Shape 10"/>
              <p:cNvSpPr/>
              <p:nvPr/>
            </p:nvSpPr>
            <p:spPr>
              <a:xfrm>
                <a:off x="1647966" y="1755648"/>
                <a:ext cx="1353312" cy="45720"/>
              </a:xfrm>
              <a:prstGeom prst="rect">
                <a:avLst/>
              </a:prstGeom>
              <a:solidFill>
                <a:srgbClr val="4FC3F7"/>
              </a:solidFill>
              <a:ln w="12700">
                <a:solidFill>
                  <a:srgbClr val="4FC3F7"/>
                </a:solidFill>
                <a:prstDash val="solid"/>
              </a:ln>
            </p:spPr>
          </p:sp>
          <p:sp>
            <p:nvSpPr>
              <p:cNvPr id="13" name="Text 11"/>
              <p:cNvSpPr/>
              <p:nvPr/>
            </p:nvSpPr>
            <p:spPr>
              <a:xfrm>
                <a:off x="1647966" y="1828800"/>
                <a:ext cx="1353312" cy="43891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dirty="0">
                    <a:solidFill>
                      <a:srgbClr val="000000"/>
                    </a:solidFill>
                  </a:rPr>
                  <a:t>🛠</a:t>
                </a:r>
                <a:endParaRPr lang="en-US" sz="2200" dirty="0"/>
              </a:p>
            </p:txBody>
          </p:sp>
          <p:sp>
            <p:nvSpPr>
              <p:cNvPr id="14" name="Text 12"/>
              <p:cNvSpPr/>
              <p:nvPr/>
            </p:nvSpPr>
            <p:spPr>
              <a:xfrm>
                <a:off x="1721118" y="2286000"/>
                <a:ext cx="1207008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4FC3F7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Skills</a:t>
                </a:r>
                <a:endParaRPr lang="en-US" sz="1300" dirty="0"/>
              </a:p>
            </p:txBody>
          </p:sp>
          <p:sp>
            <p:nvSpPr>
              <p:cNvPr id="15" name="Text 13"/>
              <p:cNvSpPr/>
              <p:nvPr/>
            </p:nvSpPr>
            <p:spPr>
              <a:xfrm>
                <a:off x="1721118" y="2578608"/>
                <a:ext cx="1207008" cy="34747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8899BB"/>
                    </a:solidFill>
                  </a:rPr>
                  <a:t>재사용 가능한 작업 단위</a:t>
                </a:r>
                <a:endParaRPr lang="en-US" sz="1100" dirty="0"/>
              </a:p>
            </p:txBody>
          </p:sp>
        </p:grp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E9714A03-C841-4A1A-AB43-38F2CF57BB99}"/>
                </a:ext>
              </a:extLst>
            </p:cNvPr>
            <p:cNvGrpSpPr/>
            <p:nvPr/>
          </p:nvGrpSpPr>
          <p:grpSpPr>
            <a:xfrm>
              <a:off x="3294649" y="1755648"/>
              <a:ext cx="1353312" cy="1234440"/>
              <a:chOff x="3147582" y="1755648"/>
              <a:chExt cx="1353312" cy="1234440"/>
            </a:xfrm>
          </p:grpSpPr>
          <p:sp>
            <p:nvSpPr>
              <p:cNvPr id="16" name="Shape 14"/>
              <p:cNvSpPr/>
              <p:nvPr/>
            </p:nvSpPr>
            <p:spPr>
              <a:xfrm>
                <a:off x="3147582" y="1755648"/>
                <a:ext cx="1353312" cy="123444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FBBF24"/>
                </a:solidFill>
                <a:prstDash val="solid"/>
              </a:ln>
              <a:effectLst>
                <a:outerShdw blurRad="101600" dist="25400" dir="8100000" algn="bl" rotWithShape="0">
                  <a:srgbClr val="000000">
                    <a:alpha val="15000"/>
                  </a:srgbClr>
                </a:outerShdw>
              </a:effectLst>
            </p:spPr>
          </p:sp>
          <p:sp>
            <p:nvSpPr>
              <p:cNvPr id="17" name="Shape 15"/>
              <p:cNvSpPr/>
              <p:nvPr/>
            </p:nvSpPr>
            <p:spPr>
              <a:xfrm>
                <a:off x="3147582" y="1755648"/>
                <a:ext cx="1353312" cy="45720"/>
              </a:xfrm>
              <a:prstGeom prst="rect">
                <a:avLst/>
              </a:prstGeom>
              <a:solidFill>
                <a:srgbClr val="FBBF24"/>
              </a:solidFill>
              <a:ln w="12700">
                <a:solidFill>
                  <a:srgbClr val="FBBF24"/>
                </a:solidFill>
                <a:prstDash val="solid"/>
              </a:ln>
            </p:spPr>
          </p:sp>
          <p:sp>
            <p:nvSpPr>
              <p:cNvPr id="18" name="Text 16"/>
              <p:cNvSpPr/>
              <p:nvPr/>
            </p:nvSpPr>
            <p:spPr>
              <a:xfrm>
                <a:off x="3147582" y="1828800"/>
                <a:ext cx="1353312" cy="43891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dirty="0">
                    <a:solidFill>
                      <a:srgbClr val="000000"/>
                    </a:solidFill>
                  </a:rPr>
                  <a:t>⌨️</a:t>
                </a:r>
                <a:endParaRPr lang="en-US" sz="2200" dirty="0"/>
              </a:p>
            </p:txBody>
          </p:sp>
          <p:sp>
            <p:nvSpPr>
              <p:cNvPr id="19" name="Text 17"/>
              <p:cNvSpPr/>
              <p:nvPr/>
            </p:nvSpPr>
            <p:spPr>
              <a:xfrm>
                <a:off x="3220734" y="2286000"/>
                <a:ext cx="1207008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FBBF24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Commands</a:t>
                </a:r>
                <a:endParaRPr lang="en-US" sz="1300" dirty="0"/>
              </a:p>
            </p:txBody>
          </p:sp>
          <p:sp>
            <p:nvSpPr>
              <p:cNvPr id="20" name="Text 18"/>
              <p:cNvSpPr/>
              <p:nvPr/>
            </p:nvSpPr>
            <p:spPr>
              <a:xfrm>
                <a:off x="3220734" y="2578608"/>
                <a:ext cx="1207008" cy="34747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8899BB"/>
                    </a:solidFill>
                  </a:rPr>
                  <a:t>/</a:t>
                </a:r>
                <a:r>
                  <a:rPr lang="en-US" sz="1100" dirty="0" err="1">
                    <a:solidFill>
                      <a:srgbClr val="8899BB"/>
                    </a:solidFill>
                  </a:rPr>
                  <a:t>명령어</a:t>
                </a:r>
                <a:r>
                  <a:rPr lang="en-US" sz="1100" dirty="0">
                    <a:solidFill>
                      <a:srgbClr val="8899BB"/>
                    </a:solidFill>
                  </a:rPr>
                  <a:t> </a:t>
                </a:r>
                <a:br>
                  <a:rPr lang="en-US" sz="1100" dirty="0">
                    <a:solidFill>
                      <a:srgbClr val="8899BB"/>
                    </a:solidFill>
                  </a:rPr>
                </a:br>
                <a:r>
                  <a:rPr lang="en-US" sz="1100" dirty="0" err="1">
                    <a:solidFill>
                      <a:srgbClr val="8899BB"/>
                    </a:solidFill>
                  </a:rPr>
                  <a:t>실행</a:t>
                </a:r>
                <a:r>
                  <a:rPr lang="en-US" sz="1100" dirty="0">
                    <a:solidFill>
                      <a:srgbClr val="8899BB"/>
                    </a:solidFill>
                  </a:rPr>
                  <a:t> 트리거</a:t>
                </a:r>
                <a:endParaRPr lang="en-US" sz="1100" dirty="0"/>
              </a:p>
            </p:txBody>
          </p: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88A48A65-5B69-4D67-88CB-284F85869096}"/>
                </a:ext>
              </a:extLst>
            </p:cNvPr>
            <p:cNvGrpSpPr/>
            <p:nvPr/>
          </p:nvGrpSpPr>
          <p:grpSpPr>
            <a:xfrm>
              <a:off x="4749509" y="1755648"/>
              <a:ext cx="1353312" cy="1234440"/>
              <a:chOff x="4647198" y="1755648"/>
              <a:chExt cx="1353312" cy="1234440"/>
            </a:xfrm>
          </p:grpSpPr>
          <p:sp>
            <p:nvSpPr>
              <p:cNvPr id="21" name="Shape 19"/>
              <p:cNvSpPr/>
              <p:nvPr/>
            </p:nvSpPr>
            <p:spPr>
              <a:xfrm>
                <a:off x="4647198" y="1755648"/>
                <a:ext cx="1353312" cy="123444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A78BFA"/>
                </a:solidFill>
                <a:prstDash val="solid"/>
              </a:ln>
              <a:effectLst>
                <a:outerShdw blurRad="101600" dist="25400" dir="8100000" algn="bl" rotWithShape="0">
                  <a:srgbClr val="000000">
                    <a:alpha val="15000"/>
                  </a:srgbClr>
                </a:outerShdw>
              </a:effectLst>
            </p:spPr>
          </p:sp>
          <p:sp>
            <p:nvSpPr>
              <p:cNvPr id="22" name="Shape 20"/>
              <p:cNvSpPr/>
              <p:nvPr/>
            </p:nvSpPr>
            <p:spPr>
              <a:xfrm>
                <a:off x="4647198" y="1755648"/>
                <a:ext cx="1353312" cy="45720"/>
              </a:xfrm>
              <a:prstGeom prst="rect">
                <a:avLst/>
              </a:prstGeom>
              <a:solidFill>
                <a:srgbClr val="A78BFA"/>
              </a:solidFill>
              <a:ln w="12700">
                <a:solidFill>
                  <a:srgbClr val="A78BFA"/>
                </a:solidFill>
                <a:prstDash val="solid"/>
              </a:ln>
            </p:spPr>
          </p:sp>
          <p:sp>
            <p:nvSpPr>
              <p:cNvPr id="23" name="Text 21"/>
              <p:cNvSpPr/>
              <p:nvPr/>
            </p:nvSpPr>
            <p:spPr>
              <a:xfrm>
                <a:off x="4647198" y="1828800"/>
                <a:ext cx="1353312" cy="43891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dirty="0">
                    <a:solidFill>
                      <a:srgbClr val="000000"/>
                    </a:solidFill>
                  </a:rPr>
                  <a:t>🔗</a:t>
                </a:r>
                <a:endParaRPr lang="en-US" sz="2200" dirty="0"/>
              </a:p>
            </p:txBody>
          </p:sp>
          <p:sp>
            <p:nvSpPr>
              <p:cNvPr id="24" name="Text 22"/>
              <p:cNvSpPr/>
              <p:nvPr/>
            </p:nvSpPr>
            <p:spPr>
              <a:xfrm>
                <a:off x="4720350" y="2286000"/>
                <a:ext cx="1207008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A78BFA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Hooks</a:t>
                </a:r>
                <a:endParaRPr lang="en-US" sz="1300" dirty="0"/>
              </a:p>
            </p:txBody>
          </p:sp>
          <p:sp>
            <p:nvSpPr>
              <p:cNvPr id="25" name="Text 23"/>
              <p:cNvSpPr/>
              <p:nvPr/>
            </p:nvSpPr>
            <p:spPr>
              <a:xfrm>
                <a:off x="4720350" y="2578608"/>
                <a:ext cx="1207008" cy="34747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8899BB"/>
                    </a:solidFill>
                  </a:rPr>
                  <a:t>이벤트 </a:t>
                </a:r>
                <a:r>
                  <a:rPr lang="en-US" sz="1100" dirty="0" err="1">
                    <a:solidFill>
                      <a:srgbClr val="8899BB"/>
                    </a:solidFill>
                  </a:rPr>
                  <a:t>기반</a:t>
                </a:r>
                <a:r>
                  <a:rPr lang="en-US" sz="1100" dirty="0">
                    <a:solidFill>
                      <a:srgbClr val="8899BB"/>
                    </a:solidFill>
                  </a:rPr>
                  <a:t> </a:t>
                </a:r>
                <a:br>
                  <a:rPr lang="en-US" sz="1100" dirty="0">
                    <a:solidFill>
                      <a:srgbClr val="8899BB"/>
                    </a:solidFill>
                  </a:rPr>
                </a:br>
                <a:r>
                  <a:rPr lang="en-US" sz="1100" dirty="0" err="1">
                    <a:solidFill>
                      <a:srgbClr val="8899BB"/>
                    </a:solidFill>
                  </a:rPr>
                  <a:t>자동</a:t>
                </a:r>
                <a:r>
                  <a:rPr lang="en-US" sz="1100" dirty="0">
                    <a:solidFill>
                      <a:srgbClr val="8899BB"/>
                    </a:solidFill>
                  </a:rPr>
                  <a:t> 실행</a:t>
                </a:r>
                <a:endParaRPr lang="en-US" sz="1100" dirty="0"/>
              </a:p>
            </p:txBody>
          </p:sp>
        </p:grp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A84AAA50-9329-4565-8F3C-9166F155D54A}"/>
                </a:ext>
              </a:extLst>
            </p:cNvPr>
            <p:cNvGrpSpPr/>
            <p:nvPr/>
          </p:nvGrpSpPr>
          <p:grpSpPr>
            <a:xfrm>
              <a:off x="6039255" y="1755648"/>
              <a:ext cx="1657945" cy="1234440"/>
              <a:chOff x="5994497" y="1755648"/>
              <a:chExt cx="1657945" cy="1234440"/>
            </a:xfrm>
          </p:grpSpPr>
          <p:sp>
            <p:nvSpPr>
              <p:cNvPr id="26" name="Shape 24"/>
              <p:cNvSpPr/>
              <p:nvPr/>
            </p:nvSpPr>
            <p:spPr>
              <a:xfrm>
                <a:off x="6146814" y="1755648"/>
                <a:ext cx="1353312" cy="123444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F472B6"/>
                </a:solidFill>
                <a:prstDash val="solid"/>
              </a:ln>
              <a:effectLst>
                <a:outerShdw blurRad="101600" dist="25400" dir="8100000" algn="bl" rotWithShape="0">
                  <a:srgbClr val="000000">
                    <a:alpha val="15000"/>
                  </a:srgbClr>
                </a:outerShdw>
              </a:effectLst>
            </p:spPr>
          </p:sp>
          <p:sp>
            <p:nvSpPr>
              <p:cNvPr id="27" name="Shape 25"/>
              <p:cNvSpPr/>
              <p:nvPr/>
            </p:nvSpPr>
            <p:spPr>
              <a:xfrm>
                <a:off x="6146814" y="1755648"/>
                <a:ext cx="1353312" cy="45720"/>
              </a:xfrm>
              <a:prstGeom prst="rect">
                <a:avLst/>
              </a:prstGeom>
              <a:solidFill>
                <a:srgbClr val="F472B6"/>
              </a:solidFill>
              <a:ln w="12700">
                <a:solidFill>
                  <a:srgbClr val="F472B6"/>
                </a:solidFill>
                <a:prstDash val="solid"/>
              </a:ln>
            </p:spPr>
          </p:sp>
          <p:sp>
            <p:nvSpPr>
              <p:cNvPr id="28" name="Text 26"/>
              <p:cNvSpPr/>
              <p:nvPr/>
            </p:nvSpPr>
            <p:spPr>
              <a:xfrm>
                <a:off x="6146814" y="1828800"/>
                <a:ext cx="1353312" cy="43891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dirty="0">
                    <a:solidFill>
                      <a:srgbClr val="000000"/>
                    </a:solidFill>
                  </a:rPr>
                  <a:t>🔌</a:t>
                </a:r>
                <a:endParaRPr lang="en-US" sz="2200" dirty="0"/>
              </a:p>
            </p:txBody>
          </p:sp>
          <p:sp>
            <p:nvSpPr>
              <p:cNvPr id="29" name="Text 27"/>
              <p:cNvSpPr/>
              <p:nvPr/>
            </p:nvSpPr>
            <p:spPr>
              <a:xfrm>
                <a:off x="5994497" y="2286000"/>
                <a:ext cx="1657945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F472B6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MCP &amp; Plugin</a:t>
                </a:r>
                <a:endParaRPr lang="en-US" sz="1300" dirty="0"/>
              </a:p>
            </p:txBody>
          </p:sp>
          <p:sp>
            <p:nvSpPr>
              <p:cNvPr id="30" name="Text 28"/>
              <p:cNvSpPr/>
              <p:nvPr/>
            </p:nvSpPr>
            <p:spPr>
              <a:xfrm>
                <a:off x="6219966" y="2578608"/>
                <a:ext cx="1207008" cy="34747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8899BB"/>
                    </a:solidFill>
                  </a:rPr>
                  <a:t>외부 도구 연결 확장</a:t>
                </a:r>
                <a:endParaRPr lang="en-US" sz="1100" dirty="0"/>
              </a:p>
            </p:txBody>
          </p:sp>
        </p:grpSp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FF34BED4-1BB5-48A0-8949-F854BA9EB6BB}"/>
                </a:ext>
              </a:extLst>
            </p:cNvPr>
            <p:cNvGrpSpPr/>
            <p:nvPr/>
          </p:nvGrpSpPr>
          <p:grpSpPr>
            <a:xfrm>
              <a:off x="7646430" y="1755648"/>
              <a:ext cx="1353312" cy="1234440"/>
              <a:chOff x="7646430" y="1755648"/>
              <a:chExt cx="1353312" cy="1234440"/>
            </a:xfrm>
          </p:grpSpPr>
          <p:sp>
            <p:nvSpPr>
              <p:cNvPr id="31" name="Shape 29"/>
              <p:cNvSpPr/>
              <p:nvPr/>
            </p:nvSpPr>
            <p:spPr>
              <a:xfrm>
                <a:off x="7646430" y="1755648"/>
                <a:ext cx="1353312" cy="123444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2DD4BF"/>
                </a:solidFill>
                <a:prstDash val="solid"/>
              </a:ln>
              <a:effectLst>
                <a:outerShdw blurRad="101600" dist="25400" dir="8100000" algn="bl" rotWithShape="0">
                  <a:srgbClr val="000000">
                    <a:alpha val="15000"/>
                  </a:srgbClr>
                </a:outerShdw>
              </a:effectLst>
            </p:spPr>
          </p:sp>
          <p:sp>
            <p:nvSpPr>
              <p:cNvPr id="32" name="Shape 30"/>
              <p:cNvSpPr/>
              <p:nvPr/>
            </p:nvSpPr>
            <p:spPr>
              <a:xfrm>
                <a:off x="7646430" y="1755648"/>
                <a:ext cx="1353312" cy="45720"/>
              </a:xfrm>
              <a:prstGeom prst="rect">
                <a:avLst/>
              </a:prstGeom>
              <a:solidFill>
                <a:srgbClr val="2DD4BF"/>
              </a:solidFill>
              <a:ln w="12700">
                <a:solidFill>
                  <a:srgbClr val="2DD4BF"/>
                </a:solidFill>
                <a:prstDash val="solid"/>
              </a:ln>
            </p:spPr>
          </p:sp>
          <p:sp>
            <p:nvSpPr>
              <p:cNvPr id="33" name="Text 31"/>
              <p:cNvSpPr/>
              <p:nvPr/>
            </p:nvSpPr>
            <p:spPr>
              <a:xfrm>
                <a:off x="7646430" y="1828800"/>
                <a:ext cx="1353312" cy="43891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dirty="0">
                    <a:solidFill>
                      <a:srgbClr val="000000"/>
                    </a:solidFill>
                  </a:rPr>
                  <a:t>🤝</a:t>
                </a:r>
                <a:endParaRPr lang="en-US" sz="2200" dirty="0"/>
              </a:p>
            </p:txBody>
          </p:sp>
          <p:sp>
            <p:nvSpPr>
              <p:cNvPr id="34" name="Text 32"/>
              <p:cNvSpPr/>
              <p:nvPr/>
            </p:nvSpPr>
            <p:spPr>
              <a:xfrm>
                <a:off x="7719582" y="2286000"/>
                <a:ext cx="1207008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2DD4B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SubAgent</a:t>
                </a:r>
                <a:endParaRPr lang="en-US" sz="1300" dirty="0"/>
              </a:p>
            </p:txBody>
          </p:sp>
          <p:sp>
            <p:nvSpPr>
              <p:cNvPr id="35" name="Text 33"/>
              <p:cNvSpPr/>
              <p:nvPr/>
            </p:nvSpPr>
            <p:spPr>
              <a:xfrm>
                <a:off x="7719582" y="2578608"/>
                <a:ext cx="1207008" cy="34747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8899BB"/>
                    </a:solidFill>
                  </a:rPr>
                  <a:t>병렬 Agent </a:t>
                </a:r>
                <a:br>
                  <a:rPr lang="en-US" sz="1100" dirty="0">
                    <a:solidFill>
                      <a:srgbClr val="8899BB"/>
                    </a:solidFill>
                  </a:rPr>
                </a:br>
                <a:r>
                  <a:rPr lang="en-US" sz="1100" dirty="0" err="1">
                    <a:solidFill>
                      <a:srgbClr val="8899BB"/>
                    </a:solidFill>
                  </a:rPr>
                  <a:t>분산</a:t>
                </a:r>
                <a:r>
                  <a:rPr lang="en-US" sz="1100" dirty="0">
                    <a:solidFill>
                      <a:srgbClr val="8899BB"/>
                    </a:solidFill>
                  </a:rPr>
                  <a:t> 처리</a:t>
                </a:r>
                <a:endParaRPr lang="en-US" sz="1100" dirty="0"/>
              </a:p>
            </p:txBody>
          </p:sp>
        </p:grp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E3E7647B-5FAA-4654-92ED-814A716AB2A0}"/>
              </a:ext>
            </a:extLst>
          </p:cNvPr>
          <p:cNvGrpSpPr/>
          <p:nvPr/>
        </p:nvGrpSpPr>
        <p:grpSpPr>
          <a:xfrm>
            <a:off x="377265" y="1722879"/>
            <a:ext cx="8633982" cy="1243584"/>
            <a:chOff x="365760" y="3154680"/>
            <a:chExt cx="8633982" cy="1243584"/>
          </a:xfrm>
        </p:grpSpPr>
        <p:sp>
          <p:nvSpPr>
            <p:cNvPr id="36" name="Shape 34"/>
            <p:cNvSpPr/>
            <p:nvPr/>
          </p:nvSpPr>
          <p:spPr>
            <a:xfrm>
              <a:off x="365760" y="3154680"/>
              <a:ext cx="1188720" cy="310896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438912" y="3154680"/>
              <a:ext cx="104241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구분</a:t>
              </a:r>
              <a:endParaRPr lang="en-US" sz="12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1600200" y="3154680"/>
              <a:ext cx="3291840" cy="310896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39" name="Text 37"/>
            <p:cNvSpPr/>
            <p:nvPr/>
          </p:nvSpPr>
          <p:spPr>
            <a:xfrm>
              <a:off x="1673352" y="3154680"/>
              <a:ext cx="314553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일반 AI (챗봇)</a:t>
              </a:r>
              <a:endParaRPr lang="en-US" sz="12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4937760" y="3154680"/>
              <a:ext cx="4061982" cy="310896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41" name="Text 39"/>
            <p:cNvSpPr/>
            <p:nvPr/>
          </p:nvSpPr>
          <p:spPr>
            <a:xfrm>
              <a:off x="5010912" y="3154680"/>
              <a:ext cx="360273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AI Agent</a:t>
              </a:r>
              <a:endParaRPr lang="en-US" sz="12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365760" y="3465576"/>
              <a:ext cx="1188720" cy="310896"/>
            </a:xfrm>
            <a:prstGeom prst="rect">
              <a:avLst/>
            </a:prstGeom>
            <a:solidFill>
              <a:srgbClr val="F4F7FE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43" name="Text 41"/>
            <p:cNvSpPr/>
            <p:nvPr/>
          </p:nvSpPr>
          <p:spPr>
            <a:xfrm>
              <a:off x="438912" y="3465576"/>
              <a:ext cx="104241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761"/>
                  </a:solidFill>
                </a:rPr>
                <a:t>동작</a:t>
              </a:r>
              <a:endParaRPr lang="en-US" sz="110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1600200" y="3465576"/>
              <a:ext cx="3291840" cy="310896"/>
            </a:xfrm>
            <a:prstGeom prst="rect">
              <a:avLst/>
            </a:prstGeom>
            <a:solidFill>
              <a:srgbClr val="F4F7FE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45" name="Text 43"/>
            <p:cNvSpPr/>
            <p:nvPr/>
          </p:nvSpPr>
          <p:spPr>
            <a:xfrm>
              <a:off x="1673352" y="3465576"/>
              <a:ext cx="314553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761"/>
                  </a:solidFill>
                </a:rPr>
                <a:t>질문 → 답변 (1회성)</a:t>
              </a:r>
              <a:endParaRPr lang="en-US" sz="11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4937760" y="3465576"/>
              <a:ext cx="4061982" cy="310896"/>
            </a:xfrm>
            <a:prstGeom prst="rect">
              <a:avLst/>
            </a:prstGeom>
            <a:solidFill>
              <a:srgbClr val="F4F7FE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47" name="Text 45"/>
            <p:cNvSpPr/>
            <p:nvPr/>
          </p:nvSpPr>
          <p:spPr>
            <a:xfrm>
              <a:off x="5010912" y="3465576"/>
              <a:ext cx="360273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761"/>
                  </a:solidFill>
                </a:rPr>
                <a:t>목표 → 계획 → 실행 → 검토 (반복)</a:t>
              </a:r>
              <a:endParaRPr lang="en-US" sz="11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365760" y="3776472"/>
              <a:ext cx="1188720" cy="3108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49" name="Text 47"/>
            <p:cNvSpPr/>
            <p:nvPr/>
          </p:nvSpPr>
          <p:spPr>
            <a:xfrm>
              <a:off x="438912" y="3776472"/>
              <a:ext cx="104241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761"/>
                  </a:solidFill>
                </a:rPr>
                <a:t>도구</a:t>
              </a:r>
              <a:endParaRPr lang="en-US" sz="1100" dirty="0"/>
            </a:p>
          </p:txBody>
        </p:sp>
        <p:sp>
          <p:nvSpPr>
            <p:cNvPr id="50" name="Shape 48"/>
            <p:cNvSpPr/>
            <p:nvPr/>
          </p:nvSpPr>
          <p:spPr>
            <a:xfrm>
              <a:off x="1600200" y="3776472"/>
              <a:ext cx="3291840" cy="3108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51" name="Text 49"/>
            <p:cNvSpPr/>
            <p:nvPr/>
          </p:nvSpPr>
          <p:spPr>
            <a:xfrm>
              <a:off x="1673352" y="3776472"/>
              <a:ext cx="314553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761"/>
                  </a:solidFill>
                </a:rPr>
                <a:t>❌ 없음</a:t>
              </a:r>
              <a:endParaRPr lang="en-US" sz="110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4937760" y="3776472"/>
              <a:ext cx="4061982" cy="3108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53" name="Text 51"/>
            <p:cNvSpPr/>
            <p:nvPr/>
          </p:nvSpPr>
          <p:spPr>
            <a:xfrm>
              <a:off x="5010912" y="3776472"/>
              <a:ext cx="360273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761"/>
                  </a:solidFill>
                </a:rPr>
                <a:t>✅ 파일읽기·명령어·검색 등</a:t>
              </a:r>
              <a:endParaRPr lang="en-US" sz="1100" dirty="0"/>
            </a:p>
          </p:txBody>
        </p:sp>
        <p:sp>
          <p:nvSpPr>
            <p:cNvPr id="54" name="Shape 52"/>
            <p:cNvSpPr/>
            <p:nvPr/>
          </p:nvSpPr>
          <p:spPr>
            <a:xfrm>
              <a:off x="365760" y="4087368"/>
              <a:ext cx="1188720" cy="310896"/>
            </a:xfrm>
            <a:prstGeom prst="rect">
              <a:avLst/>
            </a:prstGeom>
            <a:solidFill>
              <a:srgbClr val="F4F7FE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55" name="Text 53"/>
            <p:cNvSpPr/>
            <p:nvPr/>
          </p:nvSpPr>
          <p:spPr>
            <a:xfrm>
              <a:off x="438912" y="4087368"/>
              <a:ext cx="104241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761"/>
                  </a:solidFill>
                </a:rPr>
                <a:t>자율성</a:t>
              </a:r>
              <a:endParaRPr lang="en-US" sz="1100" dirty="0"/>
            </a:p>
          </p:txBody>
        </p:sp>
        <p:sp>
          <p:nvSpPr>
            <p:cNvPr id="56" name="Shape 54"/>
            <p:cNvSpPr/>
            <p:nvPr/>
          </p:nvSpPr>
          <p:spPr>
            <a:xfrm>
              <a:off x="1600200" y="4087368"/>
              <a:ext cx="3291840" cy="310896"/>
            </a:xfrm>
            <a:prstGeom prst="rect">
              <a:avLst/>
            </a:prstGeom>
            <a:solidFill>
              <a:srgbClr val="F4F7FE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57" name="Text 55"/>
            <p:cNvSpPr/>
            <p:nvPr/>
          </p:nvSpPr>
          <p:spPr>
            <a:xfrm>
              <a:off x="1673352" y="4087368"/>
              <a:ext cx="314553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761"/>
                  </a:solidFill>
                </a:rPr>
                <a:t>없음 (사람이 매번 지시)</a:t>
              </a:r>
              <a:endParaRPr lang="en-US" sz="1100" dirty="0"/>
            </a:p>
          </p:txBody>
        </p:sp>
        <p:sp>
          <p:nvSpPr>
            <p:cNvPr id="58" name="Shape 56"/>
            <p:cNvSpPr/>
            <p:nvPr/>
          </p:nvSpPr>
          <p:spPr>
            <a:xfrm>
              <a:off x="4937760" y="4087368"/>
              <a:ext cx="4061982" cy="310896"/>
            </a:xfrm>
            <a:prstGeom prst="rect">
              <a:avLst/>
            </a:prstGeom>
            <a:solidFill>
              <a:srgbClr val="F4F7FE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59" name="Text 57"/>
            <p:cNvSpPr/>
            <p:nvPr/>
          </p:nvSpPr>
          <p:spPr>
            <a:xfrm>
              <a:off x="5010912" y="4087368"/>
              <a:ext cx="360273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761"/>
                  </a:solidFill>
                </a:rPr>
                <a:t>있음 (중간 과정 스스로 판단)</a:t>
              </a:r>
              <a:endParaRPr lang="en-US" sz="1100" dirty="0"/>
            </a:p>
          </p:txBody>
        </p:sp>
      </p:grpSp>
      <p:sp>
        <p:nvSpPr>
          <p:cNvPr id="60" name="Shape 58"/>
          <p:cNvSpPr/>
          <p:nvPr/>
        </p:nvSpPr>
        <p:spPr>
          <a:xfrm>
            <a:off x="365760" y="4434840"/>
            <a:ext cx="8633982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73324" y="4426383"/>
            <a:ext cx="80586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761"/>
                </a:solidFill>
              </a:rPr>
              <a:t>USER  → </a:t>
            </a:r>
            <a:r>
              <a:rPr lang="en-US" sz="1050" dirty="0">
                <a:solidFill>
                  <a:srgbClr val="1E2761"/>
                </a:solidFill>
              </a:rPr>
              <a:t>[</a:t>
            </a:r>
            <a:r>
              <a:rPr lang="ko-KR" altLang="en-US" sz="1050" i="1" dirty="0">
                <a:solidFill>
                  <a:srgbClr val="1E2761"/>
                </a:solidFill>
              </a:rPr>
              <a:t>직접판단 </a:t>
            </a:r>
            <a:r>
              <a:rPr lang="en-US" altLang="ko-KR" sz="1050" i="1" dirty="0">
                <a:solidFill>
                  <a:srgbClr val="1E2761"/>
                </a:solidFill>
              </a:rPr>
              <a:t>·</a:t>
            </a:r>
            <a:r>
              <a:rPr lang="en-US" sz="1050" i="1" dirty="0">
                <a:solidFill>
                  <a:srgbClr val="1E2761"/>
                </a:solidFill>
              </a:rPr>
              <a:t> /Commands </a:t>
            </a:r>
            <a:r>
              <a:rPr lang="en-US" sz="1050" i="1" dirty="0" err="1">
                <a:solidFill>
                  <a:srgbClr val="1E2761"/>
                </a:solidFill>
              </a:rPr>
              <a:t>입력</a:t>
            </a:r>
            <a:r>
              <a:rPr lang="en-US" sz="1050" i="1" dirty="0">
                <a:solidFill>
                  <a:srgbClr val="1E2761"/>
                </a:solidFill>
              </a:rPr>
              <a:t> · </a:t>
            </a:r>
            <a:r>
              <a:rPr lang="en-US" sz="1050" i="1" dirty="0" err="1">
                <a:solidFill>
                  <a:srgbClr val="1E2761"/>
                </a:solidFill>
              </a:rPr>
              <a:t>이벤트</a:t>
            </a:r>
            <a:r>
              <a:rPr lang="en-US" sz="1050" i="1" dirty="0">
                <a:solidFill>
                  <a:srgbClr val="1E2761"/>
                </a:solidFill>
              </a:rPr>
              <a:t> </a:t>
            </a:r>
            <a:r>
              <a:rPr lang="en-US" sz="1050" i="1" dirty="0" err="1">
                <a:solidFill>
                  <a:srgbClr val="1E2761"/>
                </a:solidFill>
              </a:rPr>
              <a:t>발생</a:t>
            </a:r>
            <a:r>
              <a:rPr lang="en-US" sz="1050" i="1" dirty="0">
                <a:solidFill>
                  <a:srgbClr val="1E2761"/>
                </a:solidFill>
              </a:rPr>
              <a:t>(Hooks) </a:t>
            </a:r>
            <a:r>
              <a:rPr lang="en-US" sz="1050" dirty="0">
                <a:solidFill>
                  <a:srgbClr val="1E2761"/>
                </a:solidFill>
              </a:rPr>
              <a:t>] </a:t>
            </a:r>
            <a:r>
              <a:rPr lang="en-US" sz="1050" i="1" dirty="0">
                <a:solidFill>
                  <a:srgbClr val="1E2761"/>
                </a:solidFill>
              </a:rPr>
              <a:t> →  Skills  →  Agent (AI Docs 항상 참조)  → </a:t>
            </a:r>
            <a:r>
              <a:rPr lang="en-US" altLang="ko-KR" sz="1050" i="1" dirty="0" err="1">
                <a:solidFill>
                  <a:srgbClr val="1E2761"/>
                </a:solidFill>
              </a:rPr>
              <a:t>SubAgent</a:t>
            </a:r>
            <a:r>
              <a:rPr lang="en-US" altLang="ko-KR" sz="1050" i="1" dirty="0">
                <a:solidFill>
                  <a:srgbClr val="1E2761"/>
                </a:solidFill>
              </a:rPr>
              <a:t> </a:t>
            </a:r>
            <a:r>
              <a:rPr lang="en-US" sz="1050" i="1" dirty="0">
                <a:solidFill>
                  <a:srgbClr val="1E2761"/>
                </a:solidFill>
              </a:rPr>
              <a:t>or MCP or Plugin (</a:t>
            </a:r>
            <a:r>
              <a:rPr lang="ko-KR" altLang="en-US" sz="1050" i="1" dirty="0">
                <a:solidFill>
                  <a:srgbClr val="1E2761"/>
                </a:solidFill>
              </a:rPr>
              <a:t>필요시</a:t>
            </a:r>
            <a:r>
              <a:rPr lang="en-US" altLang="ko-KR" sz="1050" i="1" dirty="0">
                <a:solidFill>
                  <a:srgbClr val="1E2761"/>
                </a:solidFill>
              </a:rPr>
              <a:t>)</a:t>
            </a:r>
            <a:endParaRPr lang="en-US" sz="1050" dirty="0"/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A2DF9AA0-CDA7-40AE-ADD0-22C703CBD834}"/>
              </a:ext>
            </a:extLst>
          </p:cNvPr>
          <p:cNvGrpSpPr/>
          <p:nvPr/>
        </p:nvGrpSpPr>
        <p:grpSpPr>
          <a:xfrm>
            <a:off x="335990" y="4434839"/>
            <a:ext cx="869066" cy="502920"/>
            <a:chOff x="-756176" y="3290242"/>
            <a:chExt cx="949056" cy="310896"/>
          </a:xfrm>
        </p:grpSpPr>
        <p:sp>
          <p:nvSpPr>
            <p:cNvPr id="70" name="Shape 34">
              <a:extLst>
                <a:ext uri="{FF2B5EF4-FFF2-40B4-BE49-F238E27FC236}">
                  <a16:creationId xmlns:a16="http://schemas.microsoft.com/office/drawing/2014/main" id="{06FBA96A-725C-4180-8CA1-DB1555641771}"/>
                </a:ext>
              </a:extLst>
            </p:cNvPr>
            <p:cNvSpPr/>
            <p:nvPr/>
          </p:nvSpPr>
          <p:spPr>
            <a:xfrm>
              <a:off x="-723664" y="3290242"/>
              <a:ext cx="772689" cy="310896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D0D8F0"/>
              </a:solidFill>
              <a:prstDash val="solid"/>
            </a:ln>
          </p:spPr>
          <p:txBody>
            <a:bodyPr/>
            <a:lstStyle/>
            <a:p>
              <a:endParaRPr lang="ko-KR" altLang="en-US" sz="1200" i="1" dirty="0">
                <a:solidFill>
                  <a:schemeClr val="bg1"/>
                </a:solidFill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3561A56-5DFD-40A5-923E-9E1438CDB122}"/>
                </a:ext>
              </a:extLst>
            </p:cNvPr>
            <p:cNvSpPr txBox="1"/>
            <p:nvPr/>
          </p:nvSpPr>
          <p:spPr>
            <a:xfrm>
              <a:off x="-756176" y="3372100"/>
              <a:ext cx="949056" cy="1569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i="1" dirty="0" err="1">
                  <a:solidFill>
                    <a:schemeClr val="bg1"/>
                  </a:solidFill>
                </a:rPr>
                <a:t>호출</a:t>
              </a:r>
              <a:r>
                <a:rPr lang="en-US" altLang="ko-KR" sz="1050" i="1" dirty="0">
                  <a:solidFill>
                    <a:schemeClr val="bg1"/>
                  </a:solidFill>
                </a:rPr>
                <a:t> </a:t>
              </a:r>
              <a:r>
                <a:rPr lang="en-US" altLang="ko-KR" sz="1050" i="1" dirty="0" err="1">
                  <a:solidFill>
                    <a:schemeClr val="bg1"/>
                  </a:solidFill>
                </a:rPr>
                <a:t>흐름</a:t>
              </a:r>
              <a:endParaRPr lang="ko-KR" altLang="en-US" sz="1050" i="1" dirty="0">
                <a:solidFill>
                  <a:schemeClr val="bg1"/>
                </a:solidFill>
              </a:endParaRPr>
            </a:p>
          </p:txBody>
        </p:sp>
      </p:grpSp>
      <p:sp>
        <p:nvSpPr>
          <p:cNvPr id="71" name="왼쪽 중괄호 70">
            <a:extLst>
              <a:ext uri="{FF2B5EF4-FFF2-40B4-BE49-F238E27FC236}">
                <a16:creationId xmlns:a16="http://schemas.microsoft.com/office/drawing/2014/main" id="{FD7257EA-7D86-40E0-B346-F15D0B10A2CB}"/>
              </a:ext>
            </a:extLst>
          </p:cNvPr>
          <p:cNvSpPr/>
          <p:nvPr/>
        </p:nvSpPr>
        <p:spPr>
          <a:xfrm rot="5400000">
            <a:off x="4950300" y="636357"/>
            <a:ext cx="703173" cy="7234062"/>
          </a:xfrm>
          <a:prstGeom prst="leftBrace">
            <a:avLst>
              <a:gd name="adj1" fmla="val 6500"/>
              <a:gd name="adj2" fmla="val 19892"/>
            </a:avLst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8820676-F27B-43D4-A443-A733DFF3BD09}"/>
              </a:ext>
            </a:extLst>
          </p:cNvPr>
          <p:cNvSpPr/>
          <p:nvPr/>
        </p:nvSpPr>
        <p:spPr>
          <a:xfrm>
            <a:off x="6872730" y="3609192"/>
            <a:ext cx="629458" cy="292609"/>
          </a:xfrm>
          <a:prstGeom prst="ellipse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Docs — 개요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9BB"/>
                </a:solidFill>
              </a:rPr>
              <a:t>AI 개발 도구에게 프로젝트 정보를 전달하는 지침 문서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960120"/>
          </a:xfrm>
          <a:prstGeom prst="rect">
            <a:avLst/>
          </a:prstGeom>
          <a:solidFill>
            <a:srgbClr val="252D4D"/>
          </a:solidFill>
          <a:ln w="2540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78992"/>
            <a:ext cx="841248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/ AGENTS.md / GEMINI.md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루트에 두면 각 AI Agent가 자동으로 읽음. Instruction·Rule은 @멘션 또는 상위 문서에서 참조하도록 설정.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176272"/>
            <a:ext cx="2651760" cy="2834640"/>
          </a:xfrm>
          <a:prstGeom prst="rect">
            <a:avLst/>
          </a:prstGeom>
          <a:solidFill>
            <a:srgbClr val="252D4D"/>
          </a:solidFill>
          <a:ln w="2540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76272"/>
            <a:ext cx="265176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24942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🗺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5488" y="2670048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 (맥락·배경지식)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0352" y="3127248"/>
            <a:ext cx="2322576" cy="274320"/>
          </a:xfrm>
          <a:prstGeom prst="rect">
            <a:avLst/>
          </a:prstGeom>
          <a:solidFill>
            <a:srgbClr val="34D399">
              <a:alpha val="2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127248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D399"/>
                </a:solidFill>
              </a:rPr>
              <a:t>프로젝트가 무엇인지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3474720"/>
            <a:ext cx="232257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스택, 구조, 패턴 정의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상황을 이해하는 배경지식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Java 17 / Spring Boot / PostgreSQL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Controller → Service → Repository 구조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2176272"/>
            <a:ext cx="2651760" cy="2834640"/>
          </a:xfrm>
          <a:prstGeom prst="rect">
            <a:avLst/>
          </a:prstGeom>
          <a:solidFill>
            <a:srgbClr val="252D4D"/>
          </a:solidFill>
          <a:ln w="2540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2176272"/>
            <a:ext cx="265176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224942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355848" y="2670048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Instruction (지침·작업방식)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10712" y="3127248"/>
            <a:ext cx="2322576" cy="274320"/>
          </a:xfrm>
          <a:prstGeom prst="rect">
            <a:avLst/>
          </a:prstGeom>
          <a:solidFill>
            <a:srgbClr val="4FC3F7">
              <a:alpha val="25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127248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C3F7"/>
                </a:solidFill>
              </a:rPr>
              <a:t>작업을 어떻게 수행할지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10712" y="3474720"/>
            <a:ext cx="232257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상세 작업 방식 정의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AI의 행동 방식 명세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요구분석 → 영향범위 → 코드 → 테스트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형식: 설명 → 코드 → 요약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2176272"/>
            <a:ext cx="2651760" cy="2834640"/>
          </a:xfrm>
          <a:prstGeom prst="rect">
            <a:avLst/>
          </a:prstGeom>
          <a:solidFill>
            <a:srgbClr val="252D4D"/>
          </a:solidFill>
          <a:ln w="25400">
            <a:solidFill>
              <a:srgbClr val="FBBF24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2176272"/>
            <a:ext cx="265176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224942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236208" y="2670048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Rule (규칙·엄격한 제약)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91072" y="3127248"/>
            <a:ext cx="2322576" cy="274320"/>
          </a:xfrm>
          <a:prstGeom prst="rect">
            <a:avLst/>
          </a:prstGeom>
          <a:solidFill>
            <a:srgbClr val="FBBF24">
              <a:alpha val="25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3127248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</a:rPr>
              <a:t>반드시 지켜야 할 제약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91072" y="3474720"/>
            <a:ext cx="232257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코딩 컨벤션, 금지사항 명시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위반 시 오류가 되는 사항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Controller 비즈니스로직 금지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Entity 직접 반환 금지 (DTO 변환 필수)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Docs — Context 실전 예시 (CLAUDE.md)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4846320" cy="4206240"/>
          </a:xfrm>
          <a:prstGeom prst="rect">
            <a:avLst/>
          </a:prstGeom>
          <a:solidFill>
            <a:srgbClr val="0D1117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</a:rPr>
              <a:t>📄  CLAUDE.md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45720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Claude AI Guide
---
</a:t>
            </a:r>
            <a:r>
              <a:rPr lang="en-US" sz="10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1️⃣ Context (프로젝트 맥락)
</a:t>
            </a:r>
            <a:r>
              <a:rPr lang="en-US" sz="1050" dirty="0">
                <a:solidFill>
                  <a:srgbClr val="C8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프로젝트 개요
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Spring Boot 기반 인증 API 서버
- JWT 기반 인증 구조 사용
</a:t>
            </a:r>
            <a:r>
              <a:rPr lang="en-US" sz="1050" dirty="0">
                <a:solidFill>
                  <a:srgbClr val="C8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기술 스택
</a:t>
            </a: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Java 17  /  Spring Boot 3.x
- PostgreSQL  /  Gradle
</a:t>
            </a:r>
            <a:r>
              <a:rPr lang="en-US" sz="1050" dirty="0">
                <a:solidFill>
                  <a:srgbClr val="C8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아키텍처
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Controller → Service → Repository
- DTO / Entity 분리
- GlobalExceptionHandler 사용
</a:t>
            </a:r>
            <a:r>
              <a:rPr lang="en-US" sz="10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2️⃣ Instruction
</a:t>
            </a:r>
            <a:r>
              <a:rPr lang="en-US" sz="10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@.docs/instruction/coding-style.md
</a:t>
            </a:r>
            <a:r>
              <a:rPr lang="en-US" sz="10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3️⃣ Rule
</a:t>
            </a:r>
            <a:r>
              <a:rPr lang="en-US" sz="10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@.docs/rules/global-rules.md
@.docs/rules/backend-rules.md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94960" y="841248"/>
            <a:ext cx="33832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394960" y="841248"/>
            <a:ext cx="338328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93268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자동 로드 파일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532120" y="1280160"/>
            <a:ext cx="3108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→ Claude Code 자동 인식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→ Codex 자동 인식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GEMINI.md → Gemini/Antigravity 자동 인식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루트 또는 하위 디렉토리에 위치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94960" y="2258568"/>
            <a:ext cx="33832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394960" y="2258568"/>
            <a:ext cx="338328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235000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@멘션으로 참조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32120" y="2697480"/>
            <a:ext cx="3108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Instruction·Rule은 임의 이름의 .md 파일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@경로 형태로 멘션하면 AI가 읽음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 문서에서 언급해도 읽음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맥락을 통해 자동 로드되기도 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94960" y="3675888"/>
            <a:ext cx="33832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BBF24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94960" y="3675888"/>
            <a:ext cx="3383280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376732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규모별 관리 방식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32120" y="4114800"/>
            <a:ext cx="3108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소규모: CLAUDE.md 하나에 모두 통합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대규모: 계층별·도메인별 파일 분리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.docs/instruction/ .docs/rules/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PRD, Prompt 등 이름도 자유롭게 사용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Docs — Instruction &amp; Rule </a:t>
            </a:r>
            <a:r>
              <a:rPr lang="en-US" sz="26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예시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4114800" cy="4206240"/>
          </a:xfrm>
          <a:prstGeom prst="rect">
            <a:avLst/>
          </a:prstGeom>
          <a:solidFill>
            <a:srgbClr val="0D1117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</a:rPr>
              <a:t>📋  coding-style.md  (Instruction)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3840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작업 전 확인
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관련 PRD 존재 시 반드시 읽는다
</a:t>
            </a: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예: @doc/prd/auth-feature.md
</a:t>
            </a: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
</a:t>
            </a: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작업 절차
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요구사항 분석
2. 영향 범위 확인
3. 코드 작성
4. 테스트/예외 검토
</a:t>
            </a: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
</a:t>
            </a: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응답 형식
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설명 → 코드 → 요약 순서
- 변경 코드 diff 형식 출력
- 새 파일은 전체 코드 제공
</a:t>
            </a: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반드시 준수할 규칙
</a:t>
            </a: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@.docs/rules/global-rules.md
@.docs/rules/backend-rules.md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63440" y="841248"/>
            <a:ext cx="4114800" cy="4206240"/>
          </a:xfrm>
          <a:prstGeom prst="rect">
            <a:avLst/>
          </a:prstGeom>
          <a:solidFill>
            <a:srgbClr val="0D1117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8961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</a:rPr>
              <a:t>📏  global-rules.md  (Rule)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00600" y="1188720"/>
            <a:ext cx="3840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아키텍처 규칙
</a:t>
            </a: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Controller에 비즈니스 로직 작성 금지
- Service 계층에서만 트랜잭션 허용
- Entity 직접 반환 금지 (DTO 변환 필수)
</a:t>
            </a: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코드 규칙
</a:t>
            </a: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하드코딩 금지
- Optional.get() 직접 사용 금지
- 로그에 민감 정보 출력 금지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위반 시:
1. 위반 내용 명시
2. 수정 코드 제안
</a:t>
            </a:r>
            <a:r>
              <a:rPr lang="en-US" sz="10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
</a:t>
            </a: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backend-rules.md
</a:t>
            </a: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@Transactional은 Service만 선언
- Repository 비즈니스 로직 금지
- Response는 공통 Wrapper 사용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Docs — 파일 위치 &amp; 프로젝트 구조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480560" cy="4206240"/>
          </a:xfrm>
          <a:prstGeom prst="rect">
            <a:avLst/>
          </a:prstGeom>
          <a:solidFill>
            <a:srgbClr val="0D1117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778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</a:rPr>
              <a:t>📁  프로젝트 폴더 구조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843358"/>
            <a:ext cx="42062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Project/
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
</a:t>
            </a: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CLAUDE.md        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Claude 진입점 (자동로드)
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GEMINI.md        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Gemini/Antigravity 진입점
</a:t>
            </a: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AGENTS.md        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Codex 진입점
│
</a:t>
            </a:r>
            <a:r>
              <a:rPr lang="en-US" sz="1100" dirty="0">
                <a:solidFill>
                  <a:srgbClr val="C8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.docs/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instruction/
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 coding-style.md
│   │   └─ review-process.md
│   │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rules/
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 global-rules.md
│       └─ backend-rules.md
│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doc/
    └─ prd/
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 auth-feature.md
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0" y="822960"/>
            <a:ext cx="374904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0" y="822960"/>
            <a:ext cx="374904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66360" y="9326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66360" y="1325880"/>
            <a:ext cx="3474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(루트 → 자동로드)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하위 디렉토리는 읽도록 명시 필요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0" y="2240280"/>
            <a:ext cx="374904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0" y="2240280"/>
            <a:ext cx="374904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23500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OpenAI Codex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66360" y="2743200"/>
            <a:ext cx="3474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(프로젝트 루트)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Instruction·Rule은 @멘션 참조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3657600"/>
            <a:ext cx="374904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BBF24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0" y="3657600"/>
            <a:ext cx="374904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37673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 / Antigravity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166360" y="4160520"/>
            <a:ext cx="3474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GEMINI.md (프로젝트 루트)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CLI: /Permission 커맨드로 권한 확인 필수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" y="4235782"/>
            <a:ext cx="3749040" cy="713232"/>
          </a:xfrm>
          <a:prstGeom prst="rect">
            <a:avLst/>
          </a:prstGeom>
          <a:solidFill>
            <a:srgbClr val="FFF8E7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" y="4290646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규모별 선택
</a:t>
            </a: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소규모: </a:t>
            </a:r>
            <a:r>
              <a:rPr lang="en-US" altLang="ko-KR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.md 하나에 통합  |  대규모: .docs/ 폴더로 계층 분리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 — 무엇인가?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868680"/>
          </a:xfrm>
          <a:prstGeom prst="rect">
            <a:avLst/>
          </a:prstGeom>
          <a:solidFill>
            <a:srgbClr val="252D4D"/>
          </a:solidFill>
          <a:ln w="2540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841248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9611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LLM이 특정 작업을 구조화된 방식으로 수행하도록 정의한  </a:t>
            </a: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재사용 가능한 작업 단위 (프롬프트 패키지)
</a:t>
            </a:r>
            <a:r>
              <a:rPr lang="en-US" sz="14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프롬프트 한 줄이 아닌, 역할·지침·템플릿·스크립트를 포함해 하나의 "기능"처럼 동작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8470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왜 사용하는가?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2267712"/>
            <a:ext cx="2743200" cy="1371600"/>
          </a:xfrm>
          <a:prstGeom prst="rect">
            <a:avLst/>
          </a:prstGeom>
          <a:solidFill>
            <a:srgbClr val="252D4D"/>
          </a:solidFill>
          <a:ln w="1905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331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5488" y="2761488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토큰 절약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9151" y="3090672"/>
            <a:ext cx="299641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</a:rPr>
              <a:t>매번 긴 프롬프트 입력 시 토큰이 계속 증가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</a:rPr>
              <a:t>Skills는 /multi-review처럼 짧은 명령어로 호출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2267712"/>
            <a:ext cx="2743200" cy="1371600"/>
          </a:xfrm>
          <a:prstGeom prst="rect">
            <a:avLst/>
          </a:prstGeom>
          <a:solidFill>
            <a:srgbClr val="252D4D"/>
          </a:solidFill>
          <a:ln w="1905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2331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01568" y="2761488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재사용성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08960" y="3090672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</a:rPr>
              <a:t>한 번 정의하면 여러 프로젝트·맥락에서 재사용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</a:rPr>
              <a:t>팀 전체가 동일한 방식으로 작업 가능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2267712"/>
            <a:ext cx="2743200" cy="1371600"/>
          </a:xfrm>
          <a:prstGeom prst="rect">
            <a:avLst/>
          </a:prstGeom>
          <a:solidFill>
            <a:srgbClr val="252D4D"/>
          </a:solidFill>
          <a:ln w="1905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2331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27648" y="2761488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일관성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309067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BB"/>
                </a:solidFill>
              </a:rPr>
              <a:t>매번 다른 결과 없이 정해진 방식으로 일관된 출력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99BB"/>
                </a:solidFill>
              </a:rPr>
              <a:t>코드 리뷰·문서화 등 반복 작업에 특히 효과적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37673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파일 형태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5760" y="4133088"/>
            <a:ext cx="4114800" cy="914400"/>
          </a:xfrm>
          <a:prstGeom prst="rect">
            <a:avLst/>
          </a:prstGeom>
          <a:solidFill>
            <a:srgbClr val="0D111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187952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multi-review/
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</a:t>
            </a: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# 핵심 지침
│   ├─ template.md    # 템플릿
│   └─ scripts/       # 스크립트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37673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호출 방식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663440" y="4133088"/>
            <a:ext cx="1371600" cy="914400"/>
          </a:xfrm>
          <a:prstGeom prst="rect">
            <a:avLst/>
          </a:prstGeom>
          <a:solidFill>
            <a:srgbClr val="252D4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4133088"/>
            <a:ext cx="137160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4206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</a:rPr>
              <a:t>/명령어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09160" y="450799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</a:rPr>
              <a:t>/multi-review 입력으로 즉시 호출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72200" y="4133088"/>
            <a:ext cx="1371600" cy="914400"/>
          </a:xfrm>
          <a:prstGeom prst="rect">
            <a:avLst/>
          </a:prstGeom>
          <a:solidFill>
            <a:srgbClr val="252D4D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4133088"/>
            <a:ext cx="1371600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4206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</a:rPr>
              <a:t>자동 로드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17920" y="450799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</a:rPr>
              <a:t>AI가 맥락 파악 후 자동으로 Skills 참조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680960" y="4133088"/>
            <a:ext cx="1371600" cy="914400"/>
          </a:xfrm>
          <a:prstGeom prst="rect">
            <a:avLst/>
          </a:prstGeom>
          <a:solidFill>
            <a:srgbClr val="252D4D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80960" y="4133088"/>
            <a:ext cx="137160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26680" y="4206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</a:rPr>
              <a:t>@멘션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26680" y="450799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</a:rPr>
              <a:t>@경로로 직접 지정하여 호출 가능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 — 도구별 적용 방법 &amp; 주의사항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196596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41248"/>
            <a:ext cx="196596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🖥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BB"/>
                </a:solidFill>
              </a:rPr>
              <a:t>📁  경로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178308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116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.claude/skills/*/SKILL.md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57860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BB"/>
                </a:solidFill>
              </a:rPr>
              <a:t>⌨️  커맨드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52928"/>
            <a:ext cx="178308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5292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/Skills 이름 (자동 통합)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525012"/>
            <a:ext cx="17830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2026.01.24 (v2.1.3) — Slash Commands가 Skills로 통합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.claude/commands/ 파일도 여전히 작동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환경 및 VSCode Extension 모두 인식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14600" y="841248"/>
            <a:ext cx="196596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14600" y="841248"/>
            <a:ext cx="196596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9144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606040" y="12801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OpenAI Codex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06040" y="17373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BB"/>
                </a:solidFill>
              </a:rPr>
              <a:t>📁  경로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06040" y="2011680"/>
            <a:ext cx="178308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20116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.agents/skills/*/SKILL.md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606040" y="257860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BB"/>
                </a:solidFill>
              </a:rPr>
              <a:t>⌨️  커맨드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06040" y="2852928"/>
            <a:ext cx="178308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51760" y="285292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/Skills 이름 (자동 통합)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51176" y="356568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Code와 마찬가지로 Slash Commands 통합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.agents/skills/ 가 새로운 표준 경로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.codex/skills/ 는 레거시 지원 (Conflict 주의)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841248"/>
            <a:ext cx="196596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FBBF24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841248"/>
            <a:ext cx="1965960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9144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💎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754880" y="12801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 CLI / Code Assist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54880" y="17373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BB"/>
                </a:solidFill>
              </a:rPr>
              <a:t>📁  경로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2011680"/>
            <a:ext cx="178308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0116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.agents/skills/*/SKILL.md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54880" y="257860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BB"/>
                </a:solidFill>
              </a:rPr>
              <a:t>⌨️  커맨드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2852928"/>
            <a:ext cx="178308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85292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.gemini/commands/*.</a:t>
            </a:r>
            <a:r>
              <a:rPr lang="en-US" sz="700" dirty="0" err="1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toml</a:t>
            </a: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700" dirty="0" err="1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별도</a:t>
            </a: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작성 필요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754880" y="342900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Claude·Codex와 다르게 Commands와 Skills 분리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채팅창 자동완성 미지원 → @멘션이 더 효과적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CLI에서만 실제 적용 확인 가능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54880" y="4302252"/>
            <a:ext cx="1783080" cy="617220"/>
          </a:xfrm>
          <a:prstGeom prst="rect">
            <a:avLst/>
          </a:prstGeom>
          <a:solidFill>
            <a:srgbClr val="FFF3CD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4360984"/>
            <a:ext cx="1691640" cy="5401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설정 필요: Path에 PowerShell.exe 추가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/Permission 커맨드로 권한 </a:t>
            </a:r>
            <a:r>
              <a:rPr lang="en-US" sz="600" dirty="0" err="1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</a:t>
            </a:r>
            <a:r>
              <a:rPr lang="en-US" sz="60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60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60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(미설정 시 Skills 인식 안됨)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6812280" y="841248"/>
            <a:ext cx="196596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A78BFA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812280" y="841248"/>
            <a:ext cx="196596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12280" y="9144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903720" y="12801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Antigravity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03720" y="17373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BB"/>
                </a:solidFill>
              </a:rPr>
              <a:t>📁  경로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903720" y="2011680"/>
            <a:ext cx="178308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49440" y="20116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.agent/skills/*/SKILL.md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903720" y="257860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BB"/>
                </a:solidFill>
              </a:rPr>
              <a:t>⌨️  커맨드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903720" y="2852928"/>
            <a:ext cx="178308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49440" y="285292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.agent/workflows/ </a:t>
            </a:r>
            <a:b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ko-KR" alt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위치</a:t>
            </a: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에 Skills 복붙 후 /명령어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903720" y="342900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단독 환경 (CLI 환경 없음)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무료 제공 / Gemini Pro 시 토큰 더 많음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Skills를 workflows 폴더에 복붙하면 커맨드로 사용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Commands &amp; Workflows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9BB"/>
                </a:solidFill>
              </a:rPr>
              <a:t>Skills를 실행 가능한 명령어로 연결하는 엔트리포인트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3931920" cy="3931920"/>
          </a:xfrm>
          <a:prstGeom prst="rect">
            <a:avLst/>
          </a:prstGeom>
          <a:solidFill>
            <a:srgbClr val="252D4D"/>
          </a:solidFill>
          <a:ln w="25400">
            <a:solidFill>
              <a:srgbClr val="FBBF24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78992"/>
            <a:ext cx="3931920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7043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⌨️  개념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1664208"/>
            <a:ext cx="36576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3736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</a:rPr>
              <a:t>Commands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048256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CFC"/>
                </a:solidFill>
              </a:rPr>
              <a:t>LLM이 특정 Skills를 /명령어 형태로 실행할 수 있도록 연결하는 실행 트리거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715768"/>
            <a:ext cx="36576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889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</a:rPr>
              <a:t>Workflows(Antigravity)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099816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C8DCFC"/>
                </a:solidFill>
              </a:rPr>
              <a:t>단순한 기능 정의</a:t>
            </a:r>
            <a:r>
              <a:rPr lang="en-US" altLang="ko-KR" sz="1200" dirty="0">
                <a:solidFill>
                  <a:srgbClr val="C8DCFC"/>
                </a:solidFill>
              </a:rPr>
              <a:t>(Skills)</a:t>
            </a:r>
            <a:r>
              <a:rPr lang="ko-KR" altLang="en-US" sz="1200" dirty="0">
                <a:solidFill>
                  <a:srgbClr val="C8DCFC"/>
                </a:solidFill>
              </a:rPr>
              <a:t>를 넘어</a:t>
            </a:r>
            <a:r>
              <a:rPr lang="en-US" altLang="ko-KR" sz="1200" dirty="0">
                <a:solidFill>
                  <a:srgbClr val="C8DCFC"/>
                </a:solidFill>
              </a:rPr>
              <a:t>,</a:t>
            </a:r>
            <a:r>
              <a:rPr lang="en-US" sz="1200" dirty="0" err="1">
                <a:solidFill>
                  <a:srgbClr val="C8DCFC"/>
                </a:solidFill>
              </a:rPr>
              <a:t>하나</a:t>
            </a:r>
            <a:r>
              <a:rPr lang="en-US" sz="1200" dirty="0">
                <a:solidFill>
                  <a:srgbClr val="C8DCFC"/>
                </a:solidFill>
              </a:rPr>
              <a:t> 이상의 Skills를 묶어, 정해진 순서·조건에 따라 실행하는 시나리오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794760"/>
            <a:ext cx="3657600" cy="1097280"/>
          </a:xfrm>
          <a:prstGeom prst="rect">
            <a:avLst/>
          </a:prstGeom>
          <a:solidFill>
            <a:srgbClr val="1A2550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822192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= "기능 정의"
</a:t>
            </a: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Commands/Workflows = "실행 엔트리포인트"
</a:t>
            </a:r>
            <a:r>
              <a:rPr lang="en-US" sz="1200" dirty="0" err="1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Claude·Codex</a:t>
            </a:r>
            <a:r>
              <a:rPr lang="en-US" altLang="ko-KR" sz="1200" dirty="0" err="1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·Antigravity</a:t>
            </a:r>
            <a:r>
              <a:rPr lang="en-US" altLang="ko-KR" sz="1200" dirty="0">
                <a:solidFill>
                  <a:srgbClr val="C8DCFC"/>
                </a:solidFill>
              </a:rPr>
              <a:t> </a:t>
            </a: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 err="1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Skills와</a:t>
            </a: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통합 → /Skills이름으로 바로 실행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Gemini·</a:t>
            </a:r>
            <a:r>
              <a:rPr lang="en-US" sz="1200" strike="sngStrike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</a:t>
            </a: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별도 파일로 Skills 호출 필요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80560" y="1078992"/>
            <a:ext cx="4297680" cy="3931920"/>
          </a:xfrm>
          <a:prstGeom prst="rect">
            <a:avLst/>
          </a:prstGeom>
          <a:solidFill>
            <a:srgbClr val="0D1117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133856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</a:rPr>
              <a:t>💎  Gemini Commands 작성 예시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</a:rPr>
              <a:t>(.gemini/commands/multi-review.toml)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17720" y="1664208"/>
            <a:ext cx="4023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 = "multi-review 실행"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 = </a:t>
            </a: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".agents/skills/multi-review"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"""
</a:t>
            </a:r>
            <a:r>
              <a:rPr lang="en-US" sz="1100" dirty="0">
                <a:solidFill>
                  <a:srgbClr val="C8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.agents/skills/multi-review 에
정의된 Skills를 수행해줘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
</a:t>
            </a:r>
            <a:endParaRPr lang="en-US" sz="1100" dirty="0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006E8938-3277-48F2-97BE-B64DB3EEAC4E}"/>
              </a:ext>
            </a:extLst>
          </p:cNvPr>
          <p:cNvGrpSpPr/>
          <p:nvPr/>
        </p:nvGrpSpPr>
        <p:grpSpPr>
          <a:xfrm>
            <a:off x="4544568" y="3172968"/>
            <a:ext cx="4170617" cy="1801368"/>
            <a:chOff x="4480560" y="3218688"/>
            <a:chExt cx="4297680" cy="2194560"/>
          </a:xfrm>
        </p:grpSpPr>
        <p:sp>
          <p:nvSpPr>
            <p:cNvPr id="19" name="Shape 17"/>
            <p:cNvSpPr/>
            <p:nvPr/>
          </p:nvSpPr>
          <p:spPr>
            <a:xfrm>
              <a:off x="4480560" y="3218688"/>
              <a:ext cx="1280160" cy="438912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4544568" y="3218688"/>
              <a:ext cx="1152144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도구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806440" y="3218688"/>
              <a:ext cx="2011680" cy="438912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870448" y="3218688"/>
              <a:ext cx="1883664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Commands 위치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7863840" y="3218688"/>
              <a:ext cx="914400" cy="438912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7927848" y="3218688"/>
              <a:ext cx="786384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Skills 통합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4480560" y="3657600"/>
              <a:ext cx="1280160" cy="43891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4544568" y="3657600"/>
              <a:ext cx="1152144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C8DCFC"/>
                  </a:solidFill>
                </a:rPr>
                <a:t>Claude Code</a:t>
              </a:r>
              <a:endParaRPr lang="en-US" sz="105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5806440" y="3657600"/>
              <a:ext cx="2011680" cy="43891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5870448" y="3657600"/>
              <a:ext cx="1883664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C8DCFC"/>
                  </a:solidFill>
                </a:rPr>
                <a:t>.claude/skills/ (통합)</a:t>
              </a:r>
              <a:endParaRPr lang="en-US" sz="105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7863840" y="3657600"/>
              <a:ext cx="914400" cy="43891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7927848" y="3657600"/>
              <a:ext cx="786384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34D399"/>
                  </a:solidFill>
                </a:rPr>
                <a:t>✅ 자동</a:t>
              </a:r>
              <a:endParaRPr lang="en-US" sz="105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4480560" y="4096512"/>
              <a:ext cx="1280160" cy="43891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4544568" y="4096512"/>
              <a:ext cx="1152144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C8DCFC"/>
                  </a:solidFill>
                </a:rPr>
                <a:t>Codex</a:t>
              </a:r>
              <a:endParaRPr lang="en-US" sz="105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5806440" y="4096512"/>
              <a:ext cx="2011680" cy="43891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34" name="Text 32"/>
            <p:cNvSpPr/>
            <p:nvPr/>
          </p:nvSpPr>
          <p:spPr>
            <a:xfrm>
              <a:off x="5870448" y="4096512"/>
              <a:ext cx="1883664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C8DCFC"/>
                  </a:solidFill>
                </a:rPr>
                <a:t>.agents/skills/ (통합)</a:t>
              </a:r>
              <a:endParaRPr lang="en-US" sz="105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7863840" y="4096512"/>
              <a:ext cx="914400" cy="43891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7927848" y="4096512"/>
              <a:ext cx="786384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34D399"/>
                  </a:solidFill>
                </a:rPr>
                <a:t>✅ 자동</a:t>
              </a:r>
              <a:endParaRPr lang="en-US" sz="105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4480560" y="4535424"/>
              <a:ext cx="1280160" cy="43891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4544568" y="4535424"/>
              <a:ext cx="1152144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C8DCFC"/>
                  </a:solidFill>
                </a:rPr>
                <a:t>Gemini</a:t>
              </a:r>
              <a:endParaRPr lang="en-US" sz="105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5806440" y="4535424"/>
              <a:ext cx="2011680" cy="43891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40" name="Text 38"/>
            <p:cNvSpPr/>
            <p:nvPr/>
          </p:nvSpPr>
          <p:spPr>
            <a:xfrm>
              <a:off x="5870448" y="4535424"/>
              <a:ext cx="1883664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C8DCFC"/>
                  </a:solidFill>
                </a:rPr>
                <a:t>.gemini/commands/*.toml</a:t>
              </a:r>
              <a:endParaRPr lang="en-US" sz="105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7863840" y="4535424"/>
              <a:ext cx="914400" cy="43891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42" name="Text 40"/>
            <p:cNvSpPr/>
            <p:nvPr/>
          </p:nvSpPr>
          <p:spPr>
            <a:xfrm>
              <a:off x="7927848" y="4535424"/>
              <a:ext cx="786384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87171"/>
                  </a:solidFill>
                </a:rPr>
                <a:t>❌ 별도 작성</a:t>
              </a:r>
              <a:endParaRPr lang="en-US" sz="70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4480560" y="4974336"/>
              <a:ext cx="1280160" cy="43891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44" name="Text 42"/>
            <p:cNvSpPr/>
            <p:nvPr/>
          </p:nvSpPr>
          <p:spPr>
            <a:xfrm>
              <a:off x="4544568" y="4974336"/>
              <a:ext cx="1152144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C8DCFC"/>
                  </a:solidFill>
                </a:rPr>
                <a:t>Antigravity</a:t>
              </a:r>
              <a:endParaRPr lang="en-US" sz="105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5806440" y="4974336"/>
              <a:ext cx="2011680" cy="43891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46" name="Text 44"/>
            <p:cNvSpPr/>
            <p:nvPr/>
          </p:nvSpPr>
          <p:spPr>
            <a:xfrm>
              <a:off x="5870448" y="4974336"/>
              <a:ext cx="1883664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050" strike="sngStrike" dirty="0">
                  <a:solidFill>
                    <a:srgbClr val="C8DCFC"/>
                  </a:solidFill>
                </a:rPr>
                <a:t>.agent/workflows/*.md</a:t>
              </a:r>
              <a:br>
                <a:rPr lang="en-US" sz="1050" strike="sngStrike" dirty="0">
                  <a:solidFill>
                    <a:srgbClr val="C8DCFC"/>
                  </a:solidFill>
                </a:rPr>
              </a:br>
              <a:r>
                <a:rPr lang="en-US" altLang="ko-KR" sz="1050" dirty="0">
                  <a:solidFill>
                    <a:srgbClr val="C8DCFC"/>
                  </a:solidFill>
                </a:rPr>
                <a:t>.agents/skills/ (</a:t>
              </a:r>
              <a:r>
                <a:rPr lang="en-US" altLang="ko-KR" sz="1050" dirty="0" err="1">
                  <a:solidFill>
                    <a:srgbClr val="C8DCFC"/>
                  </a:solidFill>
                </a:rPr>
                <a:t>통합</a:t>
              </a:r>
              <a:r>
                <a:rPr lang="en-US" altLang="ko-KR" sz="1050" dirty="0">
                  <a:solidFill>
                    <a:srgbClr val="C8DCFC"/>
                  </a:solidFill>
                </a:rPr>
                <a:t>)</a:t>
              </a:r>
              <a:endParaRPr lang="en-US" altLang="ko-KR" sz="105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7863840" y="4974336"/>
              <a:ext cx="914400" cy="43891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48" name="Text 46"/>
            <p:cNvSpPr/>
            <p:nvPr/>
          </p:nvSpPr>
          <p:spPr>
            <a:xfrm>
              <a:off x="7927848" y="4974336"/>
              <a:ext cx="786384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b="1" strike="sngStrike" dirty="0">
                  <a:solidFill>
                    <a:srgbClr val="FBBF24"/>
                  </a:solidFill>
                </a:rPr>
                <a:t>⚠️ Skills 복붙</a:t>
              </a:r>
              <a:endParaRPr lang="en-US" sz="700" strike="sngStrike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Hooks — 이벤트 기반 자동 실행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658368"/>
          </a:xfrm>
          <a:prstGeom prst="rect">
            <a:avLst/>
          </a:prstGeom>
          <a:solidFill>
            <a:srgbClr val="1E2761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229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핵심: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Hooks는 독립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기능이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아</a:t>
            </a:r>
            <a:r>
              <a:rPr lang="ko-KR" alt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니다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ko-KR" altLang="en-US" sz="1200" b="1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</a:t>
            </a:r>
            <a:r>
              <a:rPr lang="en-US" sz="1200" dirty="0" err="1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트리거</a:t>
            </a:r>
            <a:r>
              <a:rPr lang="en-US" sz="120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(Git Hook, IDE Event)로 AI Skills를 강제 호출하는 실행 패턴.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</a:t>
            </a:r>
            <a:r>
              <a:rPr lang="en-US" sz="1200" dirty="0" err="1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</a:t>
            </a:r>
            <a:r>
              <a:rPr lang="en-US" sz="120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실행을 </a:t>
            </a:r>
            <a:r>
              <a:rPr lang="en-US" sz="1200" dirty="0" err="1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원하면</a:t>
            </a:r>
            <a:r>
              <a:rPr lang="en-US" sz="120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</a:t>
            </a: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스크립트 작성이 반드시 필요합니다.</a:t>
            </a:r>
            <a:endParaRPr lang="en-US" sz="1200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71F14715-E0CE-4F69-B03B-7220D72ACE50}"/>
              </a:ext>
            </a:extLst>
          </p:cNvPr>
          <p:cNvGrpSpPr/>
          <p:nvPr/>
        </p:nvGrpSpPr>
        <p:grpSpPr>
          <a:xfrm>
            <a:off x="365760" y="1627632"/>
            <a:ext cx="2743200" cy="1353312"/>
            <a:chOff x="365760" y="1627632"/>
            <a:chExt cx="2743200" cy="1353312"/>
          </a:xfrm>
        </p:grpSpPr>
        <p:sp>
          <p:nvSpPr>
            <p:cNvPr id="6" name="Shape 4"/>
            <p:cNvSpPr/>
            <p:nvPr/>
          </p:nvSpPr>
          <p:spPr>
            <a:xfrm>
              <a:off x="365760" y="1627632"/>
              <a:ext cx="2743200" cy="13533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34D399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7" name="Shape 5"/>
            <p:cNvSpPr/>
            <p:nvPr/>
          </p:nvSpPr>
          <p:spPr>
            <a:xfrm>
              <a:off x="365760" y="1627632"/>
              <a:ext cx="2743200" cy="54864"/>
            </a:xfrm>
            <a:prstGeom prst="rect">
              <a:avLst/>
            </a:prstGeom>
            <a:solidFill>
              <a:srgbClr val="34D399"/>
            </a:solidFill>
            <a:ln w="12700">
              <a:solidFill>
                <a:srgbClr val="34D39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65760" y="1700784"/>
              <a:ext cx="274320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dirty="0">
                  <a:solidFill>
                    <a:srgbClr val="000000"/>
                  </a:solidFill>
                </a:rPr>
                <a:t>💾</a:t>
              </a:r>
              <a:endParaRPr lang="en-US" sz="22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457200" y="2103120"/>
              <a:ext cx="2560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34D399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On-save</a:t>
              </a:r>
              <a:endParaRPr lang="en-US" sz="16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57200" y="2441448"/>
              <a:ext cx="25603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8899BB"/>
                  </a:solidFill>
                </a:rPr>
                <a:t>파일 저장 시</a:t>
              </a:r>
              <a:endParaRPr lang="en-US" sz="1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57200" y="2715768"/>
              <a:ext cx="25603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E2761"/>
                  </a:solidFill>
                </a:rPr>
                <a:t>자동 포맷팅·린팅</a:t>
              </a:r>
              <a:endParaRPr lang="en-US" sz="1300" dirty="0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D0C61F7A-4870-4E86-9773-25E5478F7B86}"/>
              </a:ext>
            </a:extLst>
          </p:cNvPr>
          <p:cNvGrpSpPr/>
          <p:nvPr/>
        </p:nvGrpSpPr>
        <p:grpSpPr>
          <a:xfrm>
            <a:off x="3208020" y="1627632"/>
            <a:ext cx="2743200" cy="1353312"/>
            <a:chOff x="3291840" y="1627632"/>
            <a:chExt cx="2743200" cy="1353312"/>
          </a:xfrm>
        </p:grpSpPr>
        <p:sp>
          <p:nvSpPr>
            <p:cNvPr id="12" name="Shape 10"/>
            <p:cNvSpPr/>
            <p:nvPr/>
          </p:nvSpPr>
          <p:spPr>
            <a:xfrm>
              <a:off x="3291840" y="1627632"/>
              <a:ext cx="2743200" cy="13533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FBBF24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13" name="Shape 11"/>
            <p:cNvSpPr/>
            <p:nvPr/>
          </p:nvSpPr>
          <p:spPr>
            <a:xfrm>
              <a:off x="3291840" y="1627632"/>
              <a:ext cx="2743200" cy="54864"/>
            </a:xfrm>
            <a:prstGeom prst="rect">
              <a:avLst/>
            </a:prstGeom>
            <a:solidFill>
              <a:srgbClr val="FBBF24"/>
            </a:solidFill>
            <a:ln w="12700">
              <a:solidFill>
                <a:srgbClr val="FBBF24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3291840" y="1700784"/>
              <a:ext cx="274320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dirty="0">
                  <a:solidFill>
                    <a:srgbClr val="000000"/>
                  </a:solidFill>
                </a:rPr>
                <a:t>📦</a:t>
              </a:r>
              <a:endParaRPr lang="en-US" sz="22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383280" y="2103120"/>
              <a:ext cx="2560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BBF24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Pre-commit</a:t>
              </a:r>
              <a:endParaRPr lang="en-US" sz="1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3383280" y="2441448"/>
              <a:ext cx="25603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8899BB"/>
                  </a:solidFill>
                </a:rPr>
                <a:t>커밋 직전</a:t>
              </a:r>
              <a:endParaRPr lang="en-US" sz="12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3383280" y="2715768"/>
              <a:ext cx="25603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E2761"/>
                  </a:solidFill>
                </a:rPr>
                <a:t>코드 스타일 검사</a:t>
              </a:r>
              <a:endParaRPr lang="en-US" sz="1300" dirty="0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36192EDA-EF19-4D89-883D-984130E42D18}"/>
              </a:ext>
            </a:extLst>
          </p:cNvPr>
          <p:cNvGrpSpPr/>
          <p:nvPr/>
        </p:nvGrpSpPr>
        <p:grpSpPr>
          <a:xfrm>
            <a:off x="6035040" y="1627632"/>
            <a:ext cx="2743200" cy="1353312"/>
            <a:chOff x="6217920" y="1627632"/>
            <a:chExt cx="2743200" cy="1353312"/>
          </a:xfrm>
        </p:grpSpPr>
        <p:sp>
          <p:nvSpPr>
            <p:cNvPr id="18" name="Shape 16"/>
            <p:cNvSpPr/>
            <p:nvPr/>
          </p:nvSpPr>
          <p:spPr>
            <a:xfrm>
              <a:off x="6217920" y="1627632"/>
              <a:ext cx="2743200" cy="13533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A78BFA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19" name="Shape 17"/>
            <p:cNvSpPr/>
            <p:nvPr/>
          </p:nvSpPr>
          <p:spPr>
            <a:xfrm>
              <a:off x="6217920" y="1627632"/>
              <a:ext cx="2743200" cy="54864"/>
            </a:xfrm>
            <a:prstGeom prst="rect">
              <a:avLst/>
            </a:prstGeom>
            <a:solidFill>
              <a:srgbClr val="A78BFA"/>
            </a:solidFill>
            <a:ln w="12700">
              <a:solidFill>
                <a:srgbClr val="A78BFA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6217920" y="1700784"/>
              <a:ext cx="274320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dirty="0">
                  <a:solidFill>
                    <a:srgbClr val="000000"/>
                  </a:solidFill>
                </a:rPr>
                <a:t>🔀</a:t>
              </a:r>
              <a:endParaRPr lang="en-US" sz="22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6309360" y="2103120"/>
              <a:ext cx="2560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A78BFA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Post-merge</a:t>
              </a:r>
              <a:endParaRPr lang="en-US" sz="16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6309360" y="2441448"/>
              <a:ext cx="25603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8899BB"/>
                  </a:solidFill>
                </a:rPr>
                <a:t>병합 완료 후</a:t>
              </a:r>
              <a:endParaRPr lang="en-US" sz="12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6309360" y="2715768"/>
              <a:ext cx="25603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E2761"/>
                  </a:solidFill>
                </a:rPr>
                <a:t>의존성 충돌 검사</a:t>
              </a:r>
              <a:endParaRPr lang="en-US" sz="1300" dirty="0"/>
            </a:p>
          </p:txBody>
        </p:sp>
      </p:grpSp>
      <p:sp>
        <p:nvSpPr>
          <p:cNvPr id="24" name="Shape 22"/>
          <p:cNvSpPr/>
          <p:nvPr/>
        </p:nvSpPr>
        <p:spPr>
          <a:xfrm>
            <a:off x="365760" y="3127248"/>
            <a:ext cx="3931920" cy="1920240"/>
          </a:xfrm>
          <a:prstGeom prst="rect">
            <a:avLst/>
          </a:prstGeom>
          <a:solidFill>
            <a:srgbClr val="0D1117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1821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</a:rPr>
              <a:t>📝  구현 예시 (별도 스크립트 직접 작성)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349300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#!/bin/bash
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.git/hooks/pre-commit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run </a:t>
            </a: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.claude/skills/pre-commit-check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4407408"/>
            <a:ext cx="3657600" cy="594360"/>
          </a:xfrm>
          <a:prstGeom prst="rect">
            <a:avLst/>
          </a:prstGeom>
          <a:solidFill>
            <a:srgbClr val="FFF3CD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425696"/>
            <a:ext cx="34747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4F00"/>
                </a:solidFill>
              </a:rPr>
              <a:t>⚠️  모든 AI 도구가 자동 Hooks를 제공하지는 않음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B4F00"/>
                </a:solidFill>
              </a:rPr>
              <a:t>.claude/hooks/ 디렉토리는 실행할 Skills를 정리한 것일 뿐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80560" y="3127248"/>
            <a:ext cx="429768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318211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 ↔ Hooks 관계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63440" y="3547872"/>
            <a:ext cx="3931920" cy="438912"/>
          </a:xfrm>
          <a:prstGeom prst="rect">
            <a:avLst/>
          </a:prstGeom>
          <a:solidFill>
            <a:srgbClr val="4FC3F7">
              <a:alpha val="15000"/>
            </a:srgbClr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54787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</a:rPr>
              <a:t>Skills  </a:t>
            </a:r>
            <a:r>
              <a:rPr lang="en-US" sz="1200" dirty="0">
                <a:solidFill>
                  <a:srgbClr val="1E2761"/>
                </a:solidFill>
              </a:rPr>
              <a:t>지식 정의 (SKILL.md)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663440" y="4005072"/>
            <a:ext cx="3931920" cy="54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BB"/>
                </a:solidFill>
              </a:rPr>
              <a:t>↓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4059936"/>
            <a:ext cx="3931920" cy="438912"/>
          </a:xfrm>
          <a:prstGeom prst="rect">
            <a:avLst/>
          </a:prstGeom>
          <a:solidFill>
            <a:srgbClr val="A78BFA">
              <a:alpha val="15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405993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</a:rPr>
              <a:t>Hooks  </a:t>
            </a:r>
            <a:r>
              <a:rPr lang="en-US" sz="1200" dirty="0">
                <a:solidFill>
                  <a:srgbClr val="1E2761"/>
                </a:solidFill>
              </a:rPr>
              <a:t>특정 시점 실행용으로 구조화된 Skills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663440" y="4517136"/>
            <a:ext cx="3931920" cy="54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BB"/>
                </a:solidFill>
              </a:rPr>
              <a:t>↓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4572000"/>
            <a:ext cx="3931920" cy="438912"/>
          </a:xfrm>
          <a:prstGeom prst="rect">
            <a:avLst/>
          </a:prstGeom>
          <a:solidFill>
            <a:srgbClr val="FBBF24">
              <a:alpha val="15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457200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</a:rPr>
              <a:t>자동 실행  </a:t>
            </a:r>
            <a:r>
              <a:rPr lang="en-US" sz="1200" dirty="0">
                <a:solidFill>
                  <a:srgbClr val="1E2761"/>
                </a:solidFill>
              </a:rPr>
              <a:t>별도 스크립트로 구현 필수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&amp; Plugin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9BB"/>
                </a:solidFill>
              </a:rPr>
              <a:t>AI 모델 ↔ 외부 시스템 간 표준화된 인터페이스 프로토콜 + 확장 패키지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14800" cy="3931920"/>
          </a:xfrm>
          <a:prstGeom prst="rect">
            <a:avLst/>
          </a:prstGeom>
          <a:solidFill>
            <a:srgbClr val="252D4D"/>
          </a:solidFill>
          <a:ln w="25400">
            <a:solidFill>
              <a:srgbClr val="F472B6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78992"/>
            <a:ext cx="4114800" cy="6400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7043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72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🔌  MCP (Model Context Protocol)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8DCFC"/>
                </a:solidFill>
              </a:rPr>
              <a:t>Anthropic 발표. HTTP가 웹을, SMTP가 이메일을 표준화했듯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C8DCFC"/>
                </a:solidFill>
              </a:rPr>
              <a:t>AI ↔ 외부 시스템 간 통신을 표준화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25904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파일 시스템 직접 조회·조작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Drive, GitHub 연동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Slack, Postgres DB 등 실시간 연결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VSCode Extension으로 직관적 관리 가능</a:t>
            </a:r>
            <a:endParaRPr lang="en-US" sz="1200" dirty="0"/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89D9931C-A4B8-49A5-9A51-5F787F8857A4}"/>
              </a:ext>
            </a:extLst>
          </p:cNvPr>
          <p:cNvGrpSpPr/>
          <p:nvPr/>
        </p:nvGrpSpPr>
        <p:grpSpPr>
          <a:xfrm>
            <a:off x="449580" y="3191256"/>
            <a:ext cx="3947160" cy="1691640"/>
            <a:chOff x="502920" y="3584448"/>
            <a:chExt cx="4069080" cy="2084832"/>
          </a:xfrm>
        </p:grpSpPr>
        <p:sp>
          <p:nvSpPr>
            <p:cNvPr id="10" name="Shape 8"/>
            <p:cNvSpPr/>
            <p:nvPr/>
          </p:nvSpPr>
          <p:spPr>
            <a:xfrm>
              <a:off x="502920" y="3584448"/>
              <a:ext cx="777240" cy="347472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548640" y="3584448"/>
              <a:ext cx="685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구분</a:t>
              </a:r>
              <a:endParaRPr lang="en-US" sz="9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1325880" y="3584448"/>
              <a:ext cx="1051560" cy="347472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1371600" y="3584448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MCP</a:t>
              </a:r>
              <a:endParaRPr lang="en-US" sz="9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2423160" y="3584448"/>
              <a:ext cx="1051560" cy="347472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2468880" y="3584448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Skills</a:t>
              </a:r>
              <a:endParaRPr lang="en-US" sz="9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3520440" y="3584448"/>
              <a:ext cx="1051560" cy="347472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3566160" y="3584448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Plugin</a:t>
              </a:r>
              <a:endParaRPr lang="en-US" sz="9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502920" y="3931920"/>
              <a:ext cx="77724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548640" y="3931920"/>
              <a:ext cx="685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본질</a:t>
              </a:r>
              <a:endParaRPr lang="en-US" sz="9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1325880" y="3931920"/>
              <a:ext cx="105156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1371600" y="3931920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C8DCFC"/>
                  </a:solidFill>
                </a:rPr>
                <a:t>외부 </a:t>
              </a:r>
              <a:r>
                <a:rPr lang="en-US" sz="800" dirty="0" err="1">
                  <a:solidFill>
                    <a:srgbClr val="C8DCFC"/>
                  </a:solidFill>
                </a:rPr>
                <a:t>연결</a:t>
              </a:r>
              <a:r>
                <a:rPr lang="en-US" sz="800" dirty="0">
                  <a:solidFill>
                    <a:srgbClr val="C8DCFC"/>
                  </a:solidFill>
                </a:rPr>
                <a:t> </a:t>
              </a:r>
              <a:br>
                <a:rPr lang="en-US" sz="800" dirty="0">
                  <a:solidFill>
                    <a:srgbClr val="C8DCFC"/>
                  </a:solidFill>
                </a:rPr>
              </a:br>
              <a:r>
                <a:rPr lang="en-US" sz="800" dirty="0" err="1">
                  <a:solidFill>
                    <a:srgbClr val="C8DCFC"/>
                  </a:solidFill>
                </a:rPr>
                <a:t>프로토콜</a:t>
              </a:r>
              <a:endParaRPr lang="en-US" sz="8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2423160" y="3931920"/>
              <a:ext cx="105156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2468880" y="3931920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C8DCFC"/>
                  </a:solidFill>
                </a:rPr>
                <a:t>방법 가르치는 문서</a:t>
              </a:r>
              <a:endParaRPr lang="en-US" sz="8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3520440" y="3931920"/>
              <a:ext cx="105156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3566160" y="3931920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C8DCFC"/>
                  </a:solidFill>
                </a:rPr>
                <a:t>확장 </a:t>
              </a:r>
              <a:r>
                <a:rPr lang="en-US" sz="800" dirty="0" err="1">
                  <a:solidFill>
                    <a:srgbClr val="C8DCFC"/>
                  </a:solidFill>
                </a:rPr>
                <a:t>배포</a:t>
              </a:r>
              <a:r>
                <a:rPr lang="en-US" sz="800" dirty="0">
                  <a:solidFill>
                    <a:srgbClr val="C8DCFC"/>
                  </a:solidFill>
                </a:rPr>
                <a:t> </a:t>
              </a:r>
              <a:br>
                <a:rPr lang="en-US" sz="800" dirty="0">
                  <a:solidFill>
                    <a:srgbClr val="C8DCFC"/>
                  </a:solidFill>
                </a:rPr>
              </a:br>
              <a:r>
                <a:rPr lang="en-US" sz="800" dirty="0" err="1">
                  <a:solidFill>
                    <a:srgbClr val="C8DCFC"/>
                  </a:solidFill>
                </a:rPr>
                <a:t>패키지</a:t>
              </a:r>
              <a:endParaRPr lang="en-US" sz="8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502920" y="4279392"/>
              <a:ext cx="777240" cy="34747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548640" y="4279392"/>
              <a:ext cx="685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형태</a:t>
              </a:r>
              <a:endParaRPr lang="en-US" sz="9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1325880" y="4279392"/>
              <a:ext cx="1051560" cy="34747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1371600" y="4279392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C8DCFC"/>
                  </a:solidFill>
                </a:rPr>
                <a:t>실행 중인 서버 프로세스</a:t>
              </a:r>
              <a:endParaRPr lang="en-US" sz="8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2423160" y="4279392"/>
              <a:ext cx="1051560" cy="34747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2468880" y="4279392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SKILL.md 파일</a:t>
              </a:r>
              <a:endParaRPr lang="en-US" sz="9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3520440" y="4279392"/>
              <a:ext cx="1051560" cy="34747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3566160" y="4279392"/>
              <a:ext cx="100584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 err="1">
                  <a:solidFill>
                    <a:srgbClr val="C8DCFC"/>
                  </a:solidFill>
                </a:rPr>
                <a:t>Skills+MCP+Hooks</a:t>
              </a:r>
              <a:r>
                <a:rPr lang="en-US" sz="800" dirty="0">
                  <a:solidFill>
                    <a:srgbClr val="C8DCFC"/>
                  </a:solidFill>
                </a:rPr>
                <a:t> </a:t>
              </a:r>
              <a:r>
                <a:rPr lang="en-US" sz="800" dirty="0" err="1">
                  <a:solidFill>
                    <a:srgbClr val="C8DCFC"/>
                  </a:solidFill>
                </a:rPr>
                <a:t>묶음</a:t>
              </a:r>
              <a:endParaRPr lang="en-US" sz="8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502920" y="4626864"/>
              <a:ext cx="77724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35" name="Text 33"/>
            <p:cNvSpPr/>
            <p:nvPr/>
          </p:nvSpPr>
          <p:spPr>
            <a:xfrm>
              <a:off x="548640" y="4626864"/>
              <a:ext cx="685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네트워크</a:t>
              </a:r>
              <a:endParaRPr lang="en-US" sz="9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1325880" y="4626864"/>
              <a:ext cx="105156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1371600" y="4626864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필요</a:t>
              </a:r>
              <a:endParaRPr lang="en-US" sz="9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2423160" y="4626864"/>
              <a:ext cx="105156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39" name="Text 37"/>
            <p:cNvSpPr/>
            <p:nvPr/>
          </p:nvSpPr>
          <p:spPr>
            <a:xfrm>
              <a:off x="2468880" y="4626864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불필요</a:t>
              </a:r>
              <a:endParaRPr lang="en-US" sz="9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3520440" y="4626864"/>
              <a:ext cx="105156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41" name="Text 39"/>
            <p:cNvSpPr/>
            <p:nvPr/>
          </p:nvSpPr>
          <p:spPr>
            <a:xfrm>
              <a:off x="3566160" y="4626864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포함 가능</a:t>
              </a:r>
              <a:endParaRPr lang="en-US" sz="9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502920" y="4974336"/>
              <a:ext cx="777240" cy="34747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43" name="Text 41"/>
            <p:cNvSpPr/>
            <p:nvPr/>
          </p:nvSpPr>
          <p:spPr>
            <a:xfrm>
              <a:off x="548640" y="4974336"/>
              <a:ext cx="685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범위</a:t>
              </a:r>
              <a:endParaRPr lang="en-US" sz="90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1325880" y="4974336"/>
              <a:ext cx="1051560" cy="34747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45" name="Text 43"/>
            <p:cNvSpPr/>
            <p:nvPr/>
          </p:nvSpPr>
          <p:spPr>
            <a:xfrm>
              <a:off x="1371600" y="4974336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C8DCFC"/>
                  </a:solidFill>
                </a:rPr>
                <a:t>업계 </a:t>
              </a:r>
              <a:r>
                <a:rPr lang="en-US" sz="800" dirty="0" err="1">
                  <a:solidFill>
                    <a:srgbClr val="C8DCFC"/>
                  </a:solidFill>
                </a:rPr>
                <a:t>표준</a:t>
              </a:r>
              <a:r>
                <a:rPr lang="en-US" sz="800" dirty="0">
                  <a:solidFill>
                    <a:srgbClr val="C8DCFC"/>
                  </a:solidFill>
                </a:rPr>
                <a:t> </a:t>
              </a:r>
              <a:br>
                <a:rPr lang="en-US" sz="800" dirty="0">
                  <a:solidFill>
                    <a:srgbClr val="C8DCFC"/>
                  </a:solidFill>
                </a:rPr>
              </a:br>
              <a:r>
                <a:rPr lang="en-US" sz="800" dirty="0">
                  <a:solidFill>
                    <a:srgbClr val="C8DCFC"/>
                  </a:solidFill>
                </a:rPr>
                <a:t>(어디서나)</a:t>
              </a:r>
              <a:endParaRPr lang="en-US" sz="8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2423160" y="4974336"/>
              <a:ext cx="1051560" cy="34747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47" name="Text 45"/>
            <p:cNvSpPr/>
            <p:nvPr/>
          </p:nvSpPr>
          <p:spPr>
            <a:xfrm>
              <a:off x="2468880" y="4974336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Claude Code</a:t>
              </a:r>
              <a:br>
                <a:rPr lang="en-US" sz="900" dirty="0">
                  <a:solidFill>
                    <a:srgbClr val="C8DCFC"/>
                  </a:solidFill>
                </a:rPr>
              </a:br>
              <a:r>
                <a:rPr lang="en-US" sz="900" dirty="0">
                  <a:solidFill>
                    <a:srgbClr val="C8DCFC"/>
                  </a:solidFill>
                </a:rPr>
                <a:t> 중심</a:t>
              </a:r>
              <a:endParaRPr lang="en-US" sz="9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3520440" y="4974336"/>
              <a:ext cx="1051560" cy="34747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49" name="Text 47"/>
            <p:cNvSpPr/>
            <p:nvPr/>
          </p:nvSpPr>
          <p:spPr>
            <a:xfrm>
              <a:off x="3566160" y="4974336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Claude Code</a:t>
              </a:r>
              <a:br>
                <a:rPr lang="en-US" sz="900" dirty="0">
                  <a:solidFill>
                    <a:srgbClr val="C8DCFC"/>
                  </a:solidFill>
                </a:rPr>
              </a:br>
              <a:r>
                <a:rPr lang="en-US" sz="900" dirty="0">
                  <a:solidFill>
                    <a:srgbClr val="C8DCFC"/>
                  </a:solidFill>
                </a:rPr>
                <a:t> 특화</a:t>
              </a:r>
              <a:endParaRPr lang="en-US" sz="900" dirty="0"/>
            </a:p>
          </p:txBody>
        </p:sp>
        <p:sp>
          <p:nvSpPr>
            <p:cNvPr id="50" name="Shape 48"/>
            <p:cNvSpPr/>
            <p:nvPr/>
          </p:nvSpPr>
          <p:spPr>
            <a:xfrm>
              <a:off x="502920" y="5321808"/>
              <a:ext cx="77724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51" name="Text 49"/>
            <p:cNvSpPr/>
            <p:nvPr/>
          </p:nvSpPr>
          <p:spPr>
            <a:xfrm>
              <a:off x="548640" y="5321808"/>
              <a:ext cx="685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비유</a:t>
              </a:r>
              <a:endParaRPr lang="en-US" sz="90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1325880" y="5321808"/>
              <a:ext cx="105156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53" name="Text 51"/>
            <p:cNvSpPr/>
            <p:nvPr/>
          </p:nvSpPr>
          <p:spPr>
            <a:xfrm>
              <a:off x="1371600" y="5321808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 err="1">
                  <a:solidFill>
                    <a:srgbClr val="C8DCFC"/>
                  </a:solidFill>
                </a:rPr>
                <a:t>마트</a:t>
              </a:r>
              <a:r>
                <a:rPr lang="en-US" sz="800" dirty="0">
                  <a:solidFill>
                    <a:srgbClr val="C8DCFC"/>
                  </a:solidFill>
                </a:rPr>
                <a:t> </a:t>
              </a:r>
              <a:r>
                <a:rPr lang="en-US" sz="800" dirty="0" err="1">
                  <a:solidFill>
                    <a:srgbClr val="C8DCFC"/>
                  </a:solidFill>
                </a:rPr>
                <a:t>배달</a:t>
              </a:r>
              <a:br>
                <a:rPr lang="en-US" sz="800" dirty="0">
                  <a:solidFill>
                    <a:srgbClr val="C8DCFC"/>
                  </a:solidFill>
                </a:rPr>
              </a:br>
              <a:r>
                <a:rPr lang="en-US" sz="800" dirty="0">
                  <a:solidFill>
                    <a:srgbClr val="C8DCFC"/>
                  </a:solidFill>
                </a:rPr>
                <a:t> 서비스</a:t>
              </a:r>
              <a:endParaRPr lang="en-US" sz="800" dirty="0"/>
            </a:p>
          </p:txBody>
        </p:sp>
        <p:sp>
          <p:nvSpPr>
            <p:cNvPr id="54" name="Shape 52"/>
            <p:cNvSpPr/>
            <p:nvPr/>
          </p:nvSpPr>
          <p:spPr>
            <a:xfrm>
              <a:off x="2423160" y="5321808"/>
              <a:ext cx="105156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55" name="Text 53"/>
            <p:cNvSpPr/>
            <p:nvPr/>
          </p:nvSpPr>
          <p:spPr>
            <a:xfrm>
              <a:off x="2468880" y="5321808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요리책</a:t>
              </a:r>
              <a:endParaRPr lang="en-US" sz="900" dirty="0"/>
            </a:p>
          </p:txBody>
        </p:sp>
        <p:sp>
          <p:nvSpPr>
            <p:cNvPr id="56" name="Shape 54"/>
            <p:cNvSpPr/>
            <p:nvPr/>
          </p:nvSpPr>
          <p:spPr>
            <a:xfrm>
              <a:off x="3520440" y="5321808"/>
              <a:ext cx="105156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57" name="Text 55"/>
            <p:cNvSpPr/>
            <p:nvPr/>
          </p:nvSpPr>
          <p:spPr>
            <a:xfrm>
              <a:off x="3566160" y="5321808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밀키트 패키지</a:t>
              </a:r>
              <a:endParaRPr lang="en-US" sz="900" dirty="0"/>
            </a:p>
          </p:txBody>
        </p:sp>
      </p:grpSp>
      <p:sp>
        <p:nvSpPr>
          <p:cNvPr id="58" name="Shape 56"/>
          <p:cNvSpPr/>
          <p:nvPr/>
        </p:nvSpPr>
        <p:spPr>
          <a:xfrm>
            <a:off x="4663440" y="1078992"/>
            <a:ext cx="4114800" cy="3931920"/>
          </a:xfrm>
          <a:prstGeom prst="rect">
            <a:avLst/>
          </a:prstGeom>
          <a:solidFill>
            <a:srgbClr val="252D4D"/>
          </a:solidFill>
          <a:ln w="25400">
            <a:solidFill>
              <a:srgbClr val="2DD4B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663440" y="1078992"/>
            <a:ext cx="4114800" cy="6400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00600" y="117043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📦  Plugin (Claude Code 전용)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4800600" y="162763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DCFC"/>
                </a:solidFill>
              </a:rPr>
              <a:t>2025년 10월 출시. 여러 확장을 하나의 배포 패키지로 묶어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C8DCFC"/>
                </a:solidFill>
              </a:rPr>
              <a:t>"내 팀 셋업 그대로" 한 명령어로 공유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800600" y="196596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— /deploy, /review 단축 명령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— 특화된 AI 에이전트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— 도메인 지식 패키지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— 외부 연결 설정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— 자동 트리거 스크립트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LSP Servers — IDE 언어 서버 통합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800600" y="3951224"/>
            <a:ext cx="3840480" cy="749808"/>
          </a:xfrm>
          <a:prstGeom prst="rect">
            <a:avLst/>
          </a:prstGeom>
          <a:solidFill>
            <a:srgbClr val="1A2550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4" name="Text 62"/>
          <p:cNvSpPr/>
          <p:nvPr/>
        </p:nvSpPr>
        <p:spPr>
          <a:xfrm>
            <a:off x="4892040" y="3978656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/plugin install </a:t>
            </a: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&lt;marketplace-url&gt;
</a:t>
            </a: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/plugin marketplace add 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anthropics/skills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Subagent — 독립 Agent 병렬 처리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229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FFFFFF"/>
                </a:solidFill>
              </a:rPr>
              <a:t>📢 </a:t>
            </a:r>
            <a:r>
              <a:rPr lang="en-US" sz="1300" dirty="0" err="1">
                <a:solidFill>
                  <a:srgbClr val="FFFFFF"/>
                </a:solidFill>
              </a:rPr>
              <a:t>메인</a:t>
            </a:r>
            <a:r>
              <a:rPr lang="en-US" sz="1300" dirty="0">
                <a:solidFill>
                  <a:srgbClr val="FFFFFF"/>
                </a:solidFill>
              </a:rPr>
              <a:t> 에이전트에서 독립된 컨텍스트 윈도우로 분리되는 전문화된 AI </a:t>
            </a:r>
            <a:r>
              <a:rPr lang="en-US" sz="1300" dirty="0" err="1">
                <a:solidFill>
                  <a:srgbClr val="FFFFFF"/>
                </a:solidFill>
              </a:rPr>
              <a:t>인스턴스</a:t>
            </a:r>
            <a:endParaRPr lang="en-US" sz="13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1300" dirty="0">
                <a:solidFill>
                  <a:srgbClr val="FFFFFF"/>
                </a:solidFill>
              </a:rPr>
              <a:t>📢 </a:t>
            </a:r>
            <a:r>
              <a:rPr lang="en-US" sz="1300" dirty="0" err="1">
                <a:solidFill>
                  <a:srgbClr val="FFFFFF"/>
                </a:solidFill>
              </a:rPr>
              <a:t>메인</a:t>
            </a:r>
            <a:r>
              <a:rPr lang="en-US" sz="1300" dirty="0">
                <a:solidFill>
                  <a:srgbClr val="FFFFFF"/>
                </a:solidFill>
              </a:rPr>
              <a:t> 세션 오염 없이 제한된 권한으로 병렬 실행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1965960" cy="1874520"/>
          </a:xfrm>
          <a:prstGeom prst="rect">
            <a:avLst/>
          </a:prstGeom>
          <a:solidFill>
            <a:srgbClr val="FFFFFF"/>
          </a:solidFill>
          <a:ln w="2540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72768"/>
            <a:ext cx="196596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6420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4D399"/>
                </a:solidFill>
              </a:rPr>
              <a:t>🟢 정식 지원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4800" y="2331720"/>
            <a:ext cx="2087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도구 문서 기준으로 확인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커뮤니티 subagent 예시 다수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.claude/agents/*.md 로 직접 정의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1572768"/>
            <a:ext cx="1965960" cy="1874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BBF24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572768"/>
            <a:ext cx="196596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66420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 CLI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202996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BBF24"/>
                </a:solidFill>
              </a:rPr>
              <a:t>🟡 환경별 확인 필요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2331720"/>
            <a:ext cx="2087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사용 전 지원 여부 확인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권한 설정 </a:t>
            </a:r>
            <a:r>
              <a:rPr lang="en-US" sz="1000" dirty="0" err="1">
                <a:solidFill>
                  <a:srgbClr val="8899BB"/>
                </a:solidFill>
              </a:rPr>
              <a:t>강제</a:t>
            </a:r>
            <a:r>
              <a:rPr lang="en-US" sz="1000" dirty="0">
                <a:solidFill>
                  <a:srgbClr val="8899BB"/>
                </a:solidFill>
              </a:rPr>
              <a:t> </a:t>
            </a:r>
            <a:br>
              <a:rPr lang="en-US" sz="1000" dirty="0">
                <a:solidFill>
                  <a:srgbClr val="8899BB"/>
                </a:solidFill>
              </a:rPr>
            </a:br>
            <a:r>
              <a:rPr lang="en-US" sz="1000" dirty="0">
                <a:solidFill>
                  <a:srgbClr val="8899BB"/>
                </a:solidFill>
              </a:rPr>
              <a:t>(사용자 승인 없이 실행)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버전별 동작 차이 확인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572768"/>
            <a:ext cx="1965960" cy="1874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BBF24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572768"/>
            <a:ext cx="196596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66420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OpenAI Codex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202996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BBF24"/>
                </a:solidFill>
              </a:rPr>
              <a:t>🟡 환경별 확인 필요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17720" y="2331720"/>
            <a:ext cx="2087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Multi-agent 지원 방식 확인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사용 전 지원 방식 확인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자동 오케스트레이션 중심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12280" y="1572768"/>
            <a:ext cx="1965960" cy="1874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87171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12280" y="1572768"/>
            <a:ext cx="1965960" cy="5486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166420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Antigravity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03720" y="202996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87171"/>
                </a:solidFill>
              </a:rPr>
              <a:t>🔴 커스텀 불가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66560" y="2331720"/>
            <a:ext cx="2087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Browser Subagent는 시스템 내장 전용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사용자 정의 불가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병렬 세션은 </a:t>
            </a:r>
            <a:r>
              <a:rPr lang="en-US" sz="1000" dirty="0" err="1">
                <a:solidFill>
                  <a:srgbClr val="8899BB"/>
                </a:solidFill>
              </a:rPr>
              <a:t>가능하나</a:t>
            </a:r>
            <a:r>
              <a:rPr lang="en-US" sz="1000" dirty="0">
                <a:solidFill>
                  <a:srgbClr val="8899BB"/>
                </a:solidFill>
              </a:rPr>
              <a:t> </a:t>
            </a:r>
            <a:br>
              <a:rPr lang="en-US" sz="1000" dirty="0">
                <a:solidFill>
                  <a:srgbClr val="8899BB"/>
                </a:solidFill>
              </a:rPr>
            </a:br>
            <a:r>
              <a:rPr lang="en-US" sz="1000" dirty="0">
                <a:solidFill>
                  <a:srgbClr val="8899BB"/>
                </a:solidFill>
              </a:rPr>
              <a:t>Subagent 아님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584448"/>
            <a:ext cx="4206240" cy="1481328"/>
          </a:xfrm>
          <a:prstGeom prst="rect">
            <a:avLst/>
          </a:prstGeom>
          <a:solidFill>
            <a:srgbClr val="0D1117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6393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</a:rPr>
              <a:t>Claude Code — Subagent YAML 구조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3931920"/>
            <a:ext cx="3931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
</a:t>
            </a: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security-auditor
</a:t>
            </a: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보안 취약점 검토 전문 Agent
</a:t>
            </a: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model 필드 하드코딩 금지: </a:t>
            </a: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환경에서 선택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모델은 사용자/환경에서 선택
</a:t>
            </a: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Read, Grep, Glob   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최소 권한
---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584448"/>
            <a:ext cx="4023360" cy="1481328"/>
          </a:xfrm>
          <a:prstGeom prst="rect">
            <a:avLst/>
          </a:prstGeom>
          <a:solidFill>
            <a:srgbClr val="FFFFFF"/>
          </a:solidFill>
          <a:ln w="19050">
            <a:solidFill>
              <a:srgbClr val="2DD4B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92040" y="3639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</a:rPr>
              <a:t>tools 권한 전략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46320" y="3977640"/>
            <a:ext cx="3749040" cy="320040"/>
          </a:xfrm>
          <a:prstGeom prst="rect">
            <a:avLst/>
          </a:prstGeom>
          <a:solidFill>
            <a:srgbClr val="F4F7F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9776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읽기전용 (리뷰·분석)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86600" y="39776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Read, Grep, Glob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4325112"/>
            <a:ext cx="3749040" cy="320040"/>
          </a:xfrm>
          <a:prstGeom prst="rect">
            <a:avLst/>
          </a:prstGeom>
          <a:solidFill>
            <a:srgbClr val="F4F7FE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43251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읽기/쓰기 (구현 작업)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86600" y="432511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Read, Write, Edit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4672584"/>
            <a:ext cx="3749040" cy="320040"/>
          </a:xfrm>
          <a:prstGeom prst="rect">
            <a:avLst/>
          </a:prstGeom>
          <a:solidFill>
            <a:srgbClr val="F4F7FE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467258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실행포함 (테스트·빌드)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86600" y="4672584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Read, Write, Bash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도구별 파일 위치 &amp; 지원 현황 총정리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14173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구성 요소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91640" y="822960"/>
            <a:ext cx="1828800" cy="411480"/>
          </a:xfrm>
          <a:prstGeom prst="rect">
            <a:avLst/>
          </a:prstGeom>
          <a:solidFill>
            <a:srgbClr val="4FC3F7">
              <a:alpha val="85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8229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Claude Code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6160" y="822960"/>
            <a:ext cx="1828800" cy="411480"/>
          </a:xfrm>
          <a:prstGeom prst="rect">
            <a:avLst/>
          </a:prstGeom>
          <a:solidFill>
            <a:srgbClr val="34D399">
              <a:alpha val="8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8229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OpenAI Codex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40680" y="822960"/>
            <a:ext cx="1828800" cy="411480"/>
          </a:xfrm>
          <a:prstGeom prst="rect">
            <a:avLst/>
          </a:prstGeom>
          <a:solidFill>
            <a:srgbClr val="FBBF24">
              <a:alpha val="85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8229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Gemini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0" y="822960"/>
            <a:ext cx="1760220" cy="411480"/>
          </a:xfrm>
          <a:prstGeom prst="rect">
            <a:avLst/>
          </a:prstGeom>
          <a:solidFill>
            <a:srgbClr val="A78BFA">
              <a:alpha val="8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60920" y="822960"/>
            <a:ext cx="167834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Antigravity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1280160"/>
            <a:ext cx="1417320" cy="585216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1280160"/>
            <a:ext cx="128930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Guide Docs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91640" y="1280160"/>
            <a:ext cx="1828800" cy="585216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55648" y="1280160"/>
            <a:ext cx="17007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 (루트 자동로드)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566160" y="1280160"/>
            <a:ext cx="1828800" cy="585216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30168" y="1280160"/>
            <a:ext cx="17007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 (루트)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40680" y="1280160"/>
            <a:ext cx="1828800" cy="585216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04688" y="1280160"/>
            <a:ext cx="17007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GEMINI.md (루트)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315200" y="1280160"/>
            <a:ext cx="1760220" cy="585216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79208" y="1280160"/>
            <a:ext cx="1645601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GEMINI.md (루트)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28600" y="1901952"/>
            <a:ext cx="1417320" cy="585216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1901952"/>
            <a:ext cx="128930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691640" y="1901952"/>
            <a:ext cx="1828800" cy="585216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55648" y="1901952"/>
            <a:ext cx="17007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.claude/skills/*/SKILL.md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566160" y="1901952"/>
            <a:ext cx="1828800" cy="585216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0168" y="1901952"/>
            <a:ext cx="17007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.agents/skills/*/SKILL.md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440680" y="1901952"/>
            <a:ext cx="1828800" cy="585216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04688" y="1901952"/>
            <a:ext cx="17007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.agents/skills/*/SKILL.md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315200" y="1901952"/>
            <a:ext cx="1760220" cy="585216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79208" y="1901952"/>
            <a:ext cx="1645601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.agent/skills/*/SKILL.md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28600" y="2523744"/>
            <a:ext cx="1417320" cy="585216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" y="2523744"/>
            <a:ext cx="128930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Commands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691640" y="2523744"/>
            <a:ext cx="1828800" cy="585216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55648" y="2523744"/>
            <a:ext cx="17007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Skills에 통합 ✅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566160" y="2523744"/>
            <a:ext cx="1828800" cy="585216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30168" y="2523744"/>
            <a:ext cx="17007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Skills에 통합 ✅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440680" y="2523744"/>
            <a:ext cx="1828800" cy="585216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04688" y="2523744"/>
            <a:ext cx="17007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.gemini/commands/*.toml ⚠️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315200" y="2523744"/>
            <a:ext cx="1760220" cy="585216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79208" y="2523744"/>
            <a:ext cx="1645601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.agent/workflows/*.md ⚠️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28600" y="3145536"/>
            <a:ext cx="1417320" cy="585216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2608" y="3145536"/>
            <a:ext cx="128930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Hooks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691640" y="3145536"/>
            <a:ext cx="1828800" cy="585216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55648" y="3145536"/>
            <a:ext cx="17007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 + 별도스크립트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566160" y="3145536"/>
            <a:ext cx="1828800" cy="585216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30168" y="3145536"/>
            <a:ext cx="17007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별도 스크립트 작성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40680" y="3145536"/>
            <a:ext cx="1828800" cy="585216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04688" y="3145536"/>
            <a:ext cx="17007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별도 스크립트 작성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315200" y="3145536"/>
            <a:ext cx="1760220" cy="585216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79208" y="3145536"/>
            <a:ext cx="1645601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 Workflow 활용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28600" y="3767328"/>
            <a:ext cx="1417320" cy="585216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2608" y="3767328"/>
            <a:ext cx="128930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1691640" y="3767328"/>
            <a:ext cx="1828800" cy="585216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755648" y="3767328"/>
            <a:ext cx="17007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~/.claude.json / .claude.json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566160" y="3767328"/>
            <a:ext cx="1828800" cy="585216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30168" y="3767328"/>
            <a:ext cx="17007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.codex/config.toml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440680" y="3767328"/>
            <a:ext cx="1828800" cy="585216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04688" y="3767328"/>
            <a:ext cx="17007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~/.gemini/settings.json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7315200" y="3767328"/>
            <a:ext cx="1760220" cy="585216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79208" y="3767328"/>
            <a:ext cx="1645601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 내장 UI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28600" y="4389120"/>
            <a:ext cx="1417320" cy="585216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92608" y="4389120"/>
            <a:ext cx="128930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Subagent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1691640" y="4389120"/>
            <a:ext cx="1828800" cy="585216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755648" y="4389120"/>
            <a:ext cx="17007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.claude/agents/*.md  🟢 정식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566160" y="4389120"/>
            <a:ext cx="1828800" cy="585216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30168" y="4389120"/>
            <a:ext cx="17007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환경별 확인 필요 🟡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5440680" y="4389120"/>
            <a:ext cx="1828800" cy="585216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504688" y="4389120"/>
            <a:ext cx="17007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환경별 확인 필요 🟡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7315200" y="4389120"/>
            <a:ext cx="1760220" cy="585216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379208" y="4389120"/>
            <a:ext cx="1645601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미지원 🔴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정리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9BB"/>
                </a:solidFill>
              </a:rPr>
              <a:t>모든 구성 요소가 필수는 아닙니다 — 규모·비용·시간을 고려해 적절히 선택하세요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2651760" cy="1353312"/>
          </a:xfrm>
          <a:prstGeom prst="rect">
            <a:avLst/>
          </a:prstGeom>
          <a:solidFill>
            <a:srgbClr val="252D4D"/>
          </a:solidFill>
          <a:ln w="1905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98448"/>
            <a:ext cx="265176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" y="1435608"/>
            <a:ext cx="402336" cy="402336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4356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A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1435608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흐름 파악이 핵심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" y="1920240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구성 요소가 어떻게 연결되는지 이해하는 것이 단순 사용보다 중요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298448"/>
            <a:ext cx="2651760" cy="1353312"/>
          </a:xfrm>
          <a:prstGeom prst="rect">
            <a:avLst/>
          </a:prstGeom>
          <a:solidFill>
            <a:srgbClr val="252D4D"/>
          </a:solidFill>
          <a:ln w="1905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298448"/>
            <a:ext cx="265176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74136" y="1435608"/>
            <a:ext cx="402336" cy="40233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74136" y="14356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A"/>
                </a:solidFill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67912" y="1435608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Docs가 기반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74136" y="1920240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하나만 잘 써도 AI의 코딩 일관성이 크게 향상됨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1298448"/>
            <a:ext cx="2651760" cy="1353312"/>
          </a:xfrm>
          <a:prstGeom prst="rect">
            <a:avLst/>
          </a:prstGeom>
          <a:solidFill>
            <a:srgbClr val="252D4D"/>
          </a:solidFill>
          <a:ln w="19050">
            <a:solidFill>
              <a:srgbClr val="FBBF24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298448"/>
            <a:ext cx="265176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54496" y="1435608"/>
            <a:ext cx="402336" cy="40233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54496" y="14356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A"/>
                </a:solidFill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48272" y="1435608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 = 토큰 절약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54496" y="1920240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/명령어로 긴 프롬프트를 대체. 반복 작업은 Skills로 정의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2816352"/>
            <a:ext cx="2651760" cy="1353312"/>
          </a:xfrm>
          <a:prstGeom prst="rect">
            <a:avLst/>
          </a:prstGeom>
          <a:solidFill>
            <a:srgbClr val="252D4D"/>
          </a:solidFill>
          <a:ln w="19050">
            <a:solidFill>
              <a:srgbClr val="A78BFA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816352"/>
            <a:ext cx="265176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" y="2953512"/>
            <a:ext cx="402336" cy="40233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" y="29535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A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87552" y="2953512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Subagent는 도구별 차이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" y="3438144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도구마다 지원 방식이 다르므로 실행 전 환경 확인 필요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46120" y="2816352"/>
            <a:ext cx="2651760" cy="1353312"/>
          </a:xfrm>
          <a:prstGeom prst="rect">
            <a:avLst/>
          </a:prstGeom>
          <a:solidFill>
            <a:srgbClr val="252D4D"/>
          </a:solidFill>
          <a:ln w="19050">
            <a:solidFill>
              <a:srgbClr val="F472B6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46120" y="2816352"/>
            <a:ext cx="2651760" cy="5486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74136" y="2953512"/>
            <a:ext cx="402336" cy="40233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74136" y="29535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A"/>
                </a:solidFill>
              </a:rPr>
              <a:t>05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67912" y="2953512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472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Hooks는</a:t>
            </a:r>
            <a:r>
              <a:rPr lang="en-US" sz="1200" b="1" dirty="0">
                <a:solidFill>
                  <a:srgbClr val="F472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ko-KR" altLang="en-US" sz="1200" b="1" dirty="0">
                <a:solidFill>
                  <a:srgbClr val="F472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트리거</a:t>
            </a:r>
            <a:r>
              <a:rPr lang="en-US" sz="1200" b="1" dirty="0">
                <a:solidFill>
                  <a:srgbClr val="F472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필요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74136" y="3438144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실행은 Git Hook 등 외부 트리거 연동 + </a:t>
            </a:r>
            <a:r>
              <a:rPr lang="en-US" sz="1200" dirty="0" err="1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</a:t>
            </a: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스크립트</a:t>
            </a: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또는 호출 필요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26480" y="2816352"/>
            <a:ext cx="2651760" cy="1353312"/>
          </a:xfrm>
          <a:prstGeom prst="rect">
            <a:avLst/>
          </a:prstGeom>
          <a:solidFill>
            <a:srgbClr val="252D4D"/>
          </a:solidFill>
          <a:ln w="19050">
            <a:solidFill>
              <a:srgbClr val="2DD4B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2816352"/>
            <a:ext cx="2651760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54496" y="2953512"/>
            <a:ext cx="402336" cy="402336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54496" y="29535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A"/>
                </a:solidFill>
              </a:rPr>
              <a:t>06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48272" y="2953512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도구마다 방식이 다름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54496" y="3438144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Claude·Codex는 통합, Gemini·Antigravity는 Commands 별도 작성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2423</Words>
  <Application>Microsoft Office PowerPoint</Application>
  <PresentationFormat>화면 슬라이드 쇼(16:9)</PresentationFormat>
  <Paragraphs>365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맑은 고딕</vt:lpstr>
      <vt:lpstr>Arial</vt:lpstr>
      <vt:lpstr>Arial Black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완전 가이드 v3</dc:title>
  <dc:subject>PptxGenJS Presentation</dc:subject>
  <dc:creator>PptxGenJS</dc:creator>
  <cp:lastModifiedBy>현범 이</cp:lastModifiedBy>
  <cp:revision>16</cp:revision>
  <dcterms:created xsi:type="dcterms:W3CDTF">2026-02-23T07:17:00Z</dcterms:created>
  <dcterms:modified xsi:type="dcterms:W3CDTF">2026-02-24T05:55:05Z</dcterms:modified>
</cp:coreProperties>
</file>