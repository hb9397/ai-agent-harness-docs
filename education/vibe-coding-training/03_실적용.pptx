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0" y="365760"/>
            <a:ext cx="3200400" cy="3200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0760" y="777240"/>
            <a:ext cx="2377440" cy="2377440"/>
          </a:xfrm>
          <a:prstGeom prst="rect">
            <a:avLst/>
          </a:prstGeom>
          <a:solidFill>
            <a:srgbClr val="25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80760" y="777240"/>
            <a:ext cx="2377440" cy="2377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0">
                <a:solidFill>
                  <a:srgbClr val="A78BFA"/>
                </a:solidFill>
                <a:latin typeface="Calibri"/>
              </a:rPr>
              <a:t>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292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78BFA"/>
                </a:solidFill>
                <a:latin typeface="Calibri"/>
              </a:rPr>
              <a:t>PART ③ · 실제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5120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하네스가 실제로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120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A78BFA"/>
                </a:solidFill>
                <a:latin typeface="Calibri"/>
              </a:rPr>
              <a:t>돌아가는 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88920"/>
            <a:ext cx="512064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C8DCFC"/>
                </a:solidFill>
                <a:latin typeface="Calibri"/>
              </a:rPr>
              <a:t>이번엔 남의 사례로 실증한다 — superpowers · gstack.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C8DCFC"/>
                </a:solidFill>
                <a:latin typeface="Calibri"/>
              </a:rPr>
              <a:t>그리고 마지막엔 라이브로 하나 만들어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8899BB"/>
                </a:solidFill>
                <a:latin typeface="Calibri"/>
              </a:rPr>
              <a:t>|  superpowers  ·  gstack  ·  Plugin &amp; 전역 설치  ·  라이브 데모  |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5486400" cy="3017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BBF24"/>
                </a:solidFill>
                <a:latin typeface="Calibri"/>
              </a:rPr>
              <a:t>PART ③  ·  실증 도구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704088"/>
            <a:ext cx="2596896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0" b="1">
                <a:solidFill>
                  <a:srgbClr val="FBBF24"/>
                </a:solidFill>
                <a:latin typeface="Calibr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704088"/>
            <a:ext cx="566928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E2761"/>
                </a:solidFill>
                <a:latin typeface="Calibri"/>
              </a:rPr>
              <a:t>superpowers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481328"/>
            <a:ext cx="56692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GitHub ★ 약 252k · Claude Code 커뮤니티에서 가장 많이 참조·이용되는 스킬 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2103120"/>
            <a:ext cx="2761488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63240" y="2103120"/>
            <a:ext cx="2761488" cy="38404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80" y="2103120"/>
            <a:ext cx="2670048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🧠  brainstorming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560320"/>
            <a:ext cx="2670048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BBF24"/>
                </a:solidFill>
                <a:latin typeface="Calibri"/>
              </a:rPr>
              <a:t>무엇을?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2761"/>
                </a:solidFill>
                <a:latin typeface="Calibri"/>
              </a:rPr>
              <a:t>코드보다 요구·설계 문서를 먼저 만들게 강제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FBBF24"/>
                </a:solidFill>
                <a:latin typeface="Calibri"/>
              </a:rPr>
              <a:t>왜 하네스?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2761"/>
                </a:solidFill>
                <a:latin typeface="Calibri"/>
              </a:rPr>
              <a:t>AI가 되묻는 절차 자체가 규칙으로 굳어짐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761488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103120"/>
            <a:ext cx="2761488" cy="38404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103120"/>
            <a:ext cx="2670048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2761"/>
                </a:solidFill>
                <a:latin typeface="Calibri"/>
              </a:rPr>
              <a:t>✍️ 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560320"/>
            <a:ext cx="2670048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BBF24"/>
                </a:solidFill>
                <a:latin typeface="Calibri"/>
              </a:rPr>
              <a:t>무엇을?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2761"/>
                </a:solidFill>
                <a:latin typeface="Calibri"/>
              </a:rPr>
              <a:t>커밋 메시지 규격을 스킬로 고정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FBBF24"/>
                </a:solidFill>
                <a:latin typeface="Calibri"/>
              </a:rPr>
              <a:t>왜 하네스?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2761"/>
                </a:solidFill>
                <a:latin typeface="Calibri"/>
              </a:rPr>
              <a:t>팀·다음 사람에게 남는 형식이 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2761"/>
                </a:solidFill>
                <a:latin typeface="Calibri"/>
              </a:rPr>
              <a:t>쓰는 사람이 많다는 건 검증된 규격 — Plugin으로 한 번에 설치.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5486400" cy="3017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87171"/>
                </a:solidFill>
                <a:latin typeface="Calibri"/>
              </a:rPr>
              <a:t>PART ③  ·  실증 도구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704088"/>
            <a:ext cx="2596896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0" b="1">
                <a:solidFill>
                  <a:srgbClr val="F87171"/>
                </a:solidFill>
                <a:latin typeface="Calibr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704088"/>
            <a:ext cx="566928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E2761"/>
                </a:solidFill>
                <a:latin typeface="Calibri"/>
              </a:rPr>
              <a:t>gstack — 더 자세·세밀한 하네스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508760"/>
            <a:ext cx="56692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GitHub ★ 약 121k · Garry Tan (Y Combinator) — 역할별로 나눠 팀처럼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2103120"/>
            <a:ext cx="2761488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63240" y="2103120"/>
            <a:ext cx="2761488" cy="38404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80" y="2103120"/>
            <a:ext cx="2670048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🎭  무엇이 다른가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560320"/>
            <a:ext cx="2670048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87171"/>
                </a:solidFill>
                <a:latin typeface="Calibri"/>
              </a:rPr>
              <a:t>역할별 slash 명령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E2761"/>
                </a:solidFill>
                <a:latin typeface="Calibri"/>
              </a:rPr>
              <a:t>/office-hours · /review · /qa · /ship …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E2761"/>
                </a:solidFill>
                <a:latin typeface="Calibri"/>
              </a:rPr>
              <a:t>CEO · design · eng · QA · 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761488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103120"/>
            <a:ext cx="2761488" cy="38404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103120"/>
            <a:ext cx="2670048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📦  설치 방식은 다르다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560320"/>
            <a:ext cx="2670048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87171"/>
                </a:solidFill>
                <a:latin typeface="Calibri"/>
              </a:rPr>
              <a:t>Plugin 없음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E2761"/>
                </a:solidFill>
                <a:latin typeface="Calibri"/>
              </a:rPr>
              <a:t>git clone → 특정 위치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Calibri"/>
              </a:rPr>
              <a:t>~/.claude/skills/gstack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E2761"/>
                </a:solidFill>
                <a:latin typeface="Calibri"/>
              </a:rPr>
              <a:t>→ ./setup 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solidFill>
            <a:srgbClr val="FE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2761"/>
                </a:solidFill>
                <a:latin typeface="Calibri"/>
              </a:rPr>
              <a:t>스킬도 다양하고 배포 방식도 다양하다 — 공통은 언제나 .md 규격.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5486400" cy="3017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Calibri"/>
              </a:rPr>
              <a:t>PART ③  ·  하네스가 작동하는 순간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704088"/>
            <a:ext cx="2596896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>
                <a:solidFill>
                  <a:srgbClr val="34D399"/>
                </a:solidFill>
                <a:latin typeface="Calibri"/>
              </a:rPr>
              <a:t>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704088"/>
            <a:ext cx="566928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E2761"/>
                </a:solidFill>
                <a:latin typeface="Calibri"/>
              </a:rPr>
              <a:t>코드보다 문서가 먼저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508760"/>
            <a:ext cx="56692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brainstorming이 작동하는 순간 = 하네스가 작동하는 순간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2148840"/>
            <a:ext cx="1847088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63240" y="2148840"/>
            <a:ext cx="1847088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148840"/>
            <a:ext cx="1847088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STEP  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51176"/>
            <a:ext cx="184708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Calibri"/>
              </a:rPr>
              <a:t>요구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990088"/>
            <a:ext cx="1664208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만들고 싶은 것을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한 문장으로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148840"/>
            <a:ext cx="1847088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847088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148840"/>
            <a:ext cx="1847088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STEP  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551176"/>
            <a:ext cx="184708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Calibri"/>
              </a:rPr>
              <a:t>질의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990088"/>
            <a:ext cx="1664208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AI가 되묻는다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(놓친 요구를 캐낸다)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2148840"/>
            <a:ext cx="1847088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148840"/>
            <a:ext cx="1847088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2148840"/>
            <a:ext cx="1847088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STEP  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551176"/>
            <a:ext cx="184708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Calibri"/>
              </a:rPr>
              <a:t>.md 산출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90088"/>
            <a:ext cx="1664208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설계 문서 한 장이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먼저 완성된다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2761"/>
                </a:solidFill>
                <a:latin typeface="Calibri"/>
              </a:rPr>
              <a:t>코드가 아니라 문서를 먼저 만든다 — 이것이 하네스가 작동하는 순간이다.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D399"/>
                </a:solidFill>
                <a:latin typeface="Calibri"/>
              </a:rPr>
              <a:t>그리고 이 모든 것이 결국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82296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세 가지 .md로 모인다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74519"/>
            <a:ext cx="2651760" cy="1417320"/>
          </a:xfrm>
          <a:prstGeom prst="roundRect">
            <a:avLst>
              <a:gd name="adj" fmla="val 12000"/>
            </a:avLst>
          </a:prstGeom>
          <a:solidFill>
            <a:srgbClr val="25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2651760" cy="384048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26517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A1F3A"/>
                </a:solidFill>
                <a:latin typeface="Calibri"/>
              </a:rPr>
              <a:t>SKILL.md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0008"/>
            <a:ext cx="2651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재사용 전문 능력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26517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8DCFC"/>
                </a:solidFill>
                <a:latin typeface="Calibri"/>
              </a:rPr>
              <a:t>brainstorming · commit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874519"/>
            <a:ext cx="2651760" cy="1417320"/>
          </a:xfrm>
          <a:prstGeom prst="roundRect">
            <a:avLst>
              <a:gd name="adj" fmla="val 12000"/>
            </a:avLst>
          </a:prstGeom>
          <a:solidFill>
            <a:srgbClr val="25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874519"/>
            <a:ext cx="2651760" cy="38404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74519"/>
            <a:ext cx="26517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A1F3A"/>
                </a:solidFill>
                <a:latin typeface="Calibri"/>
              </a:rPr>
              <a:t>CLAUDE.md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350008"/>
            <a:ext cx="2651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프로젝트 컨텍스트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743200"/>
            <a:ext cx="26517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8DCFC"/>
                </a:solidFill>
                <a:latin typeface="Calibri"/>
              </a:rPr>
              <a:t>규칙 · 도구 · 예시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874519"/>
            <a:ext cx="2651760" cy="1417320"/>
          </a:xfrm>
          <a:prstGeom prst="roundRect">
            <a:avLst>
              <a:gd name="adj" fmla="val 12000"/>
            </a:avLst>
          </a:prstGeom>
          <a:solidFill>
            <a:srgbClr val="25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874519"/>
            <a:ext cx="2651760" cy="38404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874519"/>
            <a:ext cx="26517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A1F3A"/>
                </a:solidFill>
                <a:latin typeface="Calibri"/>
              </a:rPr>
              <a:t>AGENTS.md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350008"/>
            <a:ext cx="2651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다중 에이전트 공용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743200"/>
            <a:ext cx="26517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8DCFC"/>
                </a:solidFill>
                <a:latin typeface="Calibri"/>
              </a:rPr>
              <a:t>Codex · Antigravity 공통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0" y="3566160"/>
            <a:ext cx="6583680" cy="86868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566160"/>
            <a:ext cx="658368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8DCFC"/>
                </a:solidFill>
                <a:latin typeface="Calibri"/>
              </a:rPr>
              <a:t>지금 익힐 것 = 이 세 문서 쓰는 감각. 도구는 바뀌어도 규격은 같다.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572000"/>
            <a:ext cx="84124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899BB"/>
                </a:solidFill>
                <a:latin typeface="Calibri"/>
              </a:rPr>
              <a:t>다음 →  Plugin · 전역 설치, 그리고 라이브 데모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5486400" cy="3017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78BFA"/>
                </a:solidFill>
                <a:latin typeface="Calibri"/>
              </a:rPr>
              <a:t>PART ③  · 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704088"/>
            <a:ext cx="2596896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0" b="1">
                <a:solidFill>
                  <a:srgbClr val="A78BFA"/>
                </a:solidFill>
                <a:latin typeface="Calibri"/>
              </a:rPr>
              <a:t>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704088"/>
            <a:ext cx="566928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E2761"/>
                </a:solidFill>
                <a:latin typeface="Calibri"/>
              </a:rPr>
              <a:t>Plugin · 그리고 어디에 둘까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508760"/>
            <a:ext cx="56692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스킬·서브에이전트·훅을 묶어 배포 — 사용자 홈에 두면 모든 프로젝트에서 공유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2148840"/>
            <a:ext cx="2761488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63240" y="2148840"/>
            <a:ext cx="2761488" cy="38404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148840"/>
            <a:ext cx="2761488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🔌  Plugin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87752"/>
            <a:ext cx="2487168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78BFA"/>
                </a:solidFill>
                <a:latin typeface="Calibri"/>
              </a:rPr>
              <a:t>무엇?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E2761"/>
                </a:solidFill>
                <a:latin typeface="Calibri"/>
              </a:rPr>
              <a:t>스킬 · 서브에이전트 · 훅을 한 팩으로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A78BFA"/>
                </a:solidFill>
                <a:latin typeface="Calibri"/>
              </a:rPr>
              <a:t>예시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E2761"/>
                </a:solidFill>
                <a:latin typeface="Calibri"/>
              </a:rPr>
              <a:t>superpowers 등 검증된 스킬 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48840"/>
            <a:ext cx="2761488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148840"/>
            <a:ext cx="2761488" cy="38404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2148840"/>
            <a:ext cx="2761488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🌐  전역 · 프로젝트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587752"/>
            <a:ext cx="2487168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78BFA"/>
                </a:solidFill>
                <a:latin typeface="Calibri"/>
              </a:rPr>
              <a:t>전역 (사용자 홈)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E2761"/>
                </a:solidFill>
                <a:latin typeface="Calibri"/>
              </a:rPr>
              <a:t>~/.claude/skills/  ·  ~/.codex/skills/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A78BFA"/>
                </a:solidFill>
                <a:latin typeface="Calibri"/>
              </a:rPr>
              <a:t>프로젝트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E2761"/>
                </a:solidFill>
                <a:latin typeface="Calibri"/>
              </a:rPr>
              <a:t>&lt;proj&gt;/.claude/  ·  &lt;proj&gt;/.agents/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solidFill>
            <a:srgbClr val="EE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224528"/>
            <a:ext cx="8412480" cy="7040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2761"/>
                </a:solidFill>
                <a:latin typeface="Calibri"/>
              </a:rPr>
              <a:t>자주 쓰는 건 전역, 프로젝트 특화는 프로젝트에 — 어디에 두든 규격은 같다.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7316"/>
                </a:solidFill>
                <a:latin typeface="Calibri"/>
              </a:rPr>
              <a:t>🚀  지금부터 라이브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82296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같은 하네스, 두 개의 데모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3977639" cy="2103120"/>
          </a:xfrm>
          <a:prstGeom prst="roundRect">
            <a:avLst>
              <a:gd name="adj" fmla="val 12000"/>
            </a:avLst>
          </a:prstGeom>
          <a:solidFill>
            <a:srgbClr val="25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3977639" cy="40233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3977639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A1F3A"/>
                </a:solidFill>
                <a:latin typeface="Calibri"/>
              </a:rPr>
              <a:t>1안 · 개인용 TODO 데스크톱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478024"/>
            <a:ext cx="3648456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Electron + React + TS  →  .exe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C8DCFC"/>
                </a:solidFill>
                <a:latin typeface="Calibri"/>
              </a:rPr>
              <a:t>파일 저장 · 주간보고 .md 내보내기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C8DCFC"/>
                </a:solidFill>
                <a:latin typeface="Calibri"/>
              </a:rPr>
              <a:t>풀 라이브 30분 — 설계 .md → 구현 → 재현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965960"/>
            <a:ext cx="3977639" cy="2103120"/>
          </a:xfrm>
          <a:prstGeom prst="roundRect">
            <a:avLst>
              <a:gd name="adj" fmla="val 12000"/>
            </a:avLst>
          </a:prstGeom>
          <a:solidFill>
            <a:srgbClr val="25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965960"/>
            <a:ext cx="3977639" cy="40233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65960"/>
            <a:ext cx="3977639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A1F3A"/>
                </a:solidFill>
                <a:latin typeface="Calibri"/>
              </a:rPr>
              <a:t>2안 · 재난 주제도 지도 서비스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1" y="2478024"/>
            <a:ext cx="3648456" cy="1051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OpenLayers + 브이월드 배경지도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C8DCFC"/>
                </a:solidFill>
                <a:latin typeface="Calibri"/>
              </a:rPr>
              <a:t>재난 API 레이어 · shp 업로드 주제도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C8DCFC"/>
                </a:solidFill>
                <a:latin typeface="Calibri"/>
              </a:rPr>
              <a:t>사전 세팅 위 확장 데모 — 범위 확정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3264408"/>
            <a:ext cx="364845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FC3F7"/>
                </a:solidFill>
                <a:latin typeface="Calibri"/>
              </a:rPr>
              <a:t>API 발급처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8DCFC"/>
                </a:solidFill>
                <a:latin typeface="Calibri"/>
              </a:rPr>
              <a:t>배경지도 — 브이월드 개발자센터 (vworld.kr/dev)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8DCFC"/>
                </a:solidFill>
                <a:latin typeface="Calibri"/>
              </a:rPr>
              <a:t>재난 API — 확정 시 기재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43400"/>
            <a:ext cx="822960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C8DCFC"/>
                </a:solidFill>
                <a:latin typeface="Calibri"/>
              </a:rPr>
              <a:t>도메인이 달라도 시작은 설계 .md — 코드는 사라져도, 문서만 있으면 돌아옵니다.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