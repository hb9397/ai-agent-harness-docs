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0" y="365760"/>
            <a:ext cx="3200400" cy="3200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80760" y="777240"/>
            <a:ext cx="2377440" cy="2377440"/>
          </a:xfrm>
          <a:prstGeom prst="rect">
            <a:avLst/>
          </a:prstGeom>
          <a:solidFill>
            <a:srgbClr val="25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80760" y="777240"/>
            <a:ext cx="2377440" cy="23774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0" b="0">
                <a:solidFill>
                  <a:srgbClr val="A78BFA"/>
                </a:solidFill>
                <a:latin typeface="Calibri"/>
              </a:rPr>
              <a:t>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02920"/>
            <a:ext cx="5029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A78BFA"/>
                </a:solidFill>
                <a:latin typeface="Calibri"/>
              </a:rPr>
              <a:t>PART ③ · 실제 적용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60120"/>
            <a:ext cx="512064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FFFFFF"/>
                </a:solidFill>
                <a:latin typeface="Calibri"/>
              </a:rPr>
              <a:t>하네스가 실제로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83080"/>
            <a:ext cx="512064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A78BFA"/>
                </a:solidFill>
                <a:latin typeface="Calibri"/>
              </a:rPr>
              <a:t>돌아가는 순간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788920"/>
            <a:ext cx="5120640" cy="1371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C8DCFC"/>
                </a:solidFill>
                <a:latin typeface="Calibri"/>
              </a:rPr>
              <a:t>이번엔 남의 사례로 실증한다 — superpowers · gstack.</a:t>
            </a:r>
          </a:p>
          <a:p>
            <a:pPr algn="l">
              <a:lnSpc>
                <a:spcPct val="140000"/>
              </a:lnSpc>
            </a:pPr>
            <a:r>
              <a:rPr sz="1600" b="0">
                <a:solidFill>
                  <a:srgbClr val="C8DCFC"/>
                </a:solidFill>
                <a:latin typeface="Calibri"/>
              </a:rPr>
              <a:t>그리고 마지막엔 라이브로 하나 만들어 본다.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434840"/>
            <a:ext cx="813816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8899BB"/>
                </a:solidFill>
                <a:latin typeface="Calibri"/>
              </a:rPr>
              <a:t>|  superpowers  ·  gstack  ·  Plugin &amp; 전역 설치  ·  라이브 데모  |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5486400" cy="3017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BBF24"/>
                </a:solidFill>
                <a:latin typeface="Calibri"/>
              </a:rPr>
              <a:t>PART ③  ·  실증 도구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704088"/>
            <a:ext cx="2596896" cy="3200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0" b="1">
                <a:solidFill>
                  <a:srgbClr val="FBBF24"/>
                </a:solidFill>
                <a:latin typeface="Calibri"/>
              </a:rPr>
              <a:t>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3240" y="704088"/>
            <a:ext cx="566928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E2761"/>
                </a:solidFill>
                <a:latin typeface="Calibri"/>
              </a:rPr>
              <a:t>superpowers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63240" y="1481328"/>
            <a:ext cx="566928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B7280"/>
                </a:solidFill>
                <a:latin typeface="Calibri"/>
              </a:rPr>
              <a:t>GitHub ★ 약 252k · Claude Code 커뮤니티에서 가장 많이 참조·이용되는 스킬 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63240" y="2103120"/>
            <a:ext cx="2761488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063240" y="2103120"/>
            <a:ext cx="2761488" cy="38404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54680" y="2103120"/>
            <a:ext cx="2670048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E2761"/>
                </a:solidFill>
                <a:latin typeface="Calibri"/>
              </a:rPr>
              <a:t>🧠  brainstorming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2560320"/>
            <a:ext cx="2670048" cy="1417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BBF24"/>
                </a:solidFill>
                <a:latin typeface="Calibri"/>
              </a:rPr>
              <a:t>무엇을?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E2761"/>
                </a:solidFill>
                <a:latin typeface="Calibri"/>
              </a:rPr>
              <a:t>코드보다 요구·설계 문서를 먼저 만들게 강제</a:t>
            </a:r>
          </a:p>
          <a:p>
            <a:pPr algn="l">
              <a:lnSpc>
                <a:spcPct val="120000"/>
              </a:lnSpc>
            </a:pPr>
            <a:r>
              <a:rPr sz="1100" b="1">
                <a:solidFill>
                  <a:srgbClr val="FBBF24"/>
                </a:solidFill>
                <a:latin typeface="Calibri"/>
              </a:rPr>
              <a:t>왜 하네스?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E2761"/>
                </a:solidFill>
                <a:latin typeface="Calibri"/>
              </a:rPr>
              <a:t>AI가 되묻는 절차 자체가 규칙으로 굳어짐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2103120"/>
            <a:ext cx="2761488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89320" y="2103120"/>
            <a:ext cx="2761488" cy="38404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2103120"/>
            <a:ext cx="2670048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E2761"/>
                </a:solidFill>
                <a:latin typeface="Calibri"/>
              </a:rPr>
              <a:t>✍️  commit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2560320"/>
            <a:ext cx="2670048" cy="1417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BBF24"/>
                </a:solidFill>
                <a:latin typeface="Calibri"/>
              </a:rPr>
              <a:t>무엇을?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E2761"/>
                </a:solidFill>
                <a:latin typeface="Calibri"/>
              </a:rPr>
              <a:t>커밋 메시지 규격을 스킬로 고정</a:t>
            </a:r>
          </a:p>
          <a:p>
            <a:pPr algn="l">
              <a:lnSpc>
                <a:spcPct val="120000"/>
              </a:lnSpc>
            </a:pPr>
            <a:r>
              <a:rPr sz="1100" b="1">
                <a:solidFill>
                  <a:srgbClr val="FBBF24"/>
                </a:solidFill>
                <a:latin typeface="Calibri"/>
              </a:rPr>
              <a:t>왜 하네스?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1E2761"/>
                </a:solidFill>
                <a:latin typeface="Calibri"/>
              </a:rPr>
              <a:t>팀·다음 사람에게 남는 형식이 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224528"/>
            <a:ext cx="8412480" cy="704088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4224528"/>
            <a:ext cx="8412480" cy="70408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1E2761"/>
                </a:solidFill>
                <a:latin typeface="Calibri"/>
              </a:rPr>
              <a:t>쓰는 사람이 많다는 건 검증된 규격 — Plugin으로 한 번에 설치.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5486400" cy="3017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87171"/>
                </a:solidFill>
                <a:latin typeface="Calibri"/>
              </a:rPr>
              <a:t>PART ③  ·  실증 도구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704088"/>
            <a:ext cx="2596896" cy="3200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0" b="1">
                <a:solidFill>
                  <a:srgbClr val="F87171"/>
                </a:solidFill>
                <a:latin typeface="Calibri"/>
              </a:rPr>
              <a:t>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3240" y="704088"/>
            <a:ext cx="566928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E2761"/>
                </a:solidFill>
                <a:latin typeface="Calibri"/>
              </a:rPr>
              <a:t>gstack — 더 자세·세밀한 하네스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63240" y="1508760"/>
            <a:ext cx="566928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B7280"/>
                </a:solidFill>
                <a:latin typeface="Calibri"/>
              </a:rPr>
              <a:t>GitHub ★ 약 121k · Garry Tan (Y Combinator) — 역할별로 나눠 팀처럼 운영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63240" y="2103120"/>
            <a:ext cx="2761488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063240" y="2103120"/>
            <a:ext cx="2761488" cy="384048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54680" y="2103120"/>
            <a:ext cx="2670048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🎭  무엇이 다른가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2560320"/>
            <a:ext cx="2670048" cy="1417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87171"/>
                </a:solidFill>
                <a:latin typeface="Calibri"/>
              </a:rPr>
              <a:t>역할별 slash 명령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1E2761"/>
                </a:solidFill>
                <a:latin typeface="Calibri"/>
              </a:rPr>
              <a:t>/office-hours · /review · /qa · /ship …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1E2761"/>
                </a:solidFill>
                <a:latin typeface="Calibri"/>
              </a:rPr>
              <a:t>CEO · design · eng · QA · ship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2103120"/>
            <a:ext cx="2761488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89320" y="2103120"/>
            <a:ext cx="2761488" cy="384048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2103120"/>
            <a:ext cx="2670048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📦  설치 방식은 다르다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2560320"/>
            <a:ext cx="2670048" cy="1417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87171"/>
                </a:solidFill>
                <a:latin typeface="Calibri"/>
              </a:rPr>
              <a:t>Plugin 없음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1E2761"/>
                </a:solidFill>
                <a:latin typeface="Calibri"/>
              </a:rPr>
              <a:t>git clone → 특정 위치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6B7280"/>
                </a:solidFill>
                <a:latin typeface="Calibri"/>
              </a:rPr>
              <a:t>~/.claude/skills/gstack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1E2761"/>
                </a:solidFill>
                <a:latin typeface="Calibri"/>
              </a:rPr>
              <a:t>→ ./setup 실행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224528"/>
            <a:ext cx="8412480" cy="704088"/>
          </a:xfrm>
          <a:prstGeom prst="rect">
            <a:avLst/>
          </a:prstGeom>
          <a:solidFill>
            <a:srgbClr val="FE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4224528"/>
            <a:ext cx="8412480" cy="70408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1E2761"/>
                </a:solidFill>
                <a:latin typeface="Calibri"/>
              </a:rPr>
              <a:t>스킬도 다양하고 배포 방식도 다양하다 — 공통은 언제나 .md 규격.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5486400" cy="3017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34D399"/>
                </a:solidFill>
                <a:latin typeface="Calibri"/>
              </a:rPr>
              <a:t>PART ③  ·  하네스가 작동하는 순간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704088"/>
            <a:ext cx="2596896" cy="3200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0" b="1">
                <a:solidFill>
                  <a:srgbClr val="34D399"/>
                </a:solidFill>
                <a:latin typeface="Calibri"/>
              </a:rPr>
              <a:t>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3240" y="704088"/>
            <a:ext cx="566928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1E2761"/>
                </a:solidFill>
                <a:latin typeface="Calibri"/>
              </a:rPr>
              <a:t>코드보다 문서가 먼저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63240" y="1508760"/>
            <a:ext cx="566928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6B7280"/>
                </a:solidFill>
                <a:latin typeface="Calibri"/>
              </a:rPr>
              <a:t>brainstorming이 작동하는 순간 = 하네스가 작동하는 순간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63240" y="2148840"/>
            <a:ext cx="1847088" cy="1783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063240" y="2148840"/>
            <a:ext cx="1847088" cy="32918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63240" y="2148840"/>
            <a:ext cx="1847088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STEP  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2551176"/>
            <a:ext cx="1847088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1E2761"/>
                </a:solidFill>
                <a:latin typeface="Calibri"/>
              </a:rPr>
              <a:t>요구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2990088"/>
            <a:ext cx="1664208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6B7280"/>
                </a:solidFill>
                <a:latin typeface="Calibri"/>
              </a:rPr>
              <a:t>만들고 싶은 것을</a:t>
            </a:r>
          </a:p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6B7280"/>
                </a:solidFill>
                <a:latin typeface="Calibri"/>
              </a:rPr>
              <a:t>한 문장으로 말한다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2148840"/>
            <a:ext cx="1847088" cy="1783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0" y="2148840"/>
            <a:ext cx="1847088" cy="32918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2148840"/>
            <a:ext cx="1847088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STEP  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551176"/>
            <a:ext cx="1847088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1E2761"/>
                </a:solidFill>
                <a:latin typeface="Calibri"/>
              </a:rPr>
              <a:t>질의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2990088"/>
            <a:ext cx="1664208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6B7280"/>
                </a:solidFill>
                <a:latin typeface="Calibri"/>
              </a:rPr>
              <a:t>AI가 되묻는다</a:t>
            </a:r>
          </a:p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6B7280"/>
                </a:solidFill>
                <a:latin typeface="Calibri"/>
              </a:rPr>
              <a:t>(놓친 요구를 캐낸다)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95160" y="2148840"/>
            <a:ext cx="1847088" cy="1783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95160" y="2148840"/>
            <a:ext cx="1847088" cy="32918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95160" y="2148840"/>
            <a:ext cx="1847088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STEP  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2551176"/>
            <a:ext cx="1847088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1E2761"/>
                </a:solidFill>
                <a:latin typeface="Calibri"/>
              </a:rPr>
              <a:t>.md 산출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2990088"/>
            <a:ext cx="1664208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6B7280"/>
                </a:solidFill>
                <a:latin typeface="Calibri"/>
              </a:rPr>
              <a:t>설계 문서 한 장이</a:t>
            </a:r>
          </a:p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6B7280"/>
                </a:solidFill>
                <a:latin typeface="Calibri"/>
              </a:rPr>
              <a:t>먼저 완성된다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224528"/>
            <a:ext cx="8412480" cy="704088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4224528"/>
            <a:ext cx="8412480" cy="70408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1E2761"/>
                </a:solidFill>
                <a:latin typeface="Calibri"/>
              </a:rPr>
              <a:t>코드가 아니라 문서를 먼저 만든다 — 이것이 하네스가 작동하는 순간이다.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229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34D399"/>
                </a:solidFill>
                <a:latin typeface="Calibri"/>
              </a:rPr>
              <a:t>그리고 이 모든 것이 결국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822960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세 가지 .md로 모인다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74519"/>
            <a:ext cx="2651760" cy="1417320"/>
          </a:xfrm>
          <a:prstGeom prst="roundRect">
            <a:avLst>
              <a:gd name="adj" fmla="val 12000"/>
            </a:avLst>
          </a:prstGeom>
          <a:solidFill>
            <a:srgbClr val="25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874519"/>
            <a:ext cx="2651760" cy="384048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74519"/>
            <a:ext cx="2651760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1A1F3A"/>
                </a:solidFill>
                <a:latin typeface="Calibri"/>
              </a:rPr>
              <a:t>SKILL.md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50008"/>
            <a:ext cx="26517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재사용 전문 능력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43200"/>
            <a:ext cx="265176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C8DCFC"/>
                </a:solidFill>
                <a:latin typeface="Calibri"/>
              </a:rPr>
              <a:t>brainstorming · commit 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874519"/>
            <a:ext cx="2651760" cy="1417320"/>
          </a:xfrm>
          <a:prstGeom prst="roundRect">
            <a:avLst>
              <a:gd name="adj" fmla="val 12000"/>
            </a:avLst>
          </a:prstGeom>
          <a:solidFill>
            <a:srgbClr val="25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46120" y="1874519"/>
            <a:ext cx="2651760" cy="38404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46120" y="1874519"/>
            <a:ext cx="2651760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1A1F3A"/>
                </a:solidFill>
                <a:latin typeface="Calibri"/>
              </a:rPr>
              <a:t>CLAUDE.md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2350008"/>
            <a:ext cx="26517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프로젝트 컨텍스트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2743200"/>
            <a:ext cx="265176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C8DCFC"/>
                </a:solidFill>
                <a:latin typeface="Calibri"/>
              </a:rPr>
              <a:t>규칙 · 도구 · 예시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1874519"/>
            <a:ext cx="2651760" cy="1417320"/>
          </a:xfrm>
          <a:prstGeom prst="roundRect">
            <a:avLst>
              <a:gd name="adj" fmla="val 12000"/>
            </a:avLst>
          </a:prstGeom>
          <a:solidFill>
            <a:srgbClr val="25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874519"/>
            <a:ext cx="2651760" cy="38404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0" y="1874519"/>
            <a:ext cx="2651760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1A1F3A"/>
                </a:solidFill>
                <a:latin typeface="Calibri"/>
              </a:rPr>
              <a:t>AGENTS.md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2350008"/>
            <a:ext cx="26517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다중 에이전트 공용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2743200"/>
            <a:ext cx="265176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C8DCFC"/>
                </a:solidFill>
                <a:latin typeface="Calibri"/>
              </a:rPr>
              <a:t>Codex · Antigravity 공통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80160" y="3566160"/>
            <a:ext cx="6583680" cy="86868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0160" y="3566160"/>
            <a:ext cx="6583680" cy="868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C8DCFC"/>
                </a:solidFill>
                <a:latin typeface="Calibri"/>
              </a:rPr>
              <a:t>지금 익힐 것 = 이 세 문서 쓰는 감각. 도구는 바뀌어도 규격은 같다.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572000"/>
            <a:ext cx="841248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8899BB"/>
                </a:solidFill>
                <a:latin typeface="Calibri"/>
              </a:rPr>
              <a:t>다음 →  Plugin · 전역 설치, 그리고 라이브 데모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5486400" cy="3017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A78BFA"/>
                </a:solidFill>
                <a:latin typeface="Calibri"/>
              </a:rPr>
              <a:t>PART ③  ·  확장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704088"/>
            <a:ext cx="2596896" cy="3200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0" b="1">
                <a:solidFill>
                  <a:srgbClr val="A78BFA"/>
                </a:solidFill>
                <a:latin typeface="Calibri"/>
              </a:rPr>
              <a:t>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3240" y="704088"/>
            <a:ext cx="566928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E2761"/>
                </a:solidFill>
                <a:latin typeface="Calibri"/>
              </a:rPr>
              <a:t>Plugin · 그리고 어디에 둘까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63240" y="1508760"/>
            <a:ext cx="566928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B7280"/>
                </a:solidFill>
                <a:latin typeface="Calibri"/>
              </a:rPr>
              <a:t>스킬·서브에이전트·훅을 묶어 배포 — 사용자 홈에 두면 모든 프로젝트에서 공유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63240" y="2148840"/>
            <a:ext cx="2761488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063240" y="2148840"/>
            <a:ext cx="2761488" cy="38404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63240" y="2148840"/>
            <a:ext cx="2761488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🔌  Plugin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587752"/>
            <a:ext cx="2487168" cy="1371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78BFA"/>
                </a:solidFill>
                <a:latin typeface="Calibri"/>
              </a:rPr>
              <a:t>무엇?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1E2761"/>
                </a:solidFill>
                <a:latin typeface="Calibri"/>
              </a:rPr>
              <a:t>스킬 · 서브에이전트 · 훅을 한 팩으로</a:t>
            </a:r>
          </a:p>
          <a:p>
            <a:pPr algn="l">
              <a:lnSpc>
                <a:spcPct val="120000"/>
              </a:lnSpc>
            </a:pPr>
            <a:r>
              <a:rPr sz="1100" b="1">
                <a:solidFill>
                  <a:srgbClr val="A78BFA"/>
                </a:solidFill>
                <a:latin typeface="Calibri"/>
              </a:rPr>
              <a:t>예시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1E2761"/>
                </a:solidFill>
                <a:latin typeface="Calibri"/>
              </a:rPr>
              <a:t>superpowers 등 검증된 스킬 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2148840"/>
            <a:ext cx="2761488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89320" y="2148840"/>
            <a:ext cx="2761488" cy="38404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89320" y="2148840"/>
            <a:ext cx="2761488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🌐  전역 · 프로젝트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587752"/>
            <a:ext cx="2487168" cy="1371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78BFA"/>
                </a:solidFill>
                <a:latin typeface="Calibri"/>
              </a:rPr>
              <a:t>전역 (사용자 홈)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1E2761"/>
                </a:solidFill>
                <a:latin typeface="Calibri"/>
              </a:rPr>
              <a:t>~/.claude/skills/  ·  ~/.codex/skills/</a:t>
            </a:r>
          </a:p>
          <a:p>
            <a:pPr algn="l">
              <a:lnSpc>
                <a:spcPct val="120000"/>
              </a:lnSpc>
            </a:pPr>
            <a:r>
              <a:rPr sz="1100" b="1">
                <a:solidFill>
                  <a:srgbClr val="A78BFA"/>
                </a:solidFill>
                <a:latin typeface="Calibri"/>
              </a:rPr>
              <a:t>프로젝트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1E2761"/>
                </a:solidFill>
                <a:latin typeface="Calibri"/>
              </a:rPr>
              <a:t>&lt;proj&gt;/.claude/  ·  &lt;proj&gt;/.agents/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224528"/>
            <a:ext cx="8412480" cy="704088"/>
          </a:xfrm>
          <a:prstGeom prst="rect">
            <a:avLst/>
          </a:prstGeom>
          <a:solidFill>
            <a:srgbClr val="EE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4224528"/>
            <a:ext cx="8412480" cy="70408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1E2761"/>
                </a:solidFill>
                <a:latin typeface="Calibri"/>
              </a:rPr>
              <a:t>자주 쓰는 건 전역, 프로젝트 특화는 프로젝트에 — 어디에 두든 규격은 같다.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8229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97316"/>
                </a:solidFill>
                <a:latin typeface="Calibri"/>
              </a:rPr>
              <a:t>🚀  지금부터 라이브 데모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822960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개인용 TODO 데스크톱 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20240"/>
            <a:ext cx="822960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F97316"/>
                </a:solidFill>
                <a:latin typeface="Calibri"/>
              </a:rPr>
              <a:t>.exe 하나가 나오는 30분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017520"/>
            <a:ext cx="82296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C8DCFC"/>
                </a:solidFill>
                <a:latin typeface="Calibri"/>
              </a:rPr>
              <a:t>그리고 여러분이 눈으로 보게 될 것 — 코드가 아니라 .md 하나로 앱이 재현되는 순간.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5779" y="3749039"/>
            <a:ext cx="2606040" cy="502920"/>
          </a:xfrm>
          <a:prstGeom prst="roundRect">
            <a:avLst>
              <a:gd name="adj" fmla="val 12000"/>
            </a:avLst>
          </a:prstGeom>
          <a:solidFill>
            <a:srgbClr val="25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5779" y="3749039"/>
            <a:ext cx="260604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97316"/>
                </a:solidFill>
                <a:latin typeface="Calibri"/>
              </a:rPr>
              <a:t>Electron + React + 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68979" y="3749039"/>
            <a:ext cx="2606040" cy="502920"/>
          </a:xfrm>
          <a:prstGeom prst="roundRect">
            <a:avLst>
              <a:gd name="adj" fmla="val 12000"/>
            </a:avLst>
          </a:prstGeom>
          <a:solidFill>
            <a:srgbClr val="25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68979" y="3749039"/>
            <a:ext cx="260604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97316"/>
                </a:solidFill>
                <a:latin typeface="Calibri"/>
              </a:rPr>
              <a:t>brainstorming으로 설계 .md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12179" y="3749039"/>
            <a:ext cx="2606040" cy="502920"/>
          </a:xfrm>
          <a:prstGeom prst="roundRect">
            <a:avLst>
              <a:gd name="adj" fmla="val 12000"/>
            </a:avLst>
          </a:prstGeom>
          <a:solidFill>
            <a:srgbClr val="25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12179" y="3749039"/>
            <a:ext cx="260604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97316"/>
                </a:solidFill>
                <a:latin typeface="Calibri"/>
              </a:rPr>
              <a:t>주간보고 .md 내보내기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480560"/>
            <a:ext cx="8229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8899BB"/>
                </a:solidFill>
                <a:latin typeface="Calibri"/>
              </a:rPr>
              <a:t>코드는 사라져도, 문서만 있으면 돌아옵니다.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