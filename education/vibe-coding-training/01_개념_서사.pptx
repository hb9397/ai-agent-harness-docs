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3" r:id="rId3"/>
    <p:sldId id="272" r:id="rId4"/>
    <p:sldId id="275" r:id="rId5"/>
    <p:sldId id="276" r:id="rId6"/>
    <p:sldId id="277" r:id="rId7"/>
    <p:sldId id="278" r:id="rId8"/>
    <p:sldId id="279" r:id="rId9"/>
    <p:sldId id="280" r:id="rId10"/>
    <p:sldId id="271" r:id="rId11"/>
    <p:sldId id="28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AI-30531c9ba56180529f93d788c26f9b14?source=copy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바이브코딩부터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엔지니어링까지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> 업데이트</a:t>
            </a:r>
            <a:r>
              <a:rPr lang="en-US" sz="1050" dirty="0">
                <a:solidFill>
                  <a:srgbClr val="8899BB"/>
                </a:solidFill>
              </a:rPr>
              <a:t>: 2026-06-28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 </a:t>
            </a:r>
            <a:r>
              <a:rPr lang="en-US" sz="1050" b="1" dirty="0">
                <a:solidFill>
                  <a:srgbClr val="8899BB"/>
                </a:solidFill>
              </a:rPr>
              <a:t>대상</a:t>
            </a:r>
            <a:r>
              <a:rPr lang="en-US" sz="1050" dirty="0">
                <a:solidFill>
                  <a:srgbClr val="8899BB"/>
                </a:solidFill>
              </a:rPr>
              <a:t>: AI 시대 개발의 3단 발전과 그 끝에 남는 것 · </a:t>
            </a:r>
            <a:r>
              <a:rPr lang="en-US" sz="1050" dirty="0" err="1">
                <a:solidFill>
                  <a:srgbClr val="8899BB"/>
                </a:solidFill>
              </a:rPr>
              <a:t>VSCode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ko-KR" altLang="en-US" sz="1050" b="1" dirty="0">
                <a:solidFill>
                  <a:srgbClr val="8899BB"/>
                </a:solidFill>
              </a:rPr>
              <a:t>가이드문서</a:t>
            </a:r>
            <a:r>
              <a:rPr lang="ko-KR" altLang="en-US" sz="1050" dirty="0">
                <a:solidFill>
                  <a:srgbClr val="8899BB"/>
                </a:solidFill>
              </a:rPr>
              <a:t> </a:t>
            </a:r>
            <a:r>
              <a:rPr lang="en-US" altLang="ko-KR" sz="1050" dirty="0">
                <a:solidFill>
                  <a:srgbClr val="8899BB"/>
                </a:solidFill>
              </a:rPr>
              <a:t>: 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AI 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개념 파트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(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개발환경 세팅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)</a:t>
            </a:r>
            <a:r>
              <a:rPr lang="en-US" altLang="ko-KR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Kicker"/>
          <p:cNvSpPr/>
          <p:nvPr/>
        </p:nvSpPr>
        <p:spPr>
          <a:xfrm>
            <a:off x="365760" y="64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i="1" dirty="0">
                <a:solidFill>
                  <a:srgbClr val="4FC3F7"/>
                </a:solidFill>
              </a:rPr>
              <a:t>오늘의 한 문장</a:t>
            </a:r>
            <a:endParaRPr lang="en-US" sz="1400" dirty="0"/>
          </a:p>
        </p:txBody>
      </p:sp>
      <p:sp>
        <p:nvSpPr>
          <p:cNvPr id="4" name="Line1"/>
          <p:cNvSpPr/>
          <p:nvPr/>
        </p:nvSpPr>
        <p:spPr>
          <a:xfrm>
            <a:off x="365760" y="125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짜는 능력이 아니라, </a:t>
            </a:r>
            <a:endParaRPr lang="en-US" sz="3600" dirty="0"/>
          </a:p>
        </p:txBody>
      </p:sp>
      <p:sp>
        <p:nvSpPr>
          <p:cNvPr id="5" name="Line2"/>
          <p:cNvSpPr/>
          <p:nvPr/>
        </p:nvSpPr>
        <p:spPr>
          <a:xfrm>
            <a:off x="365760" y="220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문서를 쓰는 능력</a:t>
            </a:r>
            <a:r>
              <a:rPr lang="ko-KR" alt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</a:t>
            </a:r>
            <a:endParaRPr lang="en-US" sz="4400" dirty="0"/>
          </a:p>
        </p:txBody>
      </p:sp>
      <p:sp>
        <p:nvSpPr>
          <p:cNvPr id="6" name="Line3"/>
          <p:cNvSpPr/>
          <p:nvPr/>
        </p:nvSpPr>
        <p:spPr>
          <a:xfrm>
            <a:off x="365760" y="315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r>
              <a:rPr lang="en-US" altLang="ko-KR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</a:t>
            </a:r>
            <a:r>
              <a:rPr lang="ko-KR" altLang="en-US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시대의 핵심 역량</a:t>
            </a:r>
            <a:endParaRPr lang="en-US" sz="3600" dirty="0"/>
          </a:p>
        </p:txBody>
      </p:sp>
      <p:sp>
        <p:nvSpPr>
          <p:cNvPr id="7" name="Preview"/>
          <p:cNvSpPr/>
          <p:nvPr/>
        </p:nvSpPr>
        <p:spPr>
          <a:xfrm>
            <a:off x="365760" y="4300000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i="1" dirty="0">
                <a:solidFill>
                  <a:srgbClr val="8899BB"/>
                </a:solidFill>
              </a:rPr>
              <a:t>이 한 문장에 도착하기까지 </a:t>
            </a:r>
            <a:r>
              <a:rPr lang="en-US" sz="1400" b="1" i="1" dirty="0">
                <a:solidFill>
                  <a:srgbClr val="C8DCFC"/>
                </a:solidFill>
              </a:rPr>
              <a:t>3단계</a:t>
            </a:r>
            <a:r>
              <a:rPr lang="ko-KR" altLang="en-US" sz="1400" i="1" dirty="0">
                <a:solidFill>
                  <a:srgbClr val="8899BB"/>
                </a:solidFill>
              </a:rPr>
              <a:t>를 밟아봅니다  </a:t>
            </a:r>
            <a:r>
              <a:rPr lang="en-US" sz="1400" i="1" dirty="0">
                <a:solidFill>
                  <a:srgbClr val="4FC3F7"/>
                </a:solidFill>
              </a:rPr>
              <a:t>—  바이브코딩 → 프롬프트 → 하네스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STEP 01  ·  시작점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4FC3F7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바이브코딩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i="1" dirty="0">
                <a:solidFill>
                  <a:srgbClr val="6B7280"/>
                </a:solidFill>
              </a:rPr>
              <a:t>자연어로 의도만 말해도 AI가 코드·산출물을 만든다</a:t>
            </a:r>
            <a:endParaRPr lang="en-US" sz="1800" dirty="0"/>
          </a:p>
        </p:txBody>
      </p:sp>
      <p:sp>
        <p:nvSpPr>
          <p:cNvPr id="10" name="Demo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DemoConten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💬  요청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400" i="1" dirty="0">
                <a:solidFill>
                  <a:srgbClr val="1E2761"/>
                </a:solidFill>
              </a:rPr>
              <a:t>"로그인 화면 만들어줘"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⚙️  결과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>→  로그인 컴포넌트·CSS·검증 로직 즉시 생성</a:t>
            </a:r>
            <a:endParaRPr lang="en-US" sz="13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4FC3F7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이제 코드를 몰라도 만들 수 있다.  </a:t>
            </a:r>
            <a:r>
              <a:rPr lang="ko-KR" altLang="en-US" sz="1500" b="1" dirty="0">
                <a:solidFill>
                  <a:srgbClr val="4FC3F7"/>
                </a:solidFill>
              </a:rPr>
              <a:t>·  그럼 우리가 하는 일은?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STEP 01  ·  함정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4FC3F7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그런데, 매번 결과가 다르다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같은 자연어 요청이라도 결과가 흔들린다</a:t>
            </a: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A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같은 요청,
다른 스타일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51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52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B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라이브러리
선택이 다름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70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71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C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다음 대화에선
또 다르게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4FC3F7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→  그럼 </a:t>
            </a:r>
            <a:r>
              <a:rPr lang="ko-KR" altLang="en-US" sz="1500" b="1" dirty="0">
                <a:solidFill>
                  <a:srgbClr val="4FC3F7"/>
                </a:solidFill>
              </a:rPr>
              <a:t>잘 시키는 법</a:t>
            </a:r>
            <a:r>
              <a:rPr lang="ko-KR" altLang="en-US" sz="1500" b="1" dirty="0">
                <a:solidFill>
                  <a:srgbClr val="1E2761"/>
                </a:solidFill>
              </a:rPr>
              <a:t>이 필요해진다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STEP 02  ·  다듬기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BBF24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같은 요청도 어떻게 '말'하느냐로 결과가 갈린다</a:t>
            </a:r>
            <a:endParaRPr lang="en-US" sz="1600" dirty="0"/>
          </a:p>
        </p:txBody>
      </p:sp>
      <p:sp>
        <p:nvSpPr>
          <p:cNvPr id="10" name="Think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hinkTex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💡  핵심 능력 두 가지</a:t>
            </a:r>
          </a:p>
          <a:p>
            <a:pPr marL="0" indent="0">
              <a:buNone/>
            </a:pPr>
            <a:r>
              <a:rPr lang="ko-KR" altLang="en-US" sz="1400" b="1" dirty="0">
                <a:solidFill>
                  <a:srgbClr val="1E2761"/>
                </a:solidFill>
              </a:rPr>
              <a:t>①  맥락 공급</a:t>
            </a:r>
            <a:r>
              <a:rPr lang="ko-KR" altLang="en-US" sz="1200" dirty="0">
                <a:solidFill>
                  <a:srgbClr val="6B7280"/>
                </a:solidFill>
              </a:rPr>
              <a:t>   내 의도·규칙을 AI가 알아듣게 전달</a:t>
            </a:r>
          </a:p>
          <a:p>
            <a:pPr marL="0" indent="0">
              <a:buNone/>
            </a:pPr>
            <a:r>
              <a:rPr lang="ko-KR" altLang="en-US" sz="1400" b="1" dirty="0">
                <a:solidFill>
                  <a:srgbClr val="1E2761"/>
                </a:solidFill>
              </a:rPr>
              <a:t>②  질의 능력</a:t>
            </a:r>
            <a:r>
              <a:rPr lang="ko-KR" altLang="en-US" sz="1200" dirty="0">
                <a:solidFill>
                  <a:srgbClr val="6B7280"/>
                </a:solidFill>
              </a:rPr>
              <a:t>   모르는 걸 AI에게 캐물어 사전지식 끌어내기</a:t>
            </a: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잘 시키는 법에는 </a:t>
            </a:r>
            <a:r>
              <a:rPr lang="ko-KR" altLang="en-US" sz="1500" b="1" dirty="0">
                <a:solidFill>
                  <a:srgbClr val="B45309"/>
                </a:solidFill>
              </a:rPr>
              <a:t>일정한 구조</a:t>
            </a:r>
            <a:r>
              <a:rPr lang="ko-KR" altLang="en-US" sz="1500" b="1" dirty="0">
                <a:solidFill>
                  <a:srgbClr val="1E2761"/>
                </a:solidFill>
              </a:rPr>
              <a:t>가 있다  ·  다음 슬라이드에서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STEP 02  ·  좋은 지시의 4요소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BBF24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이번 지시에 4가지가 있는가?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>① 참조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무엇을 근거로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602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616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>② 범위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이번 턴에 할 것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320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87171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334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87171"/>
                </a:solidFill>
              </a:rPr>
              <a:t>③ 금지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건드리면 안 될 것</a:t>
            </a:r>
            <a:endParaRPr lang="en-US" sz="1100" dirty="0"/>
          </a:p>
        </p:txBody>
      </p:sp>
      <p:sp>
        <p:nvSpPr>
          <p:cNvPr id="206" name="C3"/>
          <p:cNvSpPr/>
          <p:nvPr/>
        </p:nvSpPr>
        <p:spPr>
          <a:xfrm>
            <a:off x="602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7" name="T3"/>
          <p:cNvSpPr/>
          <p:nvPr/>
        </p:nvSpPr>
        <p:spPr>
          <a:xfrm>
            <a:off x="616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④ 완료 기준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무엇이 되면 끝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이 4가지가 </a:t>
            </a:r>
            <a:r>
              <a:rPr lang="ko-KR" altLang="en-US" sz="1500" b="1" dirty="0">
                <a:solidFill>
                  <a:srgbClr val="B45309"/>
                </a:solidFill>
              </a:rPr>
              <a:t>있는 프롬프트</a:t>
            </a:r>
            <a:r>
              <a:rPr lang="ko-KR" altLang="en-US" sz="1500" b="1" dirty="0">
                <a:solidFill>
                  <a:srgbClr val="1E2761"/>
                </a:solidFill>
              </a:rPr>
              <a:t>는 결과가 안 흔들린다  </a:t>
            </a:r>
            <a:r>
              <a:rPr lang="ko-KR" altLang="en-US" sz="1500" b="1" dirty="0">
                <a:solidFill>
                  <a:srgbClr val="FBBF24"/>
                </a:solidFill>
              </a:rPr>
              <a:t>— 그런데?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</a:rPr>
              <a:t>STEP 02  ·  한계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87171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말은, 남지 않는다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좋은 프롬프트는 그때뿐 — 다음 세션·다음 사람에게 안 이어짐</a:t>
            </a:r>
            <a:endParaRPr lang="en-US" sz="1600" dirty="0"/>
          </a:p>
        </p:txBody>
      </p:sp>
      <p:sp>
        <p:nvSpPr>
          <p:cNvPr id="10" name="Limit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87171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LimitTex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⚠️  말버릇은 휘발된다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대화 새로 열면 처음부터 다시 설명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다음 사람은 내 말버릇을 모른다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팀 단위 재현성이 없다</a:t>
            </a: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F87171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→  말버릇이 아니라 </a:t>
            </a:r>
            <a:r>
              <a:rPr lang="ko-KR" altLang="en-US" sz="1500" b="1" dirty="0">
                <a:solidFill>
                  <a:srgbClr val="34D399"/>
                </a:solidFill>
              </a:rPr>
              <a:t>문서로 구조를 굳혀야</a:t>
            </a:r>
            <a:r>
              <a:rPr lang="ko-KR" altLang="en-US" sz="1500" b="1" dirty="0">
                <a:solidFill>
                  <a:srgbClr val="1E2761"/>
                </a:solidFill>
              </a:rPr>
              <a:t> 팀·시간에 남는다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STEP 03  ·  도착지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34D399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엔지니어링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말이 아니라, 문서로 구조를 미리 깐다</a:t>
            </a:r>
            <a:endParaRPr lang="en-US" sz="1600" dirty="0"/>
          </a:p>
        </p:txBody>
      </p:sp>
      <p:sp>
        <p:nvSpPr>
          <p:cNvPr id="10" name="Meta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MetaTex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🐎  Harness = 마구 · 안전벨트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>힘 센 놈(AI)을 마음대로 놔두지 않고,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>정해진 방향으로만 쓰이도록 </a:t>
            </a:r>
            <a:r>
              <a:rPr lang="ko-KR" altLang="en-US" sz="1300" b="1" dirty="0">
                <a:solidFill>
                  <a:srgbClr val="34D399"/>
                </a:solidFill>
              </a:rPr>
              <a:t>잡아주는 장치</a:t>
            </a:r>
          </a:p>
          <a:p>
            <a:pPr marL="0" indent="0">
              <a:buNone/>
            </a:pPr>
            <a:r>
              <a:rPr lang="ko-KR" altLang="en-US" sz="1300" i="1" dirty="0">
                <a:solidFill>
                  <a:srgbClr val="6B7280"/>
                </a:solidFill>
              </a:rPr>
              <a:t>= AI를 우리 팀 기준으로만 쓰게 하는 구조</a:t>
            </a: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개인기가 아니라 </a:t>
            </a:r>
            <a:r>
              <a:rPr lang="ko-KR" altLang="en-US" sz="1500" b="1" dirty="0">
                <a:solidFill>
                  <a:srgbClr val="34D399"/>
                </a:solidFill>
              </a:rPr>
              <a:t>반복 가능한 팀 시스템</a:t>
            </a:r>
            <a:r>
              <a:rPr lang="ko-KR" altLang="en-US" sz="1500" b="1" dirty="0">
                <a:solidFill>
                  <a:srgbClr val="1E2761"/>
                </a:solidFill>
              </a:rPr>
              <a:t> · 무엇을 문서로 굳히나?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STEP 03  ·  부품이 아니라 흐름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34D399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문서로 굳히는 4단계 흐름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① 설계 먼저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무엇을 왜 만들지 문서화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602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616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② 컨텍스트 고정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팀 규칙·아키텍처 명시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320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334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③ 작은 단위 구현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Phase·화면·기능으로 쪼갬</a:t>
            </a:r>
            <a:endParaRPr lang="en-US" sz="1100" dirty="0"/>
          </a:p>
        </p:txBody>
      </p:sp>
      <p:sp>
        <p:nvSpPr>
          <p:cNvPr id="206" name="C3"/>
          <p:cNvSpPr/>
          <p:nvPr/>
        </p:nvSpPr>
        <p:spPr>
          <a:xfrm>
            <a:off x="602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7" name="T3"/>
          <p:cNvSpPr/>
          <p:nvPr/>
        </p:nvSpPr>
        <p:spPr>
          <a:xfrm>
            <a:off x="616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④ 품질 확인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리뷰·검사·커밋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이 흐름을 </a:t>
            </a:r>
            <a:r>
              <a:rPr lang="ko-KR" altLang="en-US" sz="1500" b="1" dirty="0">
                <a:solidFill>
                  <a:srgbClr val="34D399"/>
                </a:solidFill>
              </a:rPr>
              <a:t>.md 파일로 굳혀두면</a:t>
            </a:r>
            <a:r>
              <a:rPr lang="ko-KR" altLang="en-US" sz="1500" b="1" dirty="0">
                <a:solidFill>
                  <a:srgbClr val="1E2761"/>
                </a:solidFill>
              </a:rPr>
              <a:t>, 누가 언제 실행해도 재현된다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Kicker"/>
          <p:cNvSpPr/>
          <p:nvPr/>
        </p:nvSpPr>
        <p:spPr>
          <a:xfrm>
            <a:off x="365760" y="330000"/>
            <a:ext cx="8412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i="1" dirty="0">
                <a:solidFill>
                  <a:srgbClr val="34D399"/>
                </a:solidFill>
              </a:rPr>
              <a:t>세 개념이 결국 하나로 모인다</a:t>
            </a:r>
            <a:endParaRPr lang="en-US" sz="1400" dirty="0"/>
          </a:p>
        </p:txBody>
      </p:sp>
      <p:sp>
        <p:nvSpPr>
          <p:cNvPr id="10" name="Card1"/>
          <p:cNvSpPr/>
          <p:nvPr/>
        </p:nvSpPr>
        <p:spPr>
          <a:xfrm>
            <a:off x="4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4FC3F7"/>
            </a:solidFill>
          </a:ln>
        </p:spPr>
      </p:sp>
      <p:sp>
        <p:nvSpPr>
          <p:cNvPr id="11" name="Card1T"/>
          <p:cNvSpPr/>
          <p:nvPr/>
        </p:nvSpPr>
        <p:spPr>
          <a:xfrm>
            <a:off x="4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01  바이브코딩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의도를 자연어로</a:t>
            </a:r>
          </a:p>
        </p:txBody>
      </p:sp>
      <p:sp>
        <p:nvSpPr>
          <p:cNvPr id="20" name="Card2"/>
          <p:cNvSpPr/>
          <p:nvPr/>
        </p:nvSpPr>
        <p:spPr>
          <a:xfrm>
            <a:off x="32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FBBF24"/>
            </a:solidFill>
          </a:ln>
        </p:spPr>
      </p:sp>
      <p:sp>
        <p:nvSpPr>
          <p:cNvPr id="21" name="Card2T"/>
          <p:cNvSpPr/>
          <p:nvPr/>
        </p:nvSpPr>
        <p:spPr>
          <a:xfrm>
            <a:off x="32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</a:rPr>
              <a:t>02  프롬프트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말을 잘 다듬기</a:t>
            </a:r>
          </a:p>
        </p:txBody>
      </p:sp>
      <p:sp>
        <p:nvSpPr>
          <p:cNvPr id="30" name="Card3"/>
          <p:cNvSpPr/>
          <p:nvPr/>
        </p:nvSpPr>
        <p:spPr>
          <a:xfrm>
            <a:off x="60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34D399"/>
            </a:solidFill>
          </a:ln>
        </p:spPr>
      </p:sp>
      <p:sp>
        <p:nvSpPr>
          <p:cNvPr id="31" name="Card3T"/>
          <p:cNvSpPr/>
          <p:nvPr/>
        </p:nvSpPr>
        <p:spPr>
          <a:xfrm>
            <a:off x="60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</a:rPr>
              <a:t>03  하네스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구조를 문서로</a:t>
            </a:r>
          </a:p>
        </p:txBody>
      </p:sp>
      <p:sp>
        <p:nvSpPr>
          <p:cNvPr id="40" name="Arrow"/>
          <p:cNvSpPr/>
          <p:nvPr/>
        </p:nvSpPr>
        <p:spPr>
          <a:xfrm>
            <a:off x="4372000" y="2200000"/>
            <a:ext cx="400000" cy="600000"/>
          </a:xfrm>
          <a:prstGeom prst="downArrow">
            <a:avLst/>
          </a:prstGeom>
          <a:solidFill>
            <a:srgbClr val="4A5175"/>
          </a:solidFill>
          <a:ln>
            <a:noFill/>
          </a:ln>
        </p:spPr>
      </p:sp>
      <p:sp>
        <p:nvSpPr>
          <p:cNvPr id="50" name="AnswerBox"/>
          <p:cNvSpPr/>
          <p:nvPr/>
        </p:nvSpPr>
        <p:spPr>
          <a:xfrm>
            <a:off x="800000" y="2960000"/>
            <a:ext cx="7544000" cy="110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25400">
            <a:solidFill>
              <a:srgbClr val="34D399"/>
            </a:solidFill>
          </a:ln>
        </p:spPr>
      </p:sp>
      <p:sp>
        <p:nvSpPr>
          <p:cNvPr id="51" name="AnswerText"/>
          <p:cNvSpPr/>
          <p:nvPr/>
        </p:nvSpPr>
        <p:spPr>
          <a:xfrm>
            <a:off x="800000" y="2960000"/>
            <a:ext cx="7544000" cy="11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dirty="0">
                <a:solidFill>
                  <a:srgbClr val="C8DCFC"/>
                </a:solidFill>
              </a:rPr>
              <a:t>결국 남는 능력은</a:t>
            </a:r>
          </a:p>
          <a:p>
            <a:pPr marL="0" indent="0" algn="ctr">
              <a:buNone/>
            </a:pPr>
            <a:r>
              <a:rPr lang="ko-KR" alt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문서(프롬프트)를 쓰는 능력</a:t>
            </a:r>
          </a:p>
        </p:txBody>
      </p:sp>
      <p:sp>
        <p:nvSpPr>
          <p:cNvPr id="60" name="Next"/>
          <p:cNvSpPr/>
          <p:nvPr/>
        </p:nvSpPr>
        <p:spPr>
          <a:xfrm>
            <a:off x="365760" y="4300000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i="1" dirty="0">
                <a:solidFill>
                  <a:srgbClr val="8899BB"/>
                </a:solidFill>
              </a:rPr>
              <a:t>다음 파트에서 </a:t>
            </a:r>
            <a:r>
              <a:rPr lang="en-US" sz="1400" b="1" i="1" dirty="0">
                <a:solidFill>
                  <a:srgbClr val="C8DCFC"/>
                </a:solidFill>
              </a:rPr>
              <a:t>그 문서</a:t>
            </a:r>
            <a:r>
              <a:rPr lang="ko-KR" altLang="en-US" sz="1400" i="1" dirty="0">
                <a:solidFill>
                  <a:srgbClr val="8899BB"/>
                </a:solidFill>
              </a:rPr>
              <a:t>가 실제로 어떻게 생겼는지 봅니다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</p:sp>
      <p:sp>
        <p:nvSpPr>
          <p:cNvPr id="3" name="Kicker"/>
          <p:cNvSpPr/>
          <p:nvPr/>
        </p:nvSpPr>
        <p:spPr>
          <a:xfrm>
            <a:off x="500000" y="330000"/>
            <a:ext cx="5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NEXT  ·  다음 파트 예고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500000" y="750000"/>
            <a:ext cx="81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 문서, 실제로 어떻게 생겼나?</a:t>
            </a:r>
            <a:endParaRPr lang="en-US" sz="3600" dirty="0"/>
          </a:p>
        </p:txBody>
      </p:sp>
      <p:sp>
        <p:nvSpPr>
          <p:cNvPr id="10" name="Card1"/>
          <p:cNvSpPr/>
          <p:nvPr/>
        </p:nvSpPr>
        <p:spPr>
          <a:xfrm>
            <a:off x="500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ard1T"/>
          <p:cNvSpPr/>
          <p:nvPr/>
        </p:nvSpPr>
        <p:spPr>
          <a:xfrm>
            <a:off x="620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4FC3F7"/>
                </a:solidFill>
              </a:rPr>
              <a:t>📦</a:t>
            </a: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하네스 엔지니어링 구성</a:t>
            </a:r>
            <a:endParaRPr lang="ko-KR" altLang="en-US" sz="1300" b="1" dirty="0">
              <a:solidFill>
                <a:srgbClr val="1E2761"/>
              </a:solidFill>
            </a:endParaRP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SKILL.md · CLAUDE.md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AGENTS.md · MEMORY.md</a:t>
            </a:r>
          </a:p>
        </p:txBody>
      </p:sp>
      <p:sp>
        <p:nvSpPr>
          <p:cNvPr id="20" name="Card2"/>
          <p:cNvSpPr/>
          <p:nvPr/>
        </p:nvSpPr>
        <p:spPr>
          <a:xfrm>
            <a:off x="3232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ard2T"/>
          <p:cNvSpPr/>
          <p:nvPr/>
        </p:nvSpPr>
        <p:spPr>
          <a:xfrm>
            <a:off x="3352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4D399"/>
                </a:solidFill>
              </a:rPr>
              <a:t>🎯</a:t>
            </a: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표준으로 </a:t>
            </a:r>
            <a:r>
              <a:rPr lang="ko-KR" altLang="en-US" sz="1300" b="1" dirty="0">
                <a:solidFill>
                  <a:srgbClr val="1E2761"/>
                </a:solidFill>
              </a:rPr>
              <a:t>수렴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3사가 같은 규격으로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수렴하는 흐름</a:t>
            </a:r>
          </a:p>
        </p:txBody>
      </p:sp>
      <p:sp>
        <p:nvSpPr>
          <p:cNvPr id="30" name="Card3"/>
          <p:cNvSpPr/>
          <p:nvPr/>
        </p:nvSpPr>
        <p:spPr>
          <a:xfrm>
            <a:off x="5964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ard3T"/>
          <p:cNvSpPr/>
          <p:nvPr/>
        </p:nvSpPr>
        <p:spPr>
          <a:xfrm>
            <a:off x="6084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A78BFA"/>
                </a:solidFill>
              </a:rPr>
              <a:t>🚀</a:t>
            </a:r>
            <a:endParaRPr lang="ko-KR" altLang="en-US" sz="1500" b="1" dirty="0">
              <a:solidFill>
                <a:srgbClr val="A78BFA"/>
              </a:solidFill>
            </a:endParaRP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실사용</a:t>
            </a:r>
            <a:endParaRPr lang="ko-KR" altLang="en-US" sz="1300" b="1" dirty="0">
              <a:solidFill>
                <a:srgbClr val="1E2761"/>
              </a:solidFill>
            </a:endParaRP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superpowers·라이브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바이브코딩 데모</a:t>
            </a:r>
          </a:p>
        </p:txBody>
      </p:sp>
      <p:sp>
        <p:nvSpPr>
          <p:cNvPr id="90" name="Closing"/>
          <p:cNvSpPr/>
          <p:nvPr/>
        </p:nvSpPr>
        <p:spPr>
          <a:xfrm>
            <a:off x="500000" y="4100000"/>
            <a:ext cx="8144000" cy="82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9050">
            <a:solidFill>
              <a:srgbClr val="A78BFA"/>
            </a:solidFill>
          </a:ln>
        </p:spPr>
      </p:sp>
      <p:sp>
        <p:nvSpPr>
          <p:cNvPr id="91" name="ClosingText"/>
          <p:cNvSpPr/>
          <p:nvPr/>
        </p:nvSpPr>
        <p:spPr>
          <a:xfrm>
            <a:off x="500000" y="4100000"/>
            <a:ext cx="8144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C8DCFC"/>
                </a:solidFill>
              </a:rPr>
              <a:t>개념은 정리했으니, </a:t>
            </a:r>
            <a:r>
              <a:rPr lang="ko-KR" altLang="en-US" sz="1600" b="1">
                <a:solidFill>
                  <a:srgbClr val="C8DCFC"/>
                </a:solidFill>
              </a:rPr>
              <a:t>이제 하네스 엔지니어링 구성으로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506</Words>
  <Application>Microsoft Office PowerPoint</Application>
  <PresentationFormat>화면 슬라이드 쇼(16:9)</PresentationFormat>
  <Paragraphs>106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HyeonBeom Lee</cp:lastModifiedBy>
  <cp:revision>17</cp:revision>
  <dcterms:created xsi:type="dcterms:W3CDTF">2026-02-23T07:17:00Z</dcterms:created>
  <dcterms:modified xsi:type="dcterms:W3CDTF">2026-07-10T16:44:29Z</dcterms:modified>
</cp:coreProperties>
</file>