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3" r:id="rId3"/>
    <p:sldId id="272" r:id="rId4"/>
    <p:sldId id="275" r:id="rId5"/>
    <p:sldId id="276" r:id="rId6"/>
    <p:sldId id="277" r:id="rId7"/>
    <p:sldId id="278" r:id="rId8"/>
    <p:sldId id="279" r:id="rId9"/>
    <p:sldId id="280" r:id="rId10"/>
    <p:sldId id="271" r:id="rId11"/>
    <p:sldId id="281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6" autoAdjust="0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20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14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251460"/>
            <a:ext cx="3474720" cy="34747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708660"/>
            <a:ext cx="2560320" cy="2560320"/>
          </a:xfrm>
          <a:prstGeom prst="ellipse">
            <a:avLst/>
          </a:prstGeom>
          <a:solidFill>
            <a:srgbClr val="252D4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70866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</a:rPr>
              <a:t>🤖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640080" y="5943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바이브코딩부터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하네스 엔지니어링까지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-195029" y="4626864"/>
            <a:ext cx="95340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050" b="1" dirty="0">
                <a:solidFill>
                  <a:srgbClr val="8899BB"/>
                </a:solidFill>
              </a:rPr>
              <a:t>| </a:t>
            </a:r>
            <a:r>
              <a:rPr lang="en-US" sz="1050" b="1" dirty="0" err="1">
                <a:solidFill>
                  <a:srgbClr val="8899BB"/>
                </a:solidFill>
              </a:rPr>
              <a:t>최종</a:t>
            </a:r>
            <a:r>
              <a:rPr lang="en-US" sz="1050" b="1" dirty="0">
                <a:solidFill>
                  <a:srgbClr val="8899BB"/>
                </a:solidFill>
              </a:rPr>
              <a:t> 업데이트</a:t>
            </a:r>
            <a:r>
              <a:rPr lang="en-US" sz="1050" dirty="0">
                <a:solidFill>
                  <a:srgbClr val="8899BB"/>
                </a:solidFill>
              </a:rPr>
              <a:t>: 2026-07-15   </a:t>
            </a:r>
            <a:r>
              <a:rPr lang="en-US" sz="1050" b="1" dirty="0">
                <a:solidFill>
                  <a:srgbClr val="8899BB"/>
                </a:solidFill>
              </a:rPr>
              <a:t>|</a:t>
            </a:r>
            <a:r>
              <a:rPr lang="en-US" sz="1050" dirty="0">
                <a:solidFill>
                  <a:srgbClr val="8899BB"/>
                </a:solidFill>
              </a:rPr>
              <a:t>  </a:t>
            </a:r>
            <a:r>
              <a:rPr lang="ko-KR" altLang="en-US" sz="1050" b="1" dirty="0" err="1">
                <a:solidFill>
                  <a:srgbClr val="8899BB"/>
                </a:solidFill>
              </a:rPr>
              <a:t>바이브코딩의</a:t>
            </a:r>
            <a:r>
              <a:rPr lang="ko-KR" altLang="en-US" sz="1050" b="1" dirty="0">
                <a:solidFill>
                  <a:srgbClr val="8899BB"/>
                </a:solidFill>
              </a:rPr>
              <a:t> 개념 발전</a:t>
            </a:r>
            <a:r>
              <a:rPr lang="en-US" sz="1050" dirty="0">
                <a:solidFill>
                  <a:srgbClr val="8899BB"/>
                </a:solidFill>
              </a:rPr>
              <a:t> </a:t>
            </a:r>
            <a:r>
              <a:rPr lang="en-US" sz="1050" b="1" dirty="0">
                <a:solidFill>
                  <a:srgbClr val="8899BB"/>
                </a:solidFill>
              </a:rPr>
              <a:t>|</a:t>
            </a:r>
            <a:endParaRPr lang="en-US" sz="1050" dirty="0">
              <a:solidFill>
                <a:srgbClr val="8899B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Top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</a:ln>
        </p:spPr>
      </p:sp>
      <p:sp>
        <p:nvSpPr>
          <p:cNvPr id="3" name="Kicker"/>
          <p:cNvSpPr/>
          <p:nvPr/>
        </p:nvSpPr>
        <p:spPr>
          <a:xfrm>
            <a:off x="365760" y="640000"/>
            <a:ext cx="841248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i="1" dirty="0">
                <a:solidFill>
                  <a:srgbClr val="4FC3F7"/>
                </a:solidFill>
              </a:rPr>
              <a:t>오늘의 한 문장</a:t>
            </a:r>
            <a:endParaRPr lang="en-US" sz="1400" dirty="0"/>
          </a:p>
        </p:txBody>
      </p:sp>
      <p:sp>
        <p:nvSpPr>
          <p:cNvPr id="4" name="Line1"/>
          <p:cNvSpPr/>
          <p:nvPr/>
        </p:nvSpPr>
        <p:spPr>
          <a:xfrm>
            <a:off x="365760" y="1250000"/>
            <a:ext cx="841248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코드 짜는 능력이 아니라, </a:t>
            </a:r>
            <a:endParaRPr lang="en-US" sz="3600" dirty="0"/>
          </a:p>
        </p:txBody>
      </p:sp>
      <p:sp>
        <p:nvSpPr>
          <p:cNvPr id="5" name="Line2"/>
          <p:cNvSpPr/>
          <p:nvPr/>
        </p:nvSpPr>
        <p:spPr>
          <a:xfrm>
            <a:off x="365760" y="2200000"/>
            <a:ext cx="841248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4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문서를 쓰고 질의하는 능력</a:t>
            </a:r>
            <a:r>
              <a:rPr lang="ko-KR" alt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</a:t>
            </a:r>
            <a:endParaRPr lang="en-US" sz="4400" dirty="0"/>
          </a:p>
        </p:txBody>
      </p:sp>
      <p:sp>
        <p:nvSpPr>
          <p:cNvPr id="6" name="Line3"/>
          <p:cNvSpPr/>
          <p:nvPr/>
        </p:nvSpPr>
        <p:spPr>
          <a:xfrm>
            <a:off x="365760" y="3150000"/>
            <a:ext cx="841248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3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r>
              <a:rPr lang="en-US" altLang="ko-KR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 </a:t>
            </a:r>
            <a:r>
              <a:rPr lang="ko-KR" alt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활용한 코딩의 핵심 역량</a:t>
            </a:r>
            <a:endParaRPr lang="en-US" sz="3600" dirty="0"/>
          </a:p>
        </p:txBody>
      </p:sp>
      <p:sp>
        <p:nvSpPr>
          <p:cNvPr id="7" name="Preview"/>
          <p:cNvSpPr/>
          <p:nvPr/>
        </p:nvSpPr>
        <p:spPr>
          <a:xfrm>
            <a:off x="365760" y="4300000"/>
            <a:ext cx="84124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i="1" dirty="0" err="1">
                <a:solidFill>
                  <a:srgbClr val="4FC3F7"/>
                </a:solidFill>
              </a:rPr>
              <a:t>바이브코딩</a:t>
            </a:r>
            <a:r>
              <a:rPr lang="ko-KR" altLang="en-US" sz="1400" i="1" dirty="0">
                <a:solidFill>
                  <a:srgbClr val="4FC3F7"/>
                </a:solidFill>
              </a:rPr>
              <a:t> 개념의 발전 </a:t>
            </a:r>
            <a:r>
              <a:rPr lang="en-US" sz="1400" i="1" dirty="0">
                <a:solidFill>
                  <a:srgbClr val="4FC3F7"/>
                </a:solidFill>
              </a:rPr>
              <a:t>—  바이브코딩 → 프롬프트 → 하네스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</a:ln>
        </p:spPr>
      </p:sp>
      <p:sp>
        <p:nvSpPr>
          <p:cNvPr id="3" name="StepLabel"/>
          <p:cNvSpPr/>
          <p:nvPr/>
        </p:nvSpPr>
        <p:spPr>
          <a:xfrm>
            <a:off x="500000" y="330000"/>
            <a:ext cx="40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</a:rPr>
              <a:t>STEP 01  ·  시작점</a:t>
            </a:r>
            <a:endParaRPr lang="en-US" sz="1400" dirty="0"/>
          </a:p>
        </p:txBody>
      </p:sp>
      <p:sp>
        <p:nvSpPr>
          <p:cNvPr id="4" name="BigNumber"/>
          <p:cNvSpPr/>
          <p:nvPr/>
        </p:nvSpPr>
        <p:spPr>
          <a:xfrm>
            <a:off x="400000" y="700000"/>
            <a:ext cx="2600000" cy="3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4FC3F7">
                    <a:alpha val="2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0" dirty="0"/>
          </a:p>
        </p:txBody>
      </p:sp>
      <p:sp>
        <p:nvSpPr>
          <p:cNvPr id="5" name="Title"/>
          <p:cNvSpPr/>
          <p:nvPr/>
        </p:nvSpPr>
        <p:spPr>
          <a:xfrm>
            <a:off x="3200000" y="700000"/>
            <a:ext cx="5544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바이브코딩</a:t>
            </a:r>
            <a:endParaRPr lang="en-US" sz="4400" dirty="0"/>
          </a:p>
        </p:txBody>
      </p:sp>
      <p:sp>
        <p:nvSpPr>
          <p:cNvPr id="6" name="Definition"/>
          <p:cNvSpPr/>
          <p:nvPr/>
        </p:nvSpPr>
        <p:spPr>
          <a:xfrm>
            <a:off x="3200000" y="1450000"/>
            <a:ext cx="5544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i="1" dirty="0">
                <a:solidFill>
                  <a:srgbClr val="6B7280"/>
                </a:solidFill>
              </a:rPr>
              <a:t>자연어로 의도만 말해도 AI가 코드·산출물을 만든다</a:t>
            </a:r>
            <a:endParaRPr lang="en-US" sz="1800" dirty="0"/>
          </a:p>
        </p:txBody>
      </p:sp>
      <p:sp>
        <p:nvSpPr>
          <p:cNvPr id="10" name="DemoBox"/>
          <p:cNvSpPr/>
          <p:nvPr/>
        </p:nvSpPr>
        <p:spPr>
          <a:xfrm>
            <a:off x="3200000" y="2100000"/>
            <a:ext cx="55440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FC3F7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DemoContent"/>
          <p:cNvSpPr/>
          <p:nvPr/>
        </p:nvSpPr>
        <p:spPr>
          <a:xfrm>
            <a:off x="3400000" y="2200000"/>
            <a:ext cx="5144000" cy="1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</a:rPr>
              <a:t>💬  요청</a:t>
            </a:r>
            <a:endParaRPr lang="en-US" sz="1200" dirty="0"/>
          </a:p>
          <a:p>
            <a:pPr marL="0" indent="0">
              <a:buNone/>
            </a:pPr>
            <a:r>
              <a:rPr lang="ko-KR" altLang="en-US" sz="1400" i="1" dirty="0">
                <a:solidFill>
                  <a:srgbClr val="1E2761"/>
                </a:solidFill>
              </a:rPr>
              <a:t>"로그인 화면 만들어줘"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⚙️  결과</a:t>
            </a:r>
            <a:endParaRPr lang="en-US" sz="1200" dirty="0"/>
          </a:p>
          <a:p>
            <a:pPr marL="0" indent="0">
              <a:buNone/>
            </a:pPr>
            <a:r>
              <a:rPr lang="ko-KR" altLang="en-US" sz="1300" dirty="0">
                <a:solidFill>
                  <a:srgbClr val="1E2761"/>
                </a:solidFill>
              </a:rPr>
              <a:t>→  로그인 컴포넌트·CSS·검증 로직 즉시 생성</a:t>
            </a:r>
            <a:endParaRPr lang="en-US" sz="1300" dirty="0"/>
          </a:p>
        </p:txBody>
      </p:sp>
      <p:sp>
        <p:nvSpPr>
          <p:cNvPr id="90" name="Hook"/>
          <p:cNvSpPr/>
          <p:nvPr/>
        </p:nvSpPr>
        <p:spPr>
          <a:xfrm>
            <a:off x="365760" y="4200000"/>
            <a:ext cx="8412480" cy="720000"/>
          </a:xfrm>
          <a:prstGeom prst="roundRect">
            <a:avLst>
              <a:gd name="adj" fmla="val 15000"/>
            </a:avLst>
          </a:prstGeom>
          <a:solidFill>
            <a:srgbClr val="E0F2FE"/>
          </a:solidFill>
          <a:ln w="12700">
            <a:solidFill>
              <a:srgbClr val="4FC3F7"/>
            </a:solidFill>
          </a:ln>
        </p:spPr>
      </p:sp>
      <p:sp>
        <p:nvSpPr>
          <p:cNvPr id="91" name="HookText"/>
          <p:cNvSpPr/>
          <p:nvPr/>
        </p:nvSpPr>
        <p:spPr>
          <a:xfrm>
            <a:off x="365760" y="4200000"/>
            <a:ext cx="841248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1E2761"/>
                </a:solidFill>
              </a:rPr>
              <a:t>이제 코드를 몰라도 만들 수 있다.  </a:t>
            </a:r>
            <a:r>
              <a:rPr lang="ko-KR" altLang="en-US" sz="1500" b="1" dirty="0">
                <a:solidFill>
                  <a:srgbClr val="4FC3F7"/>
                </a:solidFill>
              </a:rPr>
              <a:t>·  그럼 우리가 하는 일은?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</a:ln>
        </p:spPr>
      </p:sp>
      <p:sp>
        <p:nvSpPr>
          <p:cNvPr id="3" name="StepLabel"/>
          <p:cNvSpPr/>
          <p:nvPr/>
        </p:nvSpPr>
        <p:spPr>
          <a:xfrm>
            <a:off x="500000" y="330000"/>
            <a:ext cx="4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</a:rPr>
              <a:t>STEP 01  ·  함정</a:t>
            </a:r>
            <a:endParaRPr lang="en-US" sz="1400" dirty="0"/>
          </a:p>
        </p:txBody>
      </p:sp>
      <p:sp>
        <p:nvSpPr>
          <p:cNvPr id="4" name="BigNumber"/>
          <p:cNvSpPr/>
          <p:nvPr/>
        </p:nvSpPr>
        <p:spPr>
          <a:xfrm>
            <a:off x="400000" y="700000"/>
            <a:ext cx="2600000" cy="3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4FC3F7">
                    <a:alpha val="2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0" dirty="0"/>
          </a:p>
        </p:txBody>
      </p:sp>
      <p:sp>
        <p:nvSpPr>
          <p:cNvPr id="5" name="Title"/>
          <p:cNvSpPr/>
          <p:nvPr/>
        </p:nvSpPr>
        <p:spPr>
          <a:xfrm>
            <a:off x="3200000" y="700000"/>
            <a:ext cx="5544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그런데, 매번 결과가 다르다</a:t>
            </a:r>
            <a:endParaRPr lang="en-US" sz="3200" dirty="0"/>
          </a:p>
        </p:txBody>
      </p:sp>
      <p:sp>
        <p:nvSpPr>
          <p:cNvPr id="6" name="Definition"/>
          <p:cNvSpPr/>
          <p:nvPr/>
        </p:nvSpPr>
        <p:spPr>
          <a:xfrm>
            <a:off x="3200000" y="1450000"/>
            <a:ext cx="5544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i="1" dirty="0">
                <a:solidFill>
                  <a:srgbClr val="6B7280"/>
                </a:solidFill>
              </a:rPr>
              <a:t>같은 자연어 요청이라도 결과가 흔들린다</a:t>
            </a:r>
            <a:endParaRPr lang="en-US" sz="1600" dirty="0"/>
          </a:p>
        </p:txBody>
      </p:sp>
      <p:sp>
        <p:nvSpPr>
          <p:cNvPr id="200" name="C0"/>
          <p:cNvSpPr/>
          <p:nvPr/>
        </p:nvSpPr>
        <p:spPr>
          <a:xfrm>
            <a:off x="3200000" y="2100000"/>
            <a:ext cx="1750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FC3F7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1" name="T0"/>
          <p:cNvSpPr/>
          <p:nvPr/>
        </p:nvSpPr>
        <p:spPr>
          <a:xfrm>
            <a:off x="3340000" y="2190000"/>
            <a:ext cx="1470000" cy="1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4FC3F7"/>
                </a:solidFill>
              </a:rPr>
              <a:t>팀원 A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100" dirty="0">
                <a:solidFill>
                  <a:srgbClr val="6B7280"/>
                </a:solidFill>
              </a:rPr>
              <a:t>같은 요청,
다른 스타일</a:t>
            </a:r>
            <a:endParaRPr lang="en-US" sz="1100" dirty="0"/>
          </a:p>
        </p:txBody>
      </p:sp>
      <p:sp>
        <p:nvSpPr>
          <p:cNvPr id="202" name="C1"/>
          <p:cNvSpPr/>
          <p:nvPr/>
        </p:nvSpPr>
        <p:spPr>
          <a:xfrm>
            <a:off x="5100000" y="2100000"/>
            <a:ext cx="1750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FC3F7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3" name="T1"/>
          <p:cNvSpPr/>
          <p:nvPr/>
        </p:nvSpPr>
        <p:spPr>
          <a:xfrm>
            <a:off x="5240000" y="2190000"/>
            <a:ext cx="1470000" cy="1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4FC3F7"/>
                </a:solidFill>
              </a:rPr>
              <a:t>팀원 B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100" dirty="0">
                <a:solidFill>
                  <a:srgbClr val="6B7280"/>
                </a:solidFill>
              </a:rPr>
              <a:t>라이브러리
선택이 다름</a:t>
            </a:r>
            <a:endParaRPr lang="en-US" sz="1100" dirty="0"/>
          </a:p>
        </p:txBody>
      </p:sp>
      <p:sp>
        <p:nvSpPr>
          <p:cNvPr id="204" name="C2"/>
          <p:cNvSpPr/>
          <p:nvPr/>
        </p:nvSpPr>
        <p:spPr>
          <a:xfrm>
            <a:off x="7000000" y="2100000"/>
            <a:ext cx="1750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FC3F7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5" name="T2"/>
          <p:cNvSpPr/>
          <p:nvPr/>
        </p:nvSpPr>
        <p:spPr>
          <a:xfrm>
            <a:off x="7140000" y="2190000"/>
            <a:ext cx="1470000" cy="1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4FC3F7"/>
                </a:solidFill>
              </a:rPr>
              <a:t>팀원 C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100" dirty="0">
                <a:solidFill>
                  <a:srgbClr val="6B7280"/>
                </a:solidFill>
              </a:rPr>
              <a:t>다음 대화에선
또 다르게</a:t>
            </a:r>
            <a:endParaRPr lang="en-US" sz="1100" dirty="0"/>
          </a:p>
        </p:txBody>
      </p:sp>
      <p:sp>
        <p:nvSpPr>
          <p:cNvPr id="90" name="Hook"/>
          <p:cNvSpPr/>
          <p:nvPr/>
        </p:nvSpPr>
        <p:spPr>
          <a:xfrm>
            <a:off x="365760" y="4200000"/>
            <a:ext cx="8412480" cy="720000"/>
          </a:xfrm>
          <a:prstGeom prst="roundRect">
            <a:avLst>
              <a:gd name="adj" fmla="val 15000"/>
            </a:avLst>
          </a:prstGeom>
          <a:solidFill>
            <a:srgbClr val="E0F2FE"/>
          </a:solidFill>
          <a:ln w="12700">
            <a:solidFill>
              <a:srgbClr val="4FC3F7"/>
            </a:solidFill>
          </a:ln>
        </p:spPr>
      </p:sp>
      <p:sp>
        <p:nvSpPr>
          <p:cNvPr id="91" name="HookText"/>
          <p:cNvSpPr/>
          <p:nvPr/>
        </p:nvSpPr>
        <p:spPr>
          <a:xfrm>
            <a:off x="365760" y="4200000"/>
            <a:ext cx="841248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1E2761"/>
                </a:solidFill>
              </a:rPr>
              <a:t>→  그럼 </a:t>
            </a:r>
            <a:r>
              <a:rPr lang="ko-KR" altLang="en-US" sz="1500" b="1" dirty="0">
                <a:solidFill>
                  <a:srgbClr val="4FC3F7"/>
                </a:solidFill>
              </a:rPr>
              <a:t>잘 시키는 법</a:t>
            </a:r>
            <a:r>
              <a:rPr lang="ko-KR" altLang="en-US" sz="1500" b="1" dirty="0">
                <a:solidFill>
                  <a:srgbClr val="1E2761"/>
                </a:solidFill>
              </a:rPr>
              <a:t>이 필요해진다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</p:sp>
      <p:sp>
        <p:nvSpPr>
          <p:cNvPr id="3" name="StepLabel"/>
          <p:cNvSpPr/>
          <p:nvPr/>
        </p:nvSpPr>
        <p:spPr>
          <a:xfrm>
            <a:off x="500000" y="330000"/>
            <a:ext cx="4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</a:rPr>
              <a:t>STEP 02  ·  다듬기</a:t>
            </a:r>
            <a:endParaRPr lang="en-US" sz="1400" dirty="0"/>
          </a:p>
        </p:txBody>
      </p:sp>
      <p:sp>
        <p:nvSpPr>
          <p:cNvPr id="4" name="BigNumber"/>
          <p:cNvSpPr/>
          <p:nvPr/>
        </p:nvSpPr>
        <p:spPr>
          <a:xfrm>
            <a:off x="400000" y="700000"/>
            <a:ext cx="2600000" cy="3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FBBF24">
                    <a:alpha val="2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0" dirty="0"/>
          </a:p>
        </p:txBody>
      </p:sp>
      <p:sp>
        <p:nvSpPr>
          <p:cNvPr id="5" name="Title"/>
          <p:cNvSpPr/>
          <p:nvPr/>
        </p:nvSpPr>
        <p:spPr>
          <a:xfrm>
            <a:off x="3200000" y="700000"/>
            <a:ext cx="5544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엔지니어링</a:t>
            </a:r>
            <a:endParaRPr lang="en-US" sz="4400" dirty="0"/>
          </a:p>
        </p:txBody>
      </p:sp>
      <p:sp>
        <p:nvSpPr>
          <p:cNvPr id="6" name="Definition"/>
          <p:cNvSpPr/>
          <p:nvPr/>
        </p:nvSpPr>
        <p:spPr>
          <a:xfrm>
            <a:off x="3200000" y="1450000"/>
            <a:ext cx="5544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i="1" dirty="0">
                <a:solidFill>
                  <a:srgbClr val="6B7280"/>
                </a:solidFill>
              </a:rPr>
              <a:t>같은 요청도 어떻게 '말'하느냐로 결과가 갈린다</a:t>
            </a:r>
            <a:endParaRPr lang="en-US" sz="1600" dirty="0"/>
          </a:p>
        </p:txBody>
      </p:sp>
      <p:sp>
        <p:nvSpPr>
          <p:cNvPr id="10" name="ThinkBox"/>
          <p:cNvSpPr/>
          <p:nvPr/>
        </p:nvSpPr>
        <p:spPr>
          <a:xfrm>
            <a:off x="3200000" y="2100000"/>
            <a:ext cx="55440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BBF24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hinkText"/>
          <p:cNvSpPr/>
          <p:nvPr/>
        </p:nvSpPr>
        <p:spPr>
          <a:xfrm>
            <a:off x="3400000" y="2200000"/>
            <a:ext cx="5144000" cy="1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</a:rPr>
              <a:t>💡  핵심 능력 두 가지</a:t>
            </a:r>
          </a:p>
          <a:p>
            <a:pPr marL="0" indent="0">
              <a:buNone/>
            </a:pPr>
            <a:r>
              <a:rPr lang="ko-KR" altLang="en-US" sz="1400" b="1" dirty="0">
                <a:solidFill>
                  <a:srgbClr val="1E2761"/>
                </a:solidFill>
              </a:rPr>
              <a:t>①  문서 작성</a:t>
            </a:r>
            <a:r>
              <a:rPr lang="ko-KR" altLang="en-US" sz="1200" dirty="0">
                <a:solidFill>
                  <a:srgbClr val="6B7280"/>
                </a:solidFill>
              </a:rPr>
              <a:t>   내 의도·규칙을 AI가 알아듣게 전달</a:t>
            </a:r>
          </a:p>
          <a:p>
            <a:pPr marL="0" indent="0">
              <a:buNone/>
            </a:pPr>
            <a:r>
              <a:rPr lang="ko-KR" altLang="en-US" sz="1400" b="1" dirty="0">
                <a:solidFill>
                  <a:srgbClr val="1E2761"/>
                </a:solidFill>
              </a:rPr>
              <a:t>②  질의 능력</a:t>
            </a:r>
            <a:r>
              <a:rPr lang="ko-KR" altLang="en-US" sz="1200" dirty="0">
                <a:solidFill>
                  <a:srgbClr val="6B7280"/>
                </a:solidFill>
              </a:rPr>
              <a:t>   모르는 걸 AI에게 캐물어 사전지식 끌어내기</a:t>
            </a:r>
          </a:p>
        </p:txBody>
      </p:sp>
      <p:sp>
        <p:nvSpPr>
          <p:cNvPr id="90" name="Hook"/>
          <p:cNvSpPr/>
          <p:nvPr/>
        </p:nvSpPr>
        <p:spPr>
          <a:xfrm>
            <a:off x="365760" y="4200000"/>
            <a:ext cx="8412480" cy="720000"/>
          </a:xfrm>
          <a:prstGeom prst="roundRect">
            <a:avLst>
              <a:gd name="adj" fmla="val 15000"/>
            </a:avLst>
          </a:prstGeom>
          <a:solidFill>
            <a:srgbClr val="FFF8E1"/>
          </a:solidFill>
          <a:ln w="12700">
            <a:solidFill>
              <a:srgbClr val="FBBF24"/>
            </a:solidFill>
          </a:ln>
        </p:spPr>
      </p:sp>
      <p:sp>
        <p:nvSpPr>
          <p:cNvPr id="91" name="HookText"/>
          <p:cNvSpPr/>
          <p:nvPr/>
        </p:nvSpPr>
        <p:spPr>
          <a:xfrm>
            <a:off x="365760" y="4200000"/>
            <a:ext cx="841248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1E2761"/>
                </a:solidFill>
              </a:rPr>
              <a:t>잘 시키는 법에는 </a:t>
            </a:r>
            <a:r>
              <a:rPr lang="ko-KR" altLang="en-US" sz="1500" b="1" dirty="0">
                <a:solidFill>
                  <a:srgbClr val="B45309"/>
                </a:solidFill>
              </a:rPr>
              <a:t>일정한 구조</a:t>
            </a:r>
            <a:r>
              <a:rPr lang="ko-KR" altLang="en-US" sz="1500" b="1" dirty="0">
                <a:solidFill>
                  <a:srgbClr val="1E2761"/>
                </a:solidFill>
              </a:rPr>
              <a:t>가 있다  ·  다음 슬라이드에서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</p:sp>
      <p:sp>
        <p:nvSpPr>
          <p:cNvPr id="3" name="StepLabel"/>
          <p:cNvSpPr/>
          <p:nvPr/>
        </p:nvSpPr>
        <p:spPr>
          <a:xfrm>
            <a:off x="500000" y="330000"/>
            <a:ext cx="4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</a:rPr>
              <a:t>STEP 02  ·  좋은 지시의 4요소</a:t>
            </a:r>
            <a:endParaRPr lang="en-US" sz="1400" dirty="0"/>
          </a:p>
        </p:txBody>
      </p:sp>
      <p:sp>
        <p:nvSpPr>
          <p:cNvPr id="4" name="BigNumber"/>
          <p:cNvSpPr/>
          <p:nvPr/>
        </p:nvSpPr>
        <p:spPr>
          <a:xfrm>
            <a:off x="400000" y="700000"/>
            <a:ext cx="2600000" cy="3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FBBF24">
                    <a:alpha val="2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0" dirty="0"/>
          </a:p>
        </p:txBody>
      </p:sp>
      <p:sp>
        <p:nvSpPr>
          <p:cNvPr id="5" name="Title"/>
          <p:cNvSpPr/>
          <p:nvPr/>
        </p:nvSpPr>
        <p:spPr>
          <a:xfrm>
            <a:off x="3200000" y="700000"/>
            <a:ext cx="5544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이번 지시에 4가지가 있는가?</a:t>
            </a:r>
            <a:endParaRPr lang="en-US" sz="3200" dirty="0"/>
          </a:p>
        </p:txBody>
      </p:sp>
      <p:sp>
        <p:nvSpPr>
          <p:cNvPr id="6" name="Definition"/>
          <p:cNvSpPr/>
          <p:nvPr/>
        </p:nvSpPr>
        <p:spPr>
          <a:xfrm>
            <a:off x="3200000" y="1450000"/>
            <a:ext cx="5544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00" name="C0"/>
          <p:cNvSpPr/>
          <p:nvPr/>
        </p:nvSpPr>
        <p:spPr>
          <a:xfrm>
            <a:off x="3200000" y="2100000"/>
            <a:ext cx="262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BBF24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1" name="T0"/>
          <p:cNvSpPr/>
          <p:nvPr/>
        </p:nvSpPr>
        <p:spPr>
          <a:xfrm>
            <a:off x="3340000" y="2190000"/>
            <a:ext cx="234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FBBF24"/>
                </a:solidFill>
              </a:rPr>
              <a:t>① 참조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100" dirty="0">
                <a:solidFill>
                  <a:srgbClr val="6B7280"/>
                </a:solidFill>
              </a:rPr>
              <a:t>무엇을 근거로</a:t>
            </a:r>
            <a:endParaRPr lang="en-US" sz="1100" dirty="0"/>
          </a:p>
        </p:txBody>
      </p:sp>
      <p:sp>
        <p:nvSpPr>
          <p:cNvPr id="202" name="C1"/>
          <p:cNvSpPr/>
          <p:nvPr/>
        </p:nvSpPr>
        <p:spPr>
          <a:xfrm>
            <a:off x="6020000" y="2100000"/>
            <a:ext cx="262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BBF24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3" name="T1"/>
          <p:cNvSpPr/>
          <p:nvPr/>
        </p:nvSpPr>
        <p:spPr>
          <a:xfrm>
            <a:off x="6160000" y="2190000"/>
            <a:ext cx="234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FBBF24"/>
                </a:solidFill>
              </a:rPr>
              <a:t>② 범위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100" dirty="0">
                <a:solidFill>
                  <a:srgbClr val="6B7280"/>
                </a:solidFill>
              </a:rPr>
              <a:t>이번 턴에 할 것</a:t>
            </a:r>
            <a:endParaRPr lang="en-US" sz="1100" dirty="0"/>
          </a:p>
        </p:txBody>
      </p:sp>
      <p:sp>
        <p:nvSpPr>
          <p:cNvPr id="204" name="C2"/>
          <p:cNvSpPr/>
          <p:nvPr/>
        </p:nvSpPr>
        <p:spPr>
          <a:xfrm>
            <a:off x="3200000" y="3050000"/>
            <a:ext cx="262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87171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5" name="T2"/>
          <p:cNvSpPr/>
          <p:nvPr/>
        </p:nvSpPr>
        <p:spPr>
          <a:xfrm>
            <a:off x="3340000" y="3140000"/>
            <a:ext cx="234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F87171"/>
                </a:solidFill>
              </a:rPr>
              <a:t>③ 금지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100" dirty="0">
                <a:solidFill>
                  <a:srgbClr val="6B7280"/>
                </a:solidFill>
              </a:rPr>
              <a:t>건드리면 안 될 것</a:t>
            </a:r>
            <a:endParaRPr lang="en-US" sz="1100" dirty="0"/>
          </a:p>
        </p:txBody>
      </p:sp>
      <p:sp>
        <p:nvSpPr>
          <p:cNvPr id="206" name="C3"/>
          <p:cNvSpPr/>
          <p:nvPr/>
        </p:nvSpPr>
        <p:spPr>
          <a:xfrm>
            <a:off x="6020000" y="3050000"/>
            <a:ext cx="262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7" name="T3"/>
          <p:cNvSpPr/>
          <p:nvPr/>
        </p:nvSpPr>
        <p:spPr>
          <a:xfrm>
            <a:off x="6160000" y="3140000"/>
            <a:ext cx="234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34D399"/>
                </a:solidFill>
              </a:rPr>
              <a:t>④ 완료 기준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100" dirty="0">
                <a:solidFill>
                  <a:srgbClr val="6B7280"/>
                </a:solidFill>
              </a:rPr>
              <a:t>무엇이 되면 끝</a:t>
            </a:r>
            <a:endParaRPr lang="en-US" sz="1100" dirty="0"/>
          </a:p>
        </p:txBody>
      </p:sp>
      <p:sp>
        <p:nvSpPr>
          <p:cNvPr id="90" name="Hook"/>
          <p:cNvSpPr/>
          <p:nvPr/>
        </p:nvSpPr>
        <p:spPr>
          <a:xfrm>
            <a:off x="365760" y="4200000"/>
            <a:ext cx="8412480" cy="720000"/>
          </a:xfrm>
          <a:prstGeom prst="roundRect">
            <a:avLst>
              <a:gd name="adj" fmla="val 15000"/>
            </a:avLst>
          </a:prstGeom>
          <a:solidFill>
            <a:srgbClr val="FFF8E1"/>
          </a:solidFill>
          <a:ln w="12700">
            <a:solidFill>
              <a:srgbClr val="FBBF24"/>
            </a:solidFill>
          </a:ln>
        </p:spPr>
      </p:sp>
      <p:sp>
        <p:nvSpPr>
          <p:cNvPr id="91" name="HookText"/>
          <p:cNvSpPr/>
          <p:nvPr/>
        </p:nvSpPr>
        <p:spPr>
          <a:xfrm>
            <a:off x="365760" y="4200000"/>
            <a:ext cx="841248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1E2761"/>
                </a:solidFill>
              </a:rPr>
              <a:t>이런 규칙이 </a:t>
            </a:r>
            <a:r>
              <a:rPr lang="ko-KR" altLang="en-US" sz="1500" b="1" dirty="0">
                <a:solidFill>
                  <a:srgbClr val="B45309"/>
                </a:solidFill>
              </a:rPr>
              <a:t>있는 프롬프트</a:t>
            </a:r>
            <a:r>
              <a:rPr lang="ko-KR" altLang="en-US" sz="1500" b="1" dirty="0">
                <a:solidFill>
                  <a:srgbClr val="1E2761"/>
                </a:solidFill>
              </a:rPr>
              <a:t>는 결과가 흔들리지 않는다 </a:t>
            </a:r>
            <a:r>
              <a:rPr lang="ko-KR" altLang="en-US" sz="1500" b="1" dirty="0">
                <a:solidFill>
                  <a:srgbClr val="FBBF24"/>
                </a:solidFill>
              </a:rPr>
              <a:t>— 그런데?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</p:sp>
      <p:sp>
        <p:nvSpPr>
          <p:cNvPr id="3" name="StepLabel"/>
          <p:cNvSpPr/>
          <p:nvPr/>
        </p:nvSpPr>
        <p:spPr>
          <a:xfrm>
            <a:off x="500000" y="330000"/>
            <a:ext cx="4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</a:rPr>
              <a:t>STEP 02  ·  한계</a:t>
            </a:r>
            <a:endParaRPr lang="en-US" sz="1400" dirty="0"/>
          </a:p>
        </p:txBody>
      </p:sp>
      <p:sp>
        <p:nvSpPr>
          <p:cNvPr id="4" name="BigNumber"/>
          <p:cNvSpPr/>
          <p:nvPr/>
        </p:nvSpPr>
        <p:spPr>
          <a:xfrm>
            <a:off x="400000" y="700000"/>
            <a:ext cx="2600000" cy="3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F87171">
                    <a:alpha val="2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0" dirty="0"/>
          </a:p>
        </p:txBody>
      </p:sp>
      <p:sp>
        <p:nvSpPr>
          <p:cNvPr id="5" name="Title"/>
          <p:cNvSpPr/>
          <p:nvPr/>
        </p:nvSpPr>
        <p:spPr>
          <a:xfrm>
            <a:off x="3200000" y="700000"/>
            <a:ext cx="5544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말은, 남지 않는다</a:t>
            </a:r>
            <a:endParaRPr lang="en-US" sz="3200" dirty="0"/>
          </a:p>
        </p:txBody>
      </p:sp>
      <p:sp>
        <p:nvSpPr>
          <p:cNvPr id="6" name="Definition"/>
          <p:cNvSpPr/>
          <p:nvPr/>
        </p:nvSpPr>
        <p:spPr>
          <a:xfrm>
            <a:off x="3200000" y="1450000"/>
            <a:ext cx="5544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i="1" dirty="0">
                <a:solidFill>
                  <a:srgbClr val="6B7280"/>
                </a:solidFill>
              </a:rPr>
              <a:t>좋은 프롬프트는 그때뿐 — 다음 세션·다음 사람에게 안 이어짐</a:t>
            </a:r>
            <a:endParaRPr lang="en-US" sz="1600" dirty="0"/>
          </a:p>
        </p:txBody>
      </p:sp>
      <p:sp>
        <p:nvSpPr>
          <p:cNvPr id="10" name="LimitBox"/>
          <p:cNvSpPr/>
          <p:nvPr/>
        </p:nvSpPr>
        <p:spPr>
          <a:xfrm>
            <a:off x="3200000" y="2100000"/>
            <a:ext cx="55440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87171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LimitText"/>
          <p:cNvSpPr/>
          <p:nvPr/>
        </p:nvSpPr>
        <p:spPr>
          <a:xfrm>
            <a:off x="3400000" y="2200000"/>
            <a:ext cx="5144000" cy="1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</a:rPr>
              <a:t>⚠️  </a:t>
            </a:r>
            <a:r>
              <a:rPr lang="ko-KR" altLang="en-US" sz="1200" b="1" dirty="0">
                <a:solidFill>
                  <a:srgbClr val="F87171"/>
                </a:solidFill>
              </a:rPr>
              <a:t>단순 프롬프트는</a:t>
            </a:r>
            <a:r>
              <a:rPr lang="en-US" sz="1200" b="1" dirty="0">
                <a:solidFill>
                  <a:srgbClr val="F87171"/>
                </a:solidFill>
              </a:rPr>
              <a:t> 휘발된다</a:t>
            </a:r>
          </a:p>
          <a:p>
            <a:pPr marL="0" indent="0">
              <a:buNone/>
            </a:pPr>
            <a:r>
              <a:rPr lang="ko-KR" altLang="en-US" sz="1300" dirty="0">
                <a:solidFill>
                  <a:srgbClr val="6B7280"/>
                </a:solidFill>
              </a:rPr>
              <a:t>· 대화 새로 열면 처음부터 다시 설명</a:t>
            </a:r>
          </a:p>
          <a:p>
            <a:pPr marL="0" indent="0">
              <a:buNone/>
            </a:pPr>
            <a:r>
              <a:rPr lang="ko-KR" altLang="en-US" sz="1300" dirty="0">
                <a:solidFill>
                  <a:srgbClr val="6B7280"/>
                </a:solidFill>
              </a:rPr>
              <a:t>· 다음 사람은 내 프롬프트를 알 </a:t>
            </a:r>
            <a:r>
              <a:rPr lang="ko-KR" altLang="en-US" sz="1300" dirty="0" err="1">
                <a:solidFill>
                  <a:srgbClr val="6B7280"/>
                </a:solidFill>
              </a:rPr>
              <a:t>수없다</a:t>
            </a:r>
            <a:r>
              <a:rPr lang="en-US" altLang="ko-KR" sz="1300" dirty="0">
                <a:solidFill>
                  <a:srgbClr val="6B7280"/>
                </a:solidFill>
              </a:rPr>
              <a:t>.</a:t>
            </a:r>
            <a:endParaRPr lang="ko-KR" altLang="en-US" sz="1300" dirty="0">
              <a:solidFill>
                <a:srgbClr val="6B7280"/>
              </a:solidFill>
            </a:endParaRPr>
          </a:p>
          <a:p>
            <a:pPr marL="0" indent="0">
              <a:buNone/>
            </a:pPr>
            <a:r>
              <a:rPr lang="ko-KR" altLang="en-US" sz="1300" dirty="0">
                <a:solidFill>
                  <a:srgbClr val="6B7280"/>
                </a:solidFill>
              </a:rPr>
              <a:t>· 팀 단위의 재현성 및 구조화에는 제한이 있다</a:t>
            </a:r>
            <a:r>
              <a:rPr lang="en-US" altLang="ko-KR" sz="1300" dirty="0">
                <a:solidFill>
                  <a:srgbClr val="6B7280"/>
                </a:solidFill>
              </a:rPr>
              <a:t>.</a:t>
            </a:r>
            <a:endParaRPr lang="ko-KR" altLang="en-US" sz="1300" dirty="0">
              <a:solidFill>
                <a:srgbClr val="6B7280"/>
              </a:solidFill>
            </a:endParaRPr>
          </a:p>
        </p:txBody>
      </p:sp>
      <p:sp>
        <p:nvSpPr>
          <p:cNvPr id="90" name="Hook"/>
          <p:cNvSpPr/>
          <p:nvPr/>
        </p:nvSpPr>
        <p:spPr>
          <a:xfrm>
            <a:off x="365760" y="4200000"/>
            <a:ext cx="8412480" cy="72000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 w="12700">
            <a:solidFill>
              <a:srgbClr val="F87171"/>
            </a:solidFill>
          </a:ln>
        </p:spPr>
      </p:sp>
      <p:sp>
        <p:nvSpPr>
          <p:cNvPr id="91" name="HookText"/>
          <p:cNvSpPr/>
          <p:nvPr/>
        </p:nvSpPr>
        <p:spPr>
          <a:xfrm>
            <a:off x="365760" y="4200000"/>
            <a:ext cx="841248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1E2761"/>
                </a:solidFill>
              </a:rPr>
              <a:t>→  단순 프롬프트가 아니라 </a:t>
            </a:r>
            <a:r>
              <a:rPr lang="ko-KR" altLang="en-US" sz="1500" b="1" dirty="0">
                <a:solidFill>
                  <a:srgbClr val="34D399"/>
                </a:solidFill>
              </a:rPr>
              <a:t>문서로 구조를 굳혀야</a:t>
            </a:r>
            <a:r>
              <a:rPr lang="ko-KR" altLang="en-US" sz="1500" b="1" dirty="0">
                <a:solidFill>
                  <a:srgbClr val="1E2761"/>
                </a:solidFill>
              </a:rPr>
              <a:t> 팀단위의 재현성과 구조가 남는다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</p:sp>
      <p:sp>
        <p:nvSpPr>
          <p:cNvPr id="3" name="StepLabel"/>
          <p:cNvSpPr/>
          <p:nvPr/>
        </p:nvSpPr>
        <p:spPr>
          <a:xfrm>
            <a:off x="500000" y="330000"/>
            <a:ext cx="4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</a:rPr>
              <a:t>STEP 03  ·  도착지</a:t>
            </a:r>
            <a:endParaRPr lang="en-US" sz="1400" dirty="0"/>
          </a:p>
        </p:txBody>
      </p:sp>
      <p:sp>
        <p:nvSpPr>
          <p:cNvPr id="4" name="BigNumber"/>
          <p:cNvSpPr/>
          <p:nvPr/>
        </p:nvSpPr>
        <p:spPr>
          <a:xfrm>
            <a:off x="400000" y="700000"/>
            <a:ext cx="2600000" cy="3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34D399">
                    <a:alpha val="2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0" dirty="0"/>
          </a:p>
        </p:txBody>
      </p:sp>
      <p:sp>
        <p:nvSpPr>
          <p:cNvPr id="5" name="Title"/>
          <p:cNvSpPr/>
          <p:nvPr/>
        </p:nvSpPr>
        <p:spPr>
          <a:xfrm>
            <a:off x="3200000" y="700000"/>
            <a:ext cx="5544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하네스 엔지니어링</a:t>
            </a:r>
            <a:endParaRPr lang="en-US" sz="4400" dirty="0"/>
          </a:p>
        </p:txBody>
      </p:sp>
      <p:sp>
        <p:nvSpPr>
          <p:cNvPr id="6" name="Definition"/>
          <p:cNvSpPr/>
          <p:nvPr/>
        </p:nvSpPr>
        <p:spPr>
          <a:xfrm>
            <a:off x="3200000" y="1450000"/>
            <a:ext cx="5544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i="1" dirty="0">
                <a:solidFill>
                  <a:srgbClr val="6B7280"/>
                </a:solidFill>
              </a:rPr>
              <a:t>프롬프트가 아니라, 문서와 규칙으로 구조를 미리 정한다</a:t>
            </a:r>
            <a:r>
              <a:rPr lang="en-US" altLang="ko-KR" sz="1600" i="1" dirty="0">
                <a:solidFill>
                  <a:srgbClr val="6B7280"/>
                </a:solidFill>
              </a:rPr>
              <a:t>.</a:t>
            </a:r>
            <a:endParaRPr lang="en-US" sz="1600" dirty="0"/>
          </a:p>
        </p:txBody>
      </p:sp>
      <p:sp>
        <p:nvSpPr>
          <p:cNvPr id="10" name="MetaBox"/>
          <p:cNvSpPr/>
          <p:nvPr/>
        </p:nvSpPr>
        <p:spPr>
          <a:xfrm>
            <a:off x="3200000" y="2100000"/>
            <a:ext cx="5544000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MetaText"/>
          <p:cNvSpPr/>
          <p:nvPr/>
        </p:nvSpPr>
        <p:spPr>
          <a:xfrm>
            <a:off x="3400000" y="2184098"/>
            <a:ext cx="5144000" cy="1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🐎  Harness = 마구 · </a:t>
            </a:r>
            <a:r>
              <a:rPr lang="en-US" sz="1200" b="1" dirty="0" err="1">
                <a:solidFill>
                  <a:srgbClr val="34D399"/>
                </a:solidFill>
              </a:rPr>
              <a:t>안전벨트</a:t>
            </a:r>
            <a:endParaRPr lang="en-US" sz="1200" b="1" dirty="0">
              <a:solidFill>
                <a:srgbClr val="34D399"/>
              </a:solidFill>
            </a:endParaRPr>
          </a:p>
          <a:p>
            <a:pPr marL="0" indent="0">
              <a:buNone/>
            </a:pPr>
            <a:endParaRPr lang="en-US" sz="1200" b="1" dirty="0">
              <a:solidFill>
                <a:srgbClr val="34D399"/>
              </a:solidFill>
            </a:endParaRPr>
          </a:p>
          <a:p>
            <a:pPr marL="0" indent="0">
              <a:buNone/>
            </a:pPr>
            <a:r>
              <a:rPr lang="ko-KR" altLang="en-US" sz="1300" dirty="0" err="1">
                <a:solidFill>
                  <a:srgbClr val="1E2761"/>
                </a:solidFill>
              </a:rPr>
              <a:t>AI를</a:t>
            </a:r>
            <a:r>
              <a:rPr lang="ko-KR" altLang="en-US" sz="1300" dirty="0">
                <a:solidFill>
                  <a:srgbClr val="1E2761"/>
                </a:solidFill>
              </a:rPr>
              <a:t> 말</a:t>
            </a:r>
            <a:r>
              <a:rPr lang="en-US" altLang="ko-KR" sz="1400" b="1" dirty="0">
                <a:solidFill>
                  <a:srgbClr val="34D399"/>
                </a:solidFill>
              </a:rPr>
              <a:t> (🐎) </a:t>
            </a:r>
            <a:r>
              <a:rPr lang="ko-KR" altLang="en-US" sz="1300" dirty="0">
                <a:solidFill>
                  <a:srgbClr val="1E2761"/>
                </a:solidFill>
              </a:rPr>
              <a:t>로 비유 했을 때, </a:t>
            </a:r>
            <a:br>
              <a:rPr lang="en-US" altLang="ko-KR" sz="1300" dirty="0">
                <a:solidFill>
                  <a:srgbClr val="1E2761"/>
                </a:solidFill>
              </a:rPr>
            </a:br>
            <a:r>
              <a:rPr lang="ko-KR" altLang="en-US" sz="1300" dirty="0" err="1">
                <a:solidFill>
                  <a:srgbClr val="1E2761"/>
                </a:solidFill>
              </a:rPr>
              <a:t>하네스를</a:t>
            </a:r>
            <a:r>
              <a:rPr lang="ko-KR" altLang="en-US" sz="1300" dirty="0">
                <a:solidFill>
                  <a:srgbClr val="1E2761"/>
                </a:solidFill>
              </a:rPr>
              <a:t> 통해 </a:t>
            </a:r>
            <a:r>
              <a:rPr lang="en-US" altLang="ko-KR" sz="1300" dirty="0">
                <a:solidFill>
                  <a:srgbClr val="1E2761"/>
                </a:solidFill>
              </a:rPr>
              <a:t>AI</a:t>
            </a:r>
            <a:r>
              <a:rPr lang="ko-KR" altLang="en-US" sz="1300" dirty="0">
                <a:solidFill>
                  <a:srgbClr val="1E2761"/>
                </a:solidFill>
              </a:rPr>
              <a:t>를 정해진 방향으로만 쓰이도록 </a:t>
            </a:r>
            <a:r>
              <a:rPr lang="ko-KR" altLang="en-US" sz="1300" b="1" dirty="0">
                <a:solidFill>
                  <a:srgbClr val="34D399"/>
                </a:solidFill>
              </a:rPr>
              <a:t>잡아주는 장치</a:t>
            </a:r>
          </a:p>
          <a:p>
            <a:pPr marL="0" indent="0">
              <a:buNone/>
            </a:pPr>
            <a:r>
              <a:rPr lang="ko-KR" altLang="en-US" sz="1300" i="1" dirty="0">
                <a:solidFill>
                  <a:srgbClr val="6B7280"/>
                </a:solidFill>
              </a:rPr>
              <a:t>= AI를 우리 특정 기준으로 쓰게 하는 구조 및 규칙</a:t>
            </a:r>
          </a:p>
        </p:txBody>
      </p:sp>
      <p:sp>
        <p:nvSpPr>
          <p:cNvPr id="90" name="Hook"/>
          <p:cNvSpPr/>
          <p:nvPr/>
        </p:nvSpPr>
        <p:spPr>
          <a:xfrm>
            <a:off x="365760" y="4200000"/>
            <a:ext cx="8412480" cy="72000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2700">
            <a:solidFill>
              <a:srgbClr val="34D399"/>
            </a:solidFill>
          </a:ln>
        </p:spPr>
      </p:sp>
      <p:sp>
        <p:nvSpPr>
          <p:cNvPr id="91" name="HookText"/>
          <p:cNvSpPr/>
          <p:nvPr/>
        </p:nvSpPr>
        <p:spPr>
          <a:xfrm>
            <a:off x="365760" y="4200000"/>
            <a:ext cx="841248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1E2761"/>
                </a:solidFill>
              </a:rPr>
              <a:t>개인 프롬프트가 아닌 </a:t>
            </a:r>
            <a:r>
              <a:rPr lang="ko-KR" altLang="en-US" sz="1500" b="1" dirty="0">
                <a:solidFill>
                  <a:srgbClr val="34D399"/>
                </a:solidFill>
              </a:rPr>
              <a:t>반복 사용이 가능한 시스템</a:t>
            </a:r>
            <a:r>
              <a:rPr lang="ko-KR" altLang="en-US" sz="1500" b="1" dirty="0">
                <a:solidFill>
                  <a:srgbClr val="1E2761"/>
                </a:solidFill>
              </a:rPr>
              <a:t> —</a:t>
            </a:r>
            <a:r>
              <a:rPr lang="en-US" altLang="ko-KR" sz="1500" b="1" dirty="0">
                <a:solidFill>
                  <a:srgbClr val="1E2761"/>
                </a:solidFill>
              </a:rPr>
              <a:t> </a:t>
            </a:r>
            <a:r>
              <a:rPr lang="ko-KR" altLang="en-US" sz="1500" b="1" dirty="0">
                <a:solidFill>
                  <a:srgbClr val="1E2761"/>
                </a:solidFill>
              </a:rPr>
              <a:t>무엇을 문서로 굳히나?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</p:sp>
      <p:sp>
        <p:nvSpPr>
          <p:cNvPr id="3" name="StepLabel"/>
          <p:cNvSpPr/>
          <p:nvPr/>
        </p:nvSpPr>
        <p:spPr>
          <a:xfrm>
            <a:off x="500000" y="330000"/>
            <a:ext cx="4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</a:rPr>
              <a:t>STEP 03  ·  부품이 아니라 흐름</a:t>
            </a:r>
            <a:endParaRPr lang="en-US" sz="1400" dirty="0"/>
          </a:p>
        </p:txBody>
      </p:sp>
      <p:sp>
        <p:nvSpPr>
          <p:cNvPr id="4" name="BigNumber"/>
          <p:cNvSpPr/>
          <p:nvPr/>
        </p:nvSpPr>
        <p:spPr>
          <a:xfrm>
            <a:off x="400000" y="700000"/>
            <a:ext cx="2600000" cy="3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34D399">
                    <a:alpha val="2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0" dirty="0"/>
          </a:p>
        </p:txBody>
      </p:sp>
      <p:sp>
        <p:nvSpPr>
          <p:cNvPr id="5" name="Title"/>
          <p:cNvSpPr/>
          <p:nvPr/>
        </p:nvSpPr>
        <p:spPr>
          <a:xfrm>
            <a:off x="3200000" y="700000"/>
            <a:ext cx="5544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문서로 굳히는 흐름과 규칙</a:t>
            </a:r>
            <a:endParaRPr lang="en-US" sz="3200" dirty="0"/>
          </a:p>
        </p:txBody>
      </p:sp>
      <p:sp>
        <p:nvSpPr>
          <p:cNvPr id="6" name="Definition"/>
          <p:cNvSpPr/>
          <p:nvPr/>
        </p:nvSpPr>
        <p:spPr>
          <a:xfrm>
            <a:off x="3200000" y="1450000"/>
            <a:ext cx="5544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00" name="C0"/>
          <p:cNvSpPr/>
          <p:nvPr/>
        </p:nvSpPr>
        <p:spPr>
          <a:xfrm>
            <a:off x="3200000" y="2100000"/>
            <a:ext cx="262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1" name="T0"/>
          <p:cNvSpPr/>
          <p:nvPr/>
        </p:nvSpPr>
        <p:spPr>
          <a:xfrm>
            <a:off x="3340000" y="2190000"/>
            <a:ext cx="234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34D399"/>
                </a:solidFill>
              </a:rPr>
              <a:t>설계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100" dirty="0">
                <a:solidFill>
                  <a:srgbClr val="6B7280"/>
                </a:solidFill>
              </a:rPr>
              <a:t>무엇을 왜 만들지 문서화</a:t>
            </a:r>
            <a:endParaRPr lang="en-US" sz="1100" dirty="0"/>
          </a:p>
        </p:txBody>
      </p:sp>
      <p:sp>
        <p:nvSpPr>
          <p:cNvPr id="202" name="C1"/>
          <p:cNvSpPr/>
          <p:nvPr/>
        </p:nvSpPr>
        <p:spPr>
          <a:xfrm>
            <a:off x="6020000" y="2100000"/>
            <a:ext cx="262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3" name="T1"/>
          <p:cNvSpPr/>
          <p:nvPr/>
        </p:nvSpPr>
        <p:spPr>
          <a:xfrm>
            <a:off x="6160000" y="2190000"/>
            <a:ext cx="234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34D399"/>
                </a:solidFill>
              </a:rPr>
              <a:t>컨텍스트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100" dirty="0">
                <a:solidFill>
                  <a:srgbClr val="6B7280"/>
                </a:solidFill>
              </a:rPr>
              <a:t>결과를 만드는 </a:t>
            </a:r>
            <a:r>
              <a:rPr lang="ko-KR" altLang="en-US" sz="1100" dirty="0" err="1">
                <a:solidFill>
                  <a:srgbClr val="6B7280"/>
                </a:solidFill>
              </a:rPr>
              <a:t>규칙·아키텍처</a:t>
            </a:r>
            <a:r>
              <a:rPr lang="ko-KR" altLang="en-US" sz="1100" dirty="0">
                <a:solidFill>
                  <a:srgbClr val="6B7280"/>
                </a:solidFill>
              </a:rPr>
              <a:t> 등</a:t>
            </a:r>
            <a:endParaRPr lang="en-US" sz="1100" dirty="0"/>
          </a:p>
        </p:txBody>
      </p:sp>
      <p:sp>
        <p:nvSpPr>
          <p:cNvPr id="204" name="C2"/>
          <p:cNvSpPr/>
          <p:nvPr/>
        </p:nvSpPr>
        <p:spPr>
          <a:xfrm>
            <a:off x="3200000" y="3050000"/>
            <a:ext cx="262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5" name="T2"/>
          <p:cNvSpPr/>
          <p:nvPr/>
        </p:nvSpPr>
        <p:spPr>
          <a:xfrm>
            <a:off x="3340000" y="3140000"/>
            <a:ext cx="234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34D399"/>
                </a:solidFill>
              </a:rPr>
              <a:t>작은 단위의 계획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100" dirty="0" err="1">
                <a:solidFill>
                  <a:srgbClr val="6B7280"/>
                </a:solidFill>
              </a:rPr>
              <a:t>단계·화면·기능으로</a:t>
            </a:r>
            <a:r>
              <a:rPr lang="ko-KR" altLang="en-US" sz="1100" dirty="0">
                <a:solidFill>
                  <a:srgbClr val="6B7280"/>
                </a:solidFill>
              </a:rPr>
              <a:t> 쪼갬</a:t>
            </a:r>
            <a:endParaRPr lang="en-US" sz="1100" dirty="0"/>
          </a:p>
        </p:txBody>
      </p:sp>
      <p:sp>
        <p:nvSpPr>
          <p:cNvPr id="206" name="C3"/>
          <p:cNvSpPr/>
          <p:nvPr/>
        </p:nvSpPr>
        <p:spPr>
          <a:xfrm>
            <a:off x="6020000" y="3050000"/>
            <a:ext cx="2620000" cy="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  <a:effectLst>
            <a:outerShdw blurRad="762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7" name="T3"/>
          <p:cNvSpPr/>
          <p:nvPr/>
        </p:nvSpPr>
        <p:spPr>
          <a:xfrm>
            <a:off x="6160000" y="3140000"/>
            <a:ext cx="23400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34D399"/>
                </a:solidFill>
              </a:rPr>
              <a:t>품질</a:t>
            </a:r>
            <a:endParaRPr lang="en-US" sz="1300" dirty="0"/>
          </a:p>
          <a:p>
            <a:pPr marL="0" indent="0">
              <a:buNone/>
            </a:pPr>
            <a:r>
              <a:rPr lang="ko-KR" altLang="en-US" sz="1100" dirty="0">
                <a:solidFill>
                  <a:srgbClr val="6B7280"/>
                </a:solidFill>
              </a:rPr>
              <a:t>리뷰·검사·커밋</a:t>
            </a:r>
            <a:endParaRPr lang="en-US" sz="1100" dirty="0"/>
          </a:p>
        </p:txBody>
      </p:sp>
      <p:sp>
        <p:nvSpPr>
          <p:cNvPr id="90" name="Hook"/>
          <p:cNvSpPr/>
          <p:nvPr/>
        </p:nvSpPr>
        <p:spPr>
          <a:xfrm>
            <a:off x="365760" y="4200000"/>
            <a:ext cx="8412480" cy="72000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2700">
            <a:solidFill>
              <a:srgbClr val="34D399"/>
            </a:solidFill>
          </a:ln>
        </p:spPr>
      </p:sp>
      <p:sp>
        <p:nvSpPr>
          <p:cNvPr id="91" name="HookText"/>
          <p:cNvSpPr/>
          <p:nvPr/>
        </p:nvSpPr>
        <p:spPr>
          <a:xfrm>
            <a:off x="365760" y="4200000"/>
            <a:ext cx="841248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1E2761"/>
                </a:solidFill>
              </a:rPr>
              <a:t>흐름과 규칙 자체를 </a:t>
            </a:r>
            <a:r>
              <a:rPr lang="ko-KR" altLang="en-US" sz="1500" b="1" dirty="0">
                <a:solidFill>
                  <a:srgbClr val="34D399"/>
                </a:solidFill>
              </a:rPr>
              <a:t>.md 파일로 </a:t>
            </a:r>
            <a:r>
              <a:rPr lang="ko-KR" altLang="en-US" sz="1500" b="1" dirty="0" err="1">
                <a:solidFill>
                  <a:srgbClr val="34D399"/>
                </a:solidFill>
              </a:rPr>
              <a:t>굳혀두면</a:t>
            </a:r>
            <a:r>
              <a:rPr lang="ko-KR" altLang="en-US" sz="1500" b="1" dirty="0">
                <a:solidFill>
                  <a:srgbClr val="34D399"/>
                </a:solidFill>
              </a:rPr>
              <a:t> </a:t>
            </a:r>
            <a:r>
              <a:rPr lang="ko-KR" altLang="en-US" sz="1500" b="1" dirty="0">
                <a:solidFill>
                  <a:srgbClr val="1E2761"/>
                </a:solidFill>
              </a:rPr>
              <a:t>일관된 품질과 기준을 가진 결과물 도출</a:t>
            </a:r>
            <a:endParaRPr lang="en-US" sz="1500" b="1" dirty="0">
              <a:solidFill>
                <a:srgbClr val="1E276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Top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</p:sp>
      <p:sp>
        <p:nvSpPr>
          <p:cNvPr id="3" name="Kicker"/>
          <p:cNvSpPr/>
          <p:nvPr/>
        </p:nvSpPr>
        <p:spPr>
          <a:xfrm>
            <a:off x="365760" y="330000"/>
            <a:ext cx="841248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i="1" dirty="0">
                <a:solidFill>
                  <a:srgbClr val="34D399"/>
                </a:solidFill>
              </a:rPr>
              <a:t>세 개념이 결국 하나로 모인다</a:t>
            </a:r>
            <a:endParaRPr lang="en-US" sz="1400" dirty="0"/>
          </a:p>
        </p:txBody>
      </p:sp>
      <p:sp>
        <p:nvSpPr>
          <p:cNvPr id="10" name="Card1"/>
          <p:cNvSpPr/>
          <p:nvPr/>
        </p:nvSpPr>
        <p:spPr>
          <a:xfrm>
            <a:off x="472000" y="1000000"/>
            <a:ext cx="2600000" cy="900000"/>
          </a:xfrm>
          <a:prstGeom prst="roundRect">
            <a:avLst>
              <a:gd name="adj" fmla="val 8000"/>
            </a:avLst>
          </a:prstGeom>
          <a:solidFill>
            <a:srgbClr val="252D4D"/>
          </a:solidFill>
          <a:ln w="19050">
            <a:solidFill>
              <a:srgbClr val="4FC3F7"/>
            </a:solidFill>
          </a:ln>
        </p:spPr>
      </p:sp>
      <p:sp>
        <p:nvSpPr>
          <p:cNvPr id="11" name="Card1T"/>
          <p:cNvSpPr/>
          <p:nvPr/>
        </p:nvSpPr>
        <p:spPr>
          <a:xfrm>
            <a:off x="472000" y="1020000"/>
            <a:ext cx="2600000" cy="8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</a:rPr>
              <a:t>01  바이브코딩</a:t>
            </a:r>
          </a:p>
          <a:p>
            <a:pPr marL="0" indent="0" algn="ctr">
              <a:buNone/>
            </a:pPr>
            <a:r>
              <a:rPr lang="ko-KR" altLang="en-US" sz="1100" dirty="0">
                <a:solidFill>
                  <a:srgbClr val="C8DCFC"/>
                </a:solidFill>
              </a:rPr>
              <a:t>의도를 자연어로</a:t>
            </a:r>
          </a:p>
        </p:txBody>
      </p:sp>
      <p:sp>
        <p:nvSpPr>
          <p:cNvPr id="20" name="Card2"/>
          <p:cNvSpPr/>
          <p:nvPr/>
        </p:nvSpPr>
        <p:spPr>
          <a:xfrm>
            <a:off x="3272000" y="1000000"/>
            <a:ext cx="2600000" cy="900000"/>
          </a:xfrm>
          <a:prstGeom prst="roundRect">
            <a:avLst>
              <a:gd name="adj" fmla="val 8000"/>
            </a:avLst>
          </a:prstGeom>
          <a:solidFill>
            <a:srgbClr val="252D4D"/>
          </a:solidFill>
          <a:ln w="19050">
            <a:solidFill>
              <a:srgbClr val="FBBF24"/>
            </a:solidFill>
          </a:ln>
        </p:spPr>
      </p:sp>
      <p:sp>
        <p:nvSpPr>
          <p:cNvPr id="21" name="Card2T"/>
          <p:cNvSpPr/>
          <p:nvPr/>
        </p:nvSpPr>
        <p:spPr>
          <a:xfrm>
            <a:off x="3272000" y="1020000"/>
            <a:ext cx="2600000" cy="8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</a:rPr>
              <a:t>02  프롬프트</a:t>
            </a:r>
          </a:p>
          <a:p>
            <a:pPr marL="0" indent="0" algn="ctr">
              <a:buNone/>
            </a:pPr>
            <a:r>
              <a:rPr lang="ko-KR" altLang="en-US" sz="1100" dirty="0">
                <a:solidFill>
                  <a:srgbClr val="C8DCFC"/>
                </a:solidFill>
              </a:rPr>
              <a:t>말을 잘 다듬기</a:t>
            </a:r>
          </a:p>
        </p:txBody>
      </p:sp>
      <p:sp>
        <p:nvSpPr>
          <p:cNvPr id="30" name="Card3"/>
          <p:cNvSpPr/>
          <p:nvPr/>
        </p:nvSpPr>
        <p:spPr>
          <a:xfrm>
            <a:off x="6072000" y="1000000"/>
            <a:ext cx="2600000" cy="900000"/>
          </a:xfrm>
          <a:prstGeom prst="roundRect">
            <a:avLst>
              <a:gd name="adj" fmla="val 8000"/>
            </a:avLst>
          </a:prstGeom>
          <a:solidFill>
            <a:srgbClr val="252D4D"/>
          </a:solidFill>
          <a:ln w="19050">
            <a:solidFill>
              <a:srgbClr val="34D399"/>
            </a:solidFill>
          </a:ln>
        </p:spPr>
      </p:sp>
      <p:sp>
        <p:nvSpPr>
          <p:cNvPr id="31" name="Card3T"/>
          <p:cNvSpPr/>
          <p:nvPr/>
        </p:nvSpPr>
        <p:spPr>
          <a:xfrm>
            <a:off x="6072000" y="1020000"/>
            <a:ext cx="2600000" cy="8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</a:rPr>
              <a:t>03  하네스</a:t>
            </a:r>
          </a:p>
          <a:p>
            <a:pPr marL="0" indent="0" algn="ctr">
              <a:buNone/>
            </a:pPr>
            <a:r>
              <a:rPr lang="ko-KR" altLang="en-US" sz="1100" dirty="0">
                <a:solidFill>
                  <a:srgbClr val="C8DCFC"/>
                </a:solidFill>
              </a:rPr>
              <a:t>구조를 문서로</a:t>
            </a:r>
          </a:p>
        </p:txBody>
      </p:sp>
      <p:sp>
        <p:nvSpPr>
          <p:cNvPr id="40" name="Arrow"/>
          <p:cNvSpPr/>
          <p:nvPr/>
        </p:nvSpPr>
        <p:spPr>
          <a:xfrm>
            <a:off x="4372000" y="2200000"/>
            <a:ext cx="400000" cy="600000"/>
          </a:xfrm>
          <a:prstGeom prst="downArrow">
            <a:avLst/>
          </a:prstGeom>
          <a:solidFill>
            <a:srgbClr val="4A5175"/>
          </a:solidFill>
          <a:ln>
            <a:noFill/>
          </a:ln>
        </p:spPr>
      </p:sp>
      <p:sp>
        <p:nvSpPr>
          <p:cNvPr id="50" name="AnswerBox"/>
          <p:cNvSpPr/>
          <p:nvPr/>
        </p:nvSpPr>
        <p:spPr>
          <a:xfrm>
            <a:off x="800000" y="2960000"/>
            <a:ext cx="7544000" cy="110000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 w="25400">
            <a:solidFill>
              <a:srgbClr val="34D399"/>
            </a:solidFill>
          </a:ln>
        </p:spPr>
      </p:sp>
      <p:sp>
        <p:nvSpPr>
          <p:cNvPr id="51" name="AnswerText"/>
          <p:cNvSpPr/>
          <p:nvPr/>
        </p:nvSpPr>
        <p:spPr>
          <a:xfrm>
            <a:off x="800000" y="2960000"/>
            <a:ext cx="7544000" cy="11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dirty="0">
                <a:solidFill>
                  <a:srgbClr val="C8DCFC"/>
                </a:solidFill>
              </a:rPr>
              <a:t>결국 남는 능력은</a:t>
            </a:r>
          </a:p>
          <a:p>
            <a:pPr marL="0" indent="0" algn="ctr">
              <a:buNone/>
            </a:pPr>
            <a:r>
              <a:rPr lang="ko-KR" altLang="en-US" sz="36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문서를 쓰고 질의하는 능력</a:t>
            </a:r>
          </a:p>
        </p:txBody>
      </p:sp>
      <p:sp>
        <p:nvSpPr>
          <p:cNvPr id="60" name="Next"/>
          <p:cNvSpPr/>
          <p:nvPr/>
        </p:nvSpPr>
        <p:spPr>
          <a:xfrm>
            <a:off x="365760" y="4300000"/>
            <a:ext cx="84124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i="1" dirty="0">
                <a:solidFill>
                  <a:srgbClr val="8899BB"/>
                </a:solidFill>
              </a:rPr>
              <a:t>다음 파트에서 </a:t>
            </a:r>
            <a:r>
              <a:rPr lang="en-US" sz="1400" b="1" i="1" dirty="0">
                <a:solidFill>
                  <a:srgbClr val="C8DCFC"/>
                </a:solidFill>
              </a:rPr>
              <a:t>그 문서</a:t>
            </a:r>
            <a:r>
              <a:rPr lang="ko-KR" altLang="en-US" sz="1400" i="1" dirty="0">
                <a:solidFill>
                  <a:srgbClr val="8899BB"/>
                </a:solidFill>
              </a:rPr>
              <a:t>가 실제로 어떻게 생겼는지 봅니다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</p:sp>
      <p:sp>
        <p:nvSpPr>
          <p:cNvPr id="3" name="Kicker"/>
          <p:cNvSpPr/>
          <p:nvPr/>
        </p:nvSpPr>
        <p:spPr>
          <a:xfrm>
            <a:off x="500000" y="330000"/>
            <a:ext cx="50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</a:rPr>
              <a:t>NEXT  ·  다음 파트 예고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500000" y="750000"/>
            <a:ext cx="8144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그 문서, 실제로 어떻게 생겼나?</a:t>
            </a:r>
            <a:endParaRPr lang="en-US" sz="3600" dirty="0"/>
          </a:p>
        </p:txBody>
      </p:sp>
      <p:sp>
        <p:nvSpPr>
          <p:cNvPr id="10" name="Card1"/>
          <p:cNvSpPr/>
          <p:nvPr/>
        </p:nvSpPr>
        <p:spPr>
          <a:xfrm>
            <a:off x="500000" y="1750000"/>
            <a:ext cx="2680000" cy="21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FC3F7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Card1T"/>
          <p:cNvSpPr/>
          <p:nvPr/>
        </p:nvSpPr>
        <p:spPr>
          <a:xfrm>
            <a:off x="620000" y="1850000"/>
            <a:ext cx="2440000" cy="1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4FC3F7"/>
                </a:solidFill>
              </a:rPr>
              <a:t>📦</a:t>
            </a:r>
          </a:p>
          <a:p>
            <a:pPr marL="0" indent="0" algn="ctr">
              <a:buNone/>
            </a:pPr>
            <a:r>
              <a:rPr lang="ko-KR" altLang="en-US" sz="1300" b="1">
                <a:solidFill>
                  <a:srgbClr val="1E2761"/>
                </a:solidFill>
              </a:rPr>
              <a:t>하네스 엔지니어링 구성</a:t>
            </a:r>
            <a:endParaRPr lang="ko-KR" altLang="en-US" sz="1300" b="1" dirty="0">
              <a:solidFill>
                <a:srgbClr val="1E2761"/>
              </a:solidFill>
            </a:endParaRPr>
          </a:p>
          <a:p>
            <a:pPr marL="0" indent="0" algn="ctr">
              <a:buNone/>
            </a:pPr>
            <a:r>
              <a:rPr lang="ko-KR" altLang="en-US" sz="1000" dirty="0">
                <a:solidFill>
                  <a:srgbClr val="6B7280"/>
                </a:solidFill>
              </a:rPr>
              <a:t>SKILL.md · CLAUDE.md</a:t>
            </a:r>
          </a:p>
          <a:p>
            <a:pPr marL="0" indent="0" algn="ctr">
              <a:buNone/>
            </a:pPr>
            <a:r>
              <a:rPr lang="ko-KR" altLang="en-US" sz="1000" dirty="0">
                <a:solidFill>
                  <a:srgbClr val="6B7280"/>
                </a:solidFill>
              </a:rPr>
              <a:t>AGENTS.md · MEMORY.md</a:t>
            </a:r>
          </a:p>
        </p:txBody>
      </p:sp>
      <p:sp>
        <p:nvSpPr>
          <p:cNvPr id="20" name="Card2"/>
          <p:cNvSpPr/>
          <p:nvPr/>
        </p:nvSpPr>
        <p:spPr>
          <a:xfrm>
            <a:off x="3232000" y="1750000"/>
            <a:ext cx="2680000" cy="21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4D399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Card2T"/>
          <p:cNvSpPr/>
          <p:nvPr/>
        </p:nvSpPr>
        <p:spPr>
          <a:xfrm>
            <a:off x="3352000" y="1850000"/>
            <a:ext cx="2440000" cy="1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34D399"/>
                </a:solidFill>
              </a:rPr>
              <a:t>🎯</a:t>
            </a:r>
          </a:p>
          <a:p>
            <a:pPr marL="0" indent="0" algn="ctr">
              <a:buNone/>
            </a:pPr>
            <a:r>
              <a:rPr lang="ko-KR" altLang="en-US" sz="1300" b="1">
                <a:solidFill>
                  <a:srgbClr val="1E2761"/>
                </a:solidFill>
              </a:rPr>
              <a:t>표준으로 </a:t>
            </a:r>
            <a:r>
              <a:rPr lang="ko-KR" altLang="en-US" sz="1300" b="1" dirty="0">
                <a:solidFill>
                  <a:srgbClr val="1E2761"/>
                </a:solidFill>
              </a:rPr>
              <a:t>수렴</a:t>
            </a:r>
          </a:p>
          <a:p>
            <a:pPr marL="0" indent="0" algn="ctr">
              <a:buNone/>
            </a:pPr>
            <a:r>
              <a:rPr lang="ko-KR" altLang="en-US" sz="1000" dirty="0">
                <a:solidFill>
                  <a:srgbClr val="6B7280"/>
                </a:solidFill>
              </a:rPr>
              <a:t>3사가 같은 규격으로</a:t>
            </a:r>
          </a:p>
          <a:p>
            <a:pPr marL="0" indent="0" algn="ctr">
              <a:buNone/>
            </a:pPr>
            <a:r>
              <a:rPr lang="ko-KR" altLang="en-US" sz="1000" dirty="0">
                <a:solidFill>
                  <a:srgbClr val="6B7280"/>
                </a:solidFill>
              </a:rPr>
              <a:t>수렴하는 흐름</a:t>
            </a:r>
          </a:p>
        </p:txBody>
      </p:sp>
      <p:sp>
        <p:nvSpPr>
          <p:cNvPr id="30" name="Card3"/>
          <p:cNvSpPr/>
          <p:nvPr/>
        </p:nvSpPr>
        <p:spPr>
          <a:xfrm>
            <a:off x="5964000" y="1750000"/>
            <a:ext cx="2680000" cy="21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8BFA"/>
            </a:solidFill>
          </a:ln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Card3T"/>
          <p:cNvSpPr/>
          <p:nvPr/>
        </p:nvSpPr>
        <p:spPr>
          <a:xfrm>
            <a:off x="6084000" y="1850000"/>
            <a:ext cx="2440000" cy="1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>
                <a:solidFill>
                  <a:srgbClr val="A78BFA"/>
                </a:solidFill>
              </a:rPr>
              <a:t>🚀</a:t>
            </a:r>
            <a:endParaRPr lang="ko-KR" altLang="en-US" sz="1500" b="1" dirty="0">
              <a:solidFill>
                <a:srgbClr val="A78BFA"/>
              </a:solidFill>
            </a:endParaRPr>
          </a:p>
          <a:p>
            <a:pPr marL="0" indent="0" algn="ctr">
              <a:buNone/>
            </a:pPr>
            <a:r>
              <a:rPr lang="ko-KR" altLang="en-US" sz="1300" b="1">
                <a:solidFill>
                  <a:srgbClr val="1E2761"/>
                </a:solidFill>
              </a:rPr>
              <a:t>실사용</a:t>
            </a:r>
            <a:endParaRPr lang="ko-KR" altLang="en-US" sz="1300" b="1" dirty="0">
              <a:solidFill>
                <a:srgbClr val="1E2761"/>
              </a:solidFill>
            </a:endParaRPr>
          </a:p>
          <a:p>
            <a:pPr marL="0" indent="0" algn="ctr">
              <a:buNone/>
            </a:pPr>
            <a:r>
              <a:rPr lang="ko-KR" altLang="en-US" sz="1000" dirty="0">
                <a:solidFill>
                  <a:srgbClr val="6B7280"/>
                </a:solidFill>
              </a:rPr>
              <a:t>superpowers·라이브</a:t>
            </a:r>
          </a:p>
          <a:p>
            <a:pPr marL="0" indent="0" algn="ctr">
              <a:buNone/>
            </a:pPr>
            <a:r>
              <a:rPr lang="ko-KR" altLang="en-US" sz="1000" dirty="0">
                <a:solidFill>
                  <a:srgbClr val="6B7280"/>
                </a:solidFill>
              </a:rPr>
              <a:t>바이브코딩 데모</a:t>
            </a:r>
          </a:p>
        </p:txBody>
      </p:sp>
      <p:sp>
        <p:nvSpPr>
          <p:cNvPr id="90" name="Closing"/>
          <p:cNvSpPr/>
          <p:nvPr/>
        </p:nvSpPr>
        <p:spPr>
          <a:xfrm>
            <a:off x="500000" y="4100000"/>
            <a:ext cx="8144000" cy="82000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 w="19050">
            <a:solidFill>
              <a:srgbClr val="A78BFA"/>
            </a:solidFill>
          </a:ln>
        </p:spPr>
      </p:sp>
      <p:sp>
        <p:nvSpPr>
          <p:cNvPr id="91" name="ClosingText"/>
          <p:cNvSpPr/>
          <p:nvPr/>
        </p:nvSpPr>
        <p:spPr>
          <a:xfrm>
            <a:off x="500000" y="4100000"/>
            <a:ext cx="8144000" cy="8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C8DCFC"/>
                </a:solidFill>
              </a:rPr>
              <a:t>개념은 정리했으니, </a:t>
            </a:r>
            <a:r>
              <a:rPr lang="ko-KR" altLang="en-US" sz="1600" b="1">
                <a:solidFill>
                  <a:srgbClr val="C8DCFC"/>
                </a:solidFill>
              </a:rPr>
              <a:t>이제 하네스 엔지니어링 구성으로 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491</Words>
  <Application>Microsoft Office PowerPoint</Application>
  <PresentationFormat>화면 슬라이드 쇼(16:9)</PresentationFormat>
  <Paragraphs>106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완전 가이드 v3</dc:title>
  <dc:subject>PptxGenJS Presentation</dc:subject>
  <dc:creator>PptxGenJS</dc:creator>
  <cp:lastModifiedBy>현범 이</cp:lastModifiedBy>
  <cp:revision>21</cp:revision>
  <dcterms:created xsi:type="dcterms:W3CDTF">2026-02-23T07:17:00Z</dcterms:created>
  <dcterms:modified xsi:type="dcterms:W3CDTF">2026-07-15T02:19:27Z</dcterms:modified>
</cp:coreProperties>
</file>